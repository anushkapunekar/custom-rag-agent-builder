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1" r:id="rId3"/>
    <p:sldId id="282" r:id="rId4"/>
    <p:sldId id="341" r:id="rId5"/>
    <p:sldId id="342" r:id="rId6"/>
    <p:sldId id="343" r:id="rId7"/>
    <p:sldId id="344" r:id="rId8"/>
    <p:sldId id="345" r:id="rId9"/>
    <p:sldId id="346" r:id="rId10"/>
    <p:sldId id="347" r:id="rId11"/>
    <p:sldId id="25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-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39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270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37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426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33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26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052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62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22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81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6708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81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9018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500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701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51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92CDB-9969-48FE-9EF2-9552A94E1159}" type="datetimeFigureOut">
              <a:rPr lang="en-IN" smtClean="0"/>
              <a:t>17-09-2021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861B93B-C040-49A9-8DB7-0FE6DB3DF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42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F61AD-885E-4AAD-A4BD-6069D5117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969" y="2404534"/>
            <a:ext cx="8546034" cy="164630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IoT Enabling Technologies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D0D0F-5C82-4CCD-9E3A-4F5B009723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Dr S M Lambor</a:t>
            </a:r>
            <a:endParaRPr lang="en-IN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476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8328-D27D-4A5A-9BE2-5847EB9FA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IoT Enabling Technologies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4F286-98B7-4C49-A82F-36453E6E1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61" y="1811795"/>
            <a:ext cx="8596668" cy="3880773"/>
          </a:xfrm>
        </p:spPr>
        <p:txBody>
          <a:bodyPr/>
          <a:lstStyle/>
          <a:p>
            <a:r>
              <a:rPr lang="en-US" dirty="0"/>
              <a:t>Wireless Sensor Networks</a:t>
            </a:r>
          </a:p>
          <a:p>
            <a:r>
              <a:rPr lang="en-US" dirty="0"/>
              <a:t>Cloud Computing</a:t>
            </a:r>
          </a:p>
          <a:p>
            <a:r>
              <a:rPr lang="en-US" dirty="0"/>
              <a:t>Big Data Analytics</a:t>
            </a:r>
          </a:p>
          <a:p>
            <a:r>
              <a:rPr lang="en-US" dirty="0"/>
              <a:t>Embedded Systems</a:t>
            </a:r>
          </a:p>
          <a:p>
            <a:r>
              <a:rPr lang="en-US" dirty="0"/>
              <a:t>Security Protocols and Architectures</a:t>
            </a:r>
          </a:p>
          <a:p>
            <a:r>
              <a:rPr lang="en-US" dirty="0"/>
              <a:t>Communication Protocols</a:t>
            </a:r>
          </a:p>
          <a:p>
            <a:r>
              <a:rPr lang="en-US" dirty="0"/>
              <a:t>Web Services</a:t>
            </a:r>
          </a:p>
          <a:p>
            <a:r>
              <a:rPr lang="en-US" dirty="0"/>
              <a:t>Mobile Internet</a:t>
            </a:r>
          </a:p>
          <a:p>
            <a:r>
              <a:rPr lang="en-US" dirty="0"/>
              <a:t>Semantic Search Engines</a:t>
            </a:r>
            <a:endParaRPr lang="en-IN" dirty="0"/>
          </a:p>
        </p:txBody>
      </p:sp>
      <p:grpSp>
        <p:nvGrpSpPr>
          <p:cNvPr id="4" name="Google Shape;287;p2">
            <a:extLst>
              <a:ext uri="{FF2B5EF4-FFF2-40B4-BE49-F238E27FC236}">
                <a16:creationId xmlns:a16="http://schemas.microsoft.com/office/drawing/2014/main" id="{0337A62D-D15C-4BBB-82BE-0FDFF67DCC23}"/>
              </a:ext>
            </a:extLst>
          </p:cNvPr>
          <p:cNvGrpSpPr/>
          <p:nvPr/>
        </p:nvGrpSpPr>
        <p:grpSpPr>
          <a:xfrm>
            <a:off x="4925962" y="1661653"/>
            <a:ext cx="7266038" cy="4106961"/>
            <a:chOff x="685838" y="1828800"/>
            <a:chExt cx="7894600" cy="3438525"/>
          </a:xfrm>
        </p:grpSpPr>
        <p:sp>
          <p:nvSpPr>
            <p:cNvPr id="5" name="Google Shape;288;p2">
              <a:extLst>
                <a:ext uri="{FF2B5EF4-FFF2-40B4-BE49-F238E27FC236}">
                  <a16:creationId xmlns:a16="http://schemas.microsoft.com/office/drawing/2014/main" id="{033D5949-0E17-4E71-B9D2-A8B1F3DE9889}"/>
                </a:ext>
              </a:extLst>
            </p:cNvPr>
            <p:cNvSpPr/>
            <p:nvPr/>
          </p:nvSpPr>
          <p:spPr>
            <a:xfrm>
              <a:off x="3582988" y="2722563"/>
              <a:ext cx="1651000" cy="1649412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Enabling Technologies</a:t>
              </a:r>
              <a:endParaRPr/>
            </a:p>
          </p:txBody>
        </p:sp>
        <p:cxnSp>
          <p:nvCxnSpPr>
            <p:cNvPr id="6" name="Google Shape;289;p2">
              <a:extLst>
                <a:ext uri="{FF2B5EF4-FFF2-40B4-BE49-F238E27FC236}">
                  <a16:creationId xmlns:a16="http://schemas.microsoft.com/office/drawing/2014/main" id="{CE61073A-5023-423E-AC7A-C7F61BEBCE73}"/>
                </a:ext>
              </a:extLst>
            </p:cNvPr>
            <p:cNvCxnSpPr>
              <a:stCxn id="24" idx="6"/>
            </p:cNvCxnSpPr>
            <p:nvPr/>
          </p:nvCxnSpPr>
          <p:spPr>
            <a:xfrm>
              <a:off x="6043613" y="3028156"/>
              <a:ext cx="2186100" cy="536700"/>
            </a:xfrm>
            <a:prstGeom prst="bentConnector3">
              <a:avLst>
                <a:gd name="adj1" fmla="val -135416"/>
              </a:avLst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grpSp>
          <p:nvGrpSpPr>
            <p:cNvPr id="7" name="Google Shape;291;p2">
              <a:extLst>
                <a:ext uri="{FF2B5EF4-FFF2-40B4-BE49-F238E27FC236}">
                  <a16:creationId xmlns:a16="http://schemas.microsoft.com/office/drawing/2014/main" id="{761DE4EF-0B4A-4A1D-8B6B-17328D295247}"/>
                </a:ext>
              </a:extLst>
            </p:cNvPr>
            <p:cNvGrpSpPr/>
            <p:nvPr/>
          </p:nvGrpSpPr>
          <p:grpSpPr>
            <a:xfrm>
              <a:off x="6657975" y="3263900"/>
              <a:ext cx="1501775" cy="908552"/>
              <a:chOff x="6994042" y="1712637"/>
              <a:chExt cx="1540359" cy="1241413"/>
            </a:xfrm>
          </p:grpSpPr>
          <p:sp>
            <p:nvSpPr>
              <p:cNvPr id="46" name="Google Shape;292;p2">
                <a:extLst>
                  <a:ext uri="{FF2B5EF4-FFF2-40B4-BE49-F238E27FC236}">
                    <a16:creationId xmlns:a16="http://schemas.microsoft.com/office/drawing/2014/main" id="{28CA3530-9F53-4097-8B15-5BD10C4A6F56}"/>
                  </a:ext>
                </a:extLst>
              </p:cNvPr>
              <p:cNvSpPr txBox="1"/>
              <p:nvPr/>
            </p:nvSpPr>
            <p:spPr>
              <a:xfrm>
                <a:off x="6994042" y="1712637"/>
                <a:ext cx="1372646" cy="4208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Smart Phones</a:t>
                </a:r>
                <a:endParaRPr sz="1400" b="0" i="0" u="none" strike="noStrike" cap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47" name="Google Shape;293;p2">
                <a:extLst>
                  <a:ext uri="{FF2B5EF4-FFF2-40B4-BE49-F238E27FC236}">
                    <a16:creationId xmlns:a16="http://schemas.microsoft.com/office/drawing/2014/main" id="{959CE587-59D9-4B43-8A88-7909EEEEAA45}"/>
                  </a:ext>
                </a:extLst>
              </p:cNvPr>
              <p:cNvSpPr txBox="1"/>
              <p:nvPr/>
            </p:nvSpPr>
            <p:spPr>
              <a:xfrm>
                <a:off x="6994042" y="2144289"/>
                <a:ext cx="1540359" cy="809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>
                    <a:solidFill>
                      <a:srgbClr val="FF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Become a standard in monitoring and control devices.</a:t>
                </a:r>
                <a:endParaRPr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8" name="Google Shape;294;p2">
              <a:extLst>
                <a:ext uri="{FF2B5EF4-FFF2-40B4-BE49-F238E27FC236}">
                  <a16:creationId xmlns:a16="http://schemas.microsoft.com/office/drawing/2014/main" id="{FA9EB203-4E5C-4701-A10C-DFA3D0482C58}"/>
                </a:ext>
              </a:extLst>
            </p:cNvPr>
            <p:cNvCxnSpPr>
              <a:stCxn id="26" idx="6"/>
            </p:cNvCxnSpPr>
            <p:nvPr/>
          </p:nvCxnSpPr>
          <p:spPr>
            <a:xfrm>
              <a:off x="6080125" y="4091781"/>
              <a:ext cx="2149500" cy="601800"/>
            </a:xfrm>
            <a:prstGeom prst="bentConnector3">
              <a:avLst>
                <a:gd name="adj1" fmla="val -138547"/>
              </a:avLst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grpSp>
          <p:nvGrpSpPr>
            <p:cNvPr id="9" name="Google Shape;296;p2">
              <a:extLst>
                <a:ext uri="{FF2B5EF4-FFF2-40B4-BE49-F238E27FC236}">
                  <a16:creationId xmlns:a16="http://schemas.microsoft.com/office/drawing/2014/main" id="{019B3D8A-005D-4991-BE12-42D654A46627}"/>
                </a:ext>
              </a:extLst>
            </p:cNvPr>
            <p:cNvGrpSpPr/>
            <p:nvPr/>
          </p:nvGrpSpPr>
          <p:grpSpPr>
            <a:xfrm>
              <a:off x="6657975" y="4370387"/>
              <a:ext cx="1922463" cy="822572"/>
              <a:chOff x="6994040" y="3239794"/>
              <a:chExt cx="1970378" cy="1124010"/>
            </a:xfrm>
          </p:grpSpPr>
          <p:sp>
            <p:nvSpPr>
              <p:cNvPr id="44" name="Google Shape;297;p2">
                <a:extLst>
                  <a:ext uri="{FF2B5EF4-FFF2-40B4-BE49-F238E27FC236}">
                    <a16:creationId xmlns:a16="http://schemas.microsoft.com/office/drawing/2014/main" id="{2777FBC1-1741-4346-9B9F-606C6D925016}"/>
                  </a:ext>
                </a:extLst>
              </p:cNvPr>
              <p:cNvSpPr txBox="1"/>
              <p:nvPr/>
            </p:nvSpPr>
            <p:spPr>
              <a:xfrm>
                <a:off x="6994040" y="3239794"/>
                <a:ext cx="1819060" cy="7158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Sensor Technology</a:t>
                </a:r>
                <a:endParaRPr sz="140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45" name="Google Shape;298;p2">
                <a:extLst>
                  <a:ext uri="{FF2B5EF4-FFF2-40B4-BE49-F238E27FC236}">
                    <a16:creationId xmlns:a16="http://schemas.microsoft.com/office/drawing/2014/main" id="{414A9861-4B4C-45F4-8847-833C47DD6DB2}"/>
                  </a:ext>
                </a:extLst>
              </p:cNvPr>
              <p:cNvSpPr txBox="1"/>
              <p:nvPr/>
            </p:nvSpPr>
            <p:spPr>
              <a:xfrm>
                <a:off x="6994040" y="3730045"/>
                <a:ext cx="1970378" cy="633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 dirty="0">
                    <a:solidFill>
                      <a:srgbClr val="FF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New sensors are so small they can be worn or even ingested</a:t>
                </a:r>
                <a:endParaRPr sz="1000" b="0" i="0" u="none" strike="noStrike" cap="none" dirty="0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cxnSp>
          <p:nvCxnSpPr>
            <p:cNvPr id="10" name="Google Shape;299;p2">
              <a:extLst>
                <a:ext uri="{FF2B5EF4-FFF2-40B4-BE49-F238E27FC236}">
                  <a16:creationId xmlns:a16="http://schemas.microsoft.com/office/drawing/2014/main" id="{FDA49BAD-2207-491D-A10D-BF25F981C6EE}"/>
                </a:ext>
              </a:extLst>
            </p:cNvPr>
            <p:cNvCxnSpPr>
              <a:stCxn id="28" idx="6"/>
            </p:cNvCxnSpPr>
            <p:nvPr/>
          </p:nvCxnSpPr>
          <p:spPr>
            <a:xfrm>
              <a:off x="4816475" y="2232819"/>
              <a:ext cx="3392400" cy="198300"/>
            </a:xfrm>
            <a:prstGeom prst="bentConnector3">
              <a:avLst>
                <a:gd name="adj1" fmla="val -50765"/>
              </a:avLst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grpSp>
          <p:nvGrpSpPr>
            <p:cNvPr id="11" name="Google Shape;301;p2">
              <a:extLst>
                <a:ext uri="{FF2B5EF4-FFF2-40B4-BE49-F238E27FC236}">
                  <a16:creationId xmlns:a16="http://schemas.microsoft.com/office/drawing/2014/main" id="{B0E60713-CFDC-4092-9A24-1D2955B1A3DE}"/>
                </a:ext>
              </a:extLst>
            </p:cNvPr>
            <p:cNvGrpSpPr/>
            <p:nvPr/>
          </p:nvGrpSpPr>
          <p:grpSpPr>
            <a:xfrm>
              <a:off x="6657975" y="2120900"/>
              <a:ext cx="1804988" cy="1159886"/>
              <a:chOff x="5310076" y="1074670"/>
              <a:chExt cx="1850558" cy="1586927"/>
            </a:xfrm>
          </p:grpSpPr>
          <p:sp>
            <p:nvSpPr>
              <p:cNvPr id="42" name="Google Shape;302;p2">
                <a:extLst>
                  <a:ext uri="{FF2B5EF4-FFF2-40B4-BE49-F238E27FC236}">
                    <a16:creationId xmlns:a16="http://schemas.microsoft.com/office/drawing/2014/main" id="{BF1ED6A2-52CE-4C1A-A257-CAE5F8C68752}"/>
                  </a:ext>
                </a:extLst>
              </p:cNvPr>
              <p:cNvSpPr txBox="1"/>
              <p:nvPr/>
            </p:nvSpPr>
            <p:spPr>
              <a:xfrm>
                <a:off x="5310076" y="1074670"/>
                <a:ext cx="1850558" cy="421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Cloud and Big Data</a:t>
                </a:r>
                <a:endParaRPr sz="1400" b="0" i="0" u="none" strike="noStrike" cap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43" name="Google Shape;303;p2">
                <a:extLst>
                  <a:ext uri="{FF2B5EF4-FFF2-40B4-BE49-F238E27FC236}">
                    <a16:creationId xmlns:a16="http://schemas.microsoft.com/office/drawing/2014/main" id="{5D6B2B6C-0175-4909-B5C3-A22E4FEBFC6E}"/>
                  </a:ext>
                </a:extLst>
              </p:cNvPr>
              <p:cNvSpPr txBox="1"/>
              <p:nvPr/>
            </p:nvSpPr>
            <p:spPr>
              <a:xfrm>
                <a:off x="5310076" y="1498207"/>
                <a:ext cx="1539690" cy="1163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 dirty="0">
                    <a:solidFill>
                      <a:srgbClr val="FF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Data analysis and A small device that can be carried all around easily</a:t>
                </a:r>
                <a:endParaRPr sz="1000" b="0" i="0" u="none" strike="noStrike" cap="none" dirty="0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 dirty="0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cxnSp>
          <p:nvCxnSpPr>
            <p:cNvPr id="12" name="Google Shape;304;p2">
              <a:extLst>
                <a:ext uri="{FF2B5EF4-FFF2-40B4-BE49-F238E27FC236}">
                  <a16:creationId xmlns:a16="http://schemas.microsoft.com/office/drawing/2014/main" id="{ECE2201B-92C2-468B-9599-9EA6C85D3138}"/>
                </a:ext>
              </a:extLst>
            </p:cNvPr>
            <p:cNvCxnSpPr>
              <a:stCxn id="30" idx="2"/>
            </p:cNvCxnSpPr>
            <p:nvPr/>
          </p:nvCxnSpPr>
          <p:spPr>
            <a:xfrm rot="10800000">
              <a:off x="685938" y="4652106"/>
              <a:ext cx="3322500" cy="211200"/>
            </a:xfrm>
            <a:prstGeom prst="bentConnector3">
              <a:avLst>
                <a:gd name="adj1" fmla="val 151904"/>
              </a:avLst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grpSp>
          <p:nvGrpSpPr>
            <p:cNvPr id="13" name="Google Shape;306;p2">
              <a:extLst>
                <a:ext uri="{FF2B5EF4-FFF2-40B4-BE49-F238E27FC236}">
                  <a16:creationId xmlns:a16="http://schemas.microsoft.com/office/drawing/2014/main" id="{C51E3675-786D-4939-90B3-C6CE1DC82644}"/>
                </a:ext>
              </a:extLst>
            </p:cNvPr>
            <p:cNvGrpSpPr/>
            <p:nvPr/>
          </p:nvGrpSpPr>
          <p:grpSpPr>
            <a:xfrm>
              <a:off x="782638" y="4287837"/>
              <a:ext cx="1673225" cy="828921"/>
              <a:chOff x="1498005" y="4532868"/>
              <a:chExt cx="1714175" cy="1132682"/>
            </a:xfrm>
          </p:grpSpPr>
          <p:sp>
            <p:nvSpPr>
              <p:cNvPr id="40" name="Google Shape;307;p2">
                <a:extLst>
                  <a:ext uri="{FF2B5EF4-FFF2-40B4-BE49-F238E27FC236}">
                    <a16:creationId xmlns:a16="http://schemas.microsoft.com/office/drawing/2014/main" id="{DAE016A9-5240-4641-8886-CF09CD1A0057}"/>
                  </a:ext>
                </a:extLst>
              </p:cNvPr>
              <p:cNvSpPr txBox="1"/>
              <p:nvPr/>
            </p:nvSpPr>
            <p:spPr>
              <a:xfrm>
                <a:off x="1498005" y="4532868"/>
                <a:ext cx="1714175" cy="420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Processing Power</a:t>
                </a:r>
                <a:endParaRPr/>
              </a:p>
            </p:txBody>
          </p:sp>
          <p:sp>
            <p:nvSpPr>
              <p:cNvPr id="41" name="Google Shape;308;p2">
                <a:extLst>
                  <a:ext uri="{FF2B5EF4-FFF2-40B4-BE49-F238E27FC236}">
                    <a16:creationId xmlns:a16="http://schemas.microsoft.com/office/drawing/2014/main" id="{AEC78B30-A713-4206-907F-E8BE3B6DC333}"/>
                  </a:ext>
                </a:extLst>
              </p:cNvPr>
              <p:cNvSpPr txBox="1"/>
              <p:nvPr/>
            </p:nvSpPr>
            <p:spPr>
              <a:xfrm>
                <a:off x="1498005" y="5031794"/>
                <a:ext cx="1540155" cy="6337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 dirty="0">
                    <a:solidFill>
                      <a:srgbClr val="FF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Ability to process much more at reasonable prices</a:t>
                </a:r>
                <a:endParaRPr sz="1000" b="0" i="0" u="none" strike="noStrike" cap="none" dirty="0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cxnSp>
          <p:nvCxnSpPr>
            <p:cNvPr id="14" name="Google Shape;309;p2">
              <a:extLst>
                <a:ext uri="{FF2B5EF4-FFF2-40B4-BE49-F238E27FC236}">
                  <a16:creationId xmlns:a16="http://schemas.microsoft.com/office/drawing/2014/main" id="{81845E51-3864-489F-A948-001846FEE8B8}"/>
                </a:ext>
              </a:extLst>
            </p:cNvPr>
            <p:cNvCxnSpPr>
              <a:stCxn id="34" idx="2"/>
            </p:cNvCxnSpPr>
            <p:nvPr/>
          </p:nvCxnSpPr>
          <p:spPr>
            <a:xfrm rot="10800000">
              <a:off x="685838" y="2588431"/>
              <a:ext cx="2090700" cy="430200"/>
            </a:xfrm>
            <a:prstGeom prst="bentConnector3">
              <a:avLst>
                <a:gd name="adj1" fmla="val 181889"/>
              </a:avLst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15" name="Google Shape;311;p2">
              <a:extLst>
                <a:ext uri="{FF2B5EF4-FFF2-40B4-BE49-F238E27FC236}">
                  <a16:creationId xmlns:a16="http://schemas.microsoft.com/office/drawing/2014/main" id="{4AAFD252-F9C3-421B-B6BC-32B011D6FB0F}"/>
                </a:ext>
              </a:extLst>
            </p:cNvPr>
            <p:cNvCxnSpPr>
              <a:stCxn id="32" idx="2"/>
            </p:cNvCxnSpPr>
            <p:nvPr/>
          </p:nvCxnSpPr>
          <p:spPr>
            <a:xfrm rot="10800000">
              <a:off x="685838" y="3579081"/>
              <a:ext cx="2090700" cy="512700"/>
            </a:xfrm>
            <a:prstGeom prst="bentConnector3">
              <a:avLst>
                <a:gd name="adj1" fmla="val 182227"/>
              </a:avLst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grpSp>
          <p:nvGrpSpPr>
            <p:cNvPr id="16" name="Google Shape;313;p2">
              <a:extLst>
                <a:ext uri="{FF2B5EF4-FFF2-40B4-BE49-F238E27FC236}">
                  <a16:creationId xmlns:a16="http://schemas.microsoft.com/office/drawing/2014/main" id="{42086000-19EA-4487-954D-6EA5A9462C4D}"/>
                </a:ext>
              </a:extLst>
            </p:cNvPr>
            <p:cNvGrpSpPr/>
            <p:nvPr/>
          </p:nvGrpSpPr>
          <p:grpSpPr>
            <a:xfrm>
              <a:off x="782638" y="3249613"/>
              <a:ext cx="1503362" cy="1213859"/>
              <a:chOff x="732241" y="3148105"/>
              <a:chExt cx="1540359" cy="1658467"/>
            </a:xfrm>
          </p:grpSpPr>
          <p:sp>
            <p:nvSpPr>
              <p:cNvPr id="38" name="Google Shape;314;p2">
                <a:extLst>
                  <a:ext uri="{FF2B5EF4-FFF2-40B4-BE49-F238E27FC236}">
                    <a16:creationId xmlns:a16="http://schemas.microsoft.com/office/drawing/2014/main" id="{36507EE6-A6FE-4C6C-B0F1-A2E940E77B64}"/>
                  </a:ext>
                </a:extLst>
              </p:cNvPr>
              <p:cNvSpPr txBox="1"/>
              <p:nvPr/>
            </p:nvSpPr>
            <p:spPr>
              <a:xfrm>
                <a:off x="732241" y="3148105"/>
                <a:ext cx="1263843" cy="420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Power Smart</a:t>
                </a:r>
                <a:endParaRPr sz="1400" b="0" i="0" u="none" strike="noStrike" cap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39" name="Google Shape;315;p2">
                <a:extLst>
                  <a:ext uri="{FF2B5EF4-FFF2-40B4-BE49-F238E27FC236}">
                    <a16:creationId xmlns:a16="http://schemas.microsoft.com/office/drawing/2014/main" id="{DD635A3F-58D4-4BDF-B8B2-EADC969B7D78}"/>
                  </a:ext>
                </a:extLst>
              </p:cNvPr>
              <p:cNvSpPr txBox="1"/>
              <p:nvPr/>
            </p:nvSpPr>
            <p:spPr>
              <a:xfrm>
                <a:off x="732241" y="3644797"/>
                <a:ext cx="1540359" cy="1161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 dirty="0">
                    <a:solidFill>
                      <a:srgbClr val="FF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Uses the smallest battery possible and does not need to be recharged often.</a:t>
                </a:r>
                <a:endParaRPr dirty="0">
                  <a:solidFill>
                    <a:srgbClr val="FF0000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 dirty="0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17" name="Google Shape;316;p2">
              <a:extLst>
                <a:ext uri="{FF2B5EF4-FFF2-40B4-BE49-F238E27FC236}">
                  <a16:creationId xmlns:a16="http://schemas.microsoft.com/office/drawing/2014/main" id="{61880165-FDA2-4E7D-9D93-2467F50C1900}"/>
                </a:ext>
              </a:extLst>
            </p:cNvPr>
            <p:cNvGrpSpPr/>
            <p:nvPr/>
          </p:nvGrpSpPr>
          <p:grpSpPr>
            <a:xfrm>
              <a:off x="782638" y="2243138"/>
              <a:ext cx="2033587" cy="682618"/>
              <a:chOff x="761999" y="1619604"/>
              <a:chExt cx="2083894" cy="932946"/>
            </a:xfrm>
          </p:grpSpPr>
          <p:sp>
            <p:nvSpPr>
              <p:cNvPr id="36" name="Google Shape;317;p2">
                <a:extLst>
                  <a:ext uri="{FF2B5EF4-FFF2-40B4-BE49-F238E27FC236}">
                    <a16:creationId xmlns:a16="http://schemas.microsoft.com/office/drawing/2014/main" id="{D99D93CF-1B16-4446-AF4F-910E74E18F36}"/>
                  </a:ext>
                </a:extLst>
              </p:cNvPr>
              <p:cNvSpPr txBox="1"/>
              <p:nvPr/>
            </p:nvSpPr>
            <p:spPr>
              <a:xfrm>
                <a:off x="761999" y="1619604"/>
                <a:ext cx="2083894" cy="7159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Wireless Technologies</a:t>
                </a:r>
                <a:endParaRPr sz="140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37" name="Google Shape;318;p2">
                <a:extLst>
                  <a:ext uri="{FF2B5EF4-FFF2-40B4-BE49-F238E27FC236}">
                    <a16:creationId xmlns:a16="http://schemas.microsoft.com/office/drawing/2014/main" id="{BCD3D561-FD76-4766-8449-2F12EB102181}"/>
                  </a:ext>
                </a:extLst>
              </p:cNvPr>
              <p:cNvSpPr txBox="1"/>
              <p:nvPr/>
            </p:nvSpPr>
            <p:spPr>
              <a:xfrm>
                <a:off x="761999" y="2094761"/>
                <a:ext cx="1540552" cy="457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u="none" strike="noStrike" cap="none" dirty="0">
                    <a:solidFill>
                      <a:srgbClr val="FF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Ease of connection</a:t>
                </a:r>
                <a:endParaRPr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8" name="Google Shape;319;p2">
              <a:extLst>
                <a:ext uri="{FF2B5EF4-FFF2-40B4-BE49-F238E27FC236}">
                  <a16:creationId xmlns:a16="http://schemas.microsoft.com/office/drawing/2014/main" id="{06A2EC63-DDFB-473F-BE3B-DFA4E4221E7E}"/>
                </a:ext>
              </a:extLst>
            </p:cNvPr>
            <p:cNvGrpSpPr/>
            <p:nvPr/>
          </p:nvGrpSpPr>
          <p:grpSpPr>
            <a:xfrm>
              <a:off x="2776538" y="2614613"/>
              <a:ext cx="806450" cy="808037"/>
              <a:chOff x="2529293" y="2240136"/>
              <a:chExt cx="1128307" cy="1128307"/>
            </a:xfrm>
          </p:grpSpPr>
          <p:sp>
            <p:nvSpPr>
              <p:cNvPr id="34" name="Google Shape;310;p2">
                <a:extLst>
                  <a:ext uri="{FF2B5EF4-FFF2-40B4-BE49-F238E27FC236}">
                    <a16:creationId xmlns:a16="http://schemas.microsoft.com/office/drawing/2014/main" id="{5CA31246-FADB-4345-9C7B-65BB0E86E78D}"/>
                  </a:ext>
                </a:extLst>
              </p:cNvPr>
              <p:cNvSpPr/>
              <p:nvPr/>
            </p:nvSpPr>
            <p:spPr>
              <a:xfrm>
                <a:off x="2529293" y="2240136"/>
                <a:ext cx="1128307" cy="1128307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5" name="Google Shape;320;p2">
                <a:extLst>
                  <a:ext uri="{FF2B5EF4-FFF2-40B4-BE49-F238E27FC236}">
                    <a16:creationId xmlns:a16="http://schemas.microsoft.com/office/drawing/2014/main" id="{74D5DBB1-9A43-4E8E-9C44-807B72633CEE}"/>
                  </a:ext>
                </a:extLst>
              </p:cNvPr>
              <p:cNvSpPr txBox="1"/>
              <p:nvPr/>
            </p:nvSpPr>
            <p:spPr>
              <a:xfrm>
                <a:off x="2859446" y="2570289"/>
                <a:ext cx="468000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</a:t>
                </a:r>
                <a:endParaRPr sz="36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19" name="Google Shape;321;p2">
              <a:extLst>
                <a:ext uri="{FF2B5EF4-FFF2-40B4-BE49-F238E27FC236}">
                  <a16:creationId xmlns:a16="http://schemas.microsoft.com/office/drawing/2014/main" id="{4EEC5B6D-C3AD-42FF-8836-2D23F41ED5B0}"/>
                </a:ext>
              </a:extLst>
            </p:cNvPr>
            <p:cNvGrpSpPr/>
            <p:nvPr/>
          </p:nvGrpSpPr>
          <p:grpSpPr>
            <a:xfrm>
              <a:off x="2776538" y="3687763"/>
              <a:ext cx="806450" cy="808037"/>
              <a:chOff x="2322143" y="3611736"/>
              <a:chExt cx="1128307" cy="1128307"/>
            </a:xfrm>
          </p:grpSpPr>
          <p:sp>
            <p:nvSpPr>
              <p:cNvPr id="32" name="Google Shape;312;p2">
                <a:extLst>
                  <a:ext uri="{FF2B5EF4-FFF2-40B4-BE49-F238E27FC236}">
                    <a16:creationId xmlns:a16="http://schemas.microsoft.com/office/drawing/2014/main" id="{3C628C2A-FC60-4AD2-97DF-33DB5E1D648C}"/>
                  </a:ext>
                </a:extLst>
              </p:cNvPr>
              <p:cNvSpPr/>
              <p:nvPr/>
            </p:nvSpPr>
            <p:spPr>
              <a:xfrm>
                <a:off x="2322143" y="3611736"/>
                <a:ext cx="1128307" cy="112830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3" name="Google Shape;322;p2">
                <a:extLst>
                  <a:ext uri="{FF2B5EF4-FFF2-40B4-BE49-F238E27FC236}">
                    <a16:creationId xmlns:a16="http://schemas.microsoft.com/office/drawing/2014/main" id="{3596EEFC-8D98-426C-AD61-5A5A630A1AE7}"/>
                  </a:ext>
                </a:extLst>
              </p:cNvPr>
              <p:cNvSpPr txBox="1"/>
              <p:nvPr/>
            </p:nvSpPr>
            <p:spPr>
              <a:xfrm>
                <a:off x="2652296" y="3941889"/>
                <a:ext cx="468000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</a:t>
                </a:r>
                <a:endParaRPr sz="2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20" name="Google Shape;323;p2">
              <a:extLst>
                <a:ext uri="{FF2B5EF4-FFF2-40B4-BE49-F238E27FC236}">
                  <a16:creationId xmlns:a16="http://schemas.microsoft.com/office/drawing/2014/main" id="{845C1623-BB2F-4A05-BAB2-A074745BA067}"/>
                </a:ext>
              </a:extLst>
            </p:cNvPr>
            <p:cNvGrpSpPr/>
            <p:nvPr/>
          </p:nvGrpSpPr>
          <p:grpSpPr>
            <a:xfrm>
              <a:off x="4008438" y="4459288"/>
              <a:ext cx="808037" cy="808037"/>
              <a:chOff x="3977093" y="4724400"/>
              <a:chExt cx="1128307" cy="1128307"/>
            </a:xfrm>
          </p:grpSpPr>
          <p:sp>
            <p:nvSpPr>
              <p:cNvPr id="30" name="Google Shape;305;p2">
                <a:extLst>
                  <a:ext uri="{FF2B5EF4-FFF2-40B4-BE49-F238E27FC236}">
                    <a16:creationId xmlns:a16="http://schemas.microsoft.com/office/drawing/2014/main" id="{45940D9A-A7B8-429D-8ECF-3A5BFEBAF5A2}"/>
                  </a:ext>
                </a:extLst>
              </p:cNvPr>
              <p:cNvSpPr/>
              <p:nvPr/>
            </p:nvSpPr>
            <p:spPr>
              <a:xfrm>
                <a:off x="3977093" y="4724400"/>
                <a:ext cx="1128307" cy="1128307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1" name="Google Shape;324;p2">
                <a:extLst>
                  <a:ext uri="{FF2B5EF4-FFF2-40B4-BE49-F238E27FC236}">
                    <a16:creationId xmlns:a16="http://schemas.microsoft.com/office/drawing/2014/main" id="{0E90FE09-603E-4D06-96D5-2D926D1179D9}"/>
                  </a:ext>
                </a:extLst>
              </p:cNvPr>
              <p:cNvSpPr txBox="1"/>
              <p:nvPr/>
            </p:nvSpPr>
            <p:spPr>
              <a:xfrm>
                <a:off x="4307246" y="5054553"/>
                <a:ext cx="468000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sz="2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21" name="Google Shape;325;p2">
              <a:extLst>
                <a:ext uri="{FF2B5EF4-FFF2-40B4-BE49-F238E27FC236}">
                  <a16:creationId xmlns:a16="http://schemas.microsoft.com/office/drawing/2014/main" id="{056FC70D-FB41-4024-A632-F87BF7F069B8}"/>
                </a:ext>
              </a:extLst>
            </p:cNvPr>
            <p:cNvGrpSpPr/>
            <p:nvPr/>
          </p:nvGrpSpPr>
          <p:grpSpPr>
            <a:xfrm>
              <a:off x="4008438" y="1828800"/>
              <a:ext cx="808037" cy="808038"/>
              <a:chOff x="3969747" y="1400556"/>
              <a:chExt cx="1128307" cy="1128307"/>
            </a:xfrm>
          </p:grpSpPr>
          <p:sp>
            <p:nvSpPr>
              <p:cNvPr id="28" name="Google Shape;300;p2">
                <a:extLst>
                  <a:ext uri="{FF2B5EF4-FFF2-40B4-BE49-F238E27FC236}">
                    <a16:creationId xmlns:a16="http://schemas.microsoft.com/office/drawing/2014/main" id="{348E1393-79A7-48C3-9FAC-647E71E1133C}"/>
                  </a:ext>
                </a:extLst>
              </p:cNvPr>
              <p:cNvSpPr/>
              <p:nvPr/>
            </p:nvSpPr>
            <p:spPr>
              <a:xfrm>
                <a:off x="3969747" y="1400556"/>
                <a:ext cx="1128307" cy="1128307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9" name="Google Shape;326;p2">
                <a:extLst>
                  <a:ext uri="{FF2B5EF4-FFF2-40B4-BE49-F238E27FC236}">
                    <a16:creationId xmlns:a16="http://schemas.microsoft.com/office/drawing/2014/main" id="{5ED857BB-D449-42B3-A244-7E94603E1202}"/>
                  </a:ext>
                </a:extLst>
              </p:cNvPr>
              <p:cNvSpPr txBox="1"/>
              <p:nvPr/>
            </p:nvSpPr>
            <p:spPr>
              <a:xfrm>
                <a:off x="4299899" y="1562593"/>
                <a:ext cx="468001" cy="4680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sz="4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22" name="Google Shape;327;p2">
              <a:extLst>
                <a:ext uri="{FF2B5EF4-FFF2-40B4-BE49-F238E27FC236}">
                  <a16:creationId xmlns:a16="http://schemas.microsoft.com/office/drawing/2014/main" id="{54020F86-F3D8-4CA1-8D5D-8CCA00B1C67C}"/>
                </a:ext>
              </a:extLst>
            </p:cNvPr>
            <p:cNvGrpSpPr/>
            <p:nvPr/>
          </p:nvGrpSpPr>
          <p:grpSpPr>
            <a:xfrm>
              <a:off x="5272088" y="3687763"/>
              <a:ext cx="808037" cy="808037"/>
              <a:chOff x="5660258" y="3611736"/>
              <a:chExt cx="1128307" cy="1128307"/>
            </a:xfrm>
          </p:grpSpPr>
          <p:sp>
            <p:nvSpPr>
              <p:cNvPr id="26" name="Google Shape;295;p2">
                <a:extLst>
                  <a:ext uri="{FF2B5EF4-FFF2-40B4-BE49-F238E27FC236}">
                    <a16:creationId xmlns:a16="http://schemas.microsoft.com/office/drawing/2014/main" id="{053576F9-164D-454C-94EF-E3E7C6D4F66C}"/>
                  </a:ext>
                </a:extLst>
              </p:cNvPr>
              <p:cNvSpPr/>
              <p:nvPr/>
            </p:nvSpPr>
            <p:spPr>
              <a:xfrm>
                <a:off x="5660258" y="3611736"/>
                <a:ext cx="1128307" cy="112830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7" name="Google Shape;328;p2">
                <a:extLst>
                  <a:ext uri="{FF2B5EF4-FFF2-40B4-BE49-F238E27FC236}">
                    <a16:creationId xmlns:a16="http://schemas.microsoft.com/office/drawing/2014/main" id="{A1D73BCF-7B05-4D1D-AF2D-760A2C1AD102}"/>
                  </a:ext>
                </a:extLst>
              </p:cNvPr>
              <p:cNvSpPr txBox="1"/>
              <p:nvPr/>
            </p:nvSpPr>
            <p:spPr>
              <a:xfrm>
                <a:off x="5990411" y="3920017"/>
                <a:ext cx="468000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sz="2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23" name="Google Shape;329;p2">
              <a:extLst>
                <a:ext uri="{FF2B5EF4-FFF2-40B4-BE49-F238E27FC236}">
                  <a16:creationId xmlns:a16="http://schemas.microsoft.com/office/drawing/2014/main" id="{2FA7F158-4D39-4EFB-99C5-7FDCC2FC1948}"/>
                </a:ext>
              </a:extLst>
            </p:cNvPr>
            <p:cNvGrpSpPr/>
            <p:nvPr/>
          </p:nvGrpSpPr>
          <p:grpSpPr>
            <a:xfrm>
              <a:off x="5235575" y="2624138"/>
              <a:ext cx="808038" cy="808037"/>
              <a:chOff x="5486400" y="2254829"/>
              <a:chExt cx="1128307" cy="1128307"/>
            </a:xfrm>
          </p:grpSpPr>
          <p:sp>
            <p:nvSpPr>
              <p:cNvPr id="24" name="Google Shape;290;p2">
                <a:extLst>
                  <a:ext uri="{FF2B5EF4-FFF2-40B4-BE49-F238E27FC236}">
                    <a16:creationId xmlns:a16="http://schemas.microsoft.com/office/drawing/2014/main" id="{334DBF12-A49E-4E76-81D8-9F0D4D4A1404}"/>
                  </a:ext>
                </a:extLst>
              </p:cNvPr>
              <p:cNvSpPr/>
              <p:nvPr/>
            </p:nvSpPr>
            <p:spPr>
              <a:xfrm>
                <a:off x="5486400" y="2254829"/>
                <a:ext cx="1128307" cy="1128307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5" name="Google Shape;330;p2">
                <a:extLst>
                  <a:ext uri="{FF2B5EF4-FFF2-40B4-BE49-F238E27FC236}">
                    <a16:creationId xmlns:a16="http://schemas.microsoft.com/office/drawing/2014/main" id="{E37B97AF-EAC7-44D1-96FA-8C5BF937CA42}"/>
                  </a:ext>
                </a:extLst>
              </p:cNvPr>
              <p:cNvSpPr txBox="1"/>
              <p:nvPr/>
            </p:nvSpPr>
            <p:spPr>
              <a:xfrm>
                <a:off x="5823270" y="2591495"/>
                <a:ext cx="468001" cy="4680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"</a:t>
                </a:r>
                <a:endParaRPr sz="60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039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F112-D0C8-4B55-ACF6-B98701C5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4338"/>
            <a:ext cx="8596668" cy="13208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Wireless Sensor Networks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A6448-DF6C-4B78-9BEB-5C4062464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42" y="816747"/>
            <a:ext cx="9052060" cy="6041254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2400" dirty="0">
                <a:latin typeface="Arial" panose="020B0604020202020204" pitchFamily="34" charset="0"/>
              </a:rPr>
              <a:t>A </a:t>
            </a:r>
            <a:r>
              <a:rPr lang="en-US" altLang="en-US" sz="2400" b="1" dirty="0">
                <a:latin typeface="Arial" panose="020B0604020202020204" pitchFamily="34" charset="0"/>
              </a:rPr>
              <a:t>wireless sensor network</a:t>
            </a:r>
            <a:r>
              <a:rPr lang="en-US" altLang="en-US" sz="2400" dirty="0">
                <a:latin typeface="Arial" panose="020B0604020202020204" pitchFamily="34" charset="0"/>
              </a:rPr>
              <a:t> (WSN) is a wireless network consisting of spatially distributed autonomous devices using smart sensors to cooperatively monitor physical or environmental conditions, such as temperature, sound, vibration, pressure, motion or pollutants, at different locations.</a:t>
            </a:r>
          </a:p>
          <a:p>
            <a:pPr marL="609600" indent="-609600" algn="just">
              <a:lnSpc>
                <a:spcPct val="150000"/>
              </a:lnSpc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WSN is a collection of nodes organized into a cooperative network. </a:t>
            </a:r>
          </a:p>
          <a:p>
            <a:pPr marL="609600" indent="-609600" algn="just">
              <a:lnSpc>
                <a:spcPct val="150000"/>
              </a:lnSpc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	Each node consists of </a:t>
            </a:r>
          </a:p>
          <a:p>
            <a:pPr marL="609600" indent="-609600" algn="just">
              <a:lnSpc>
                <a:spcPct val="150000"/>
              </a:lnSpc>
              <a:buFontTx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Processing capability</a:t>
            </a:r>
          </a:p>
          <a:p>
            <a:pPr marL="609600" indent="-609600" algn="just">
              <a:lnSpc>
                <a:spcPct val="150000"/>
              </a:lnSpc>
              <a:buFontTx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Multiple types of memory</a:t>
            </a:r>
          </a:p>
          <a:p>
            <a:pPr marL="609600" indent="-609600" algn="just">
              <a:lnSpc>
                <a:spcPct val="150000"/>
              </a:lnSpc>
              <a:buFontTx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RF transceiver</a:t>
            </a:r>
          </a:p>
          <a:p>
            <a:pPr marL="609600" indent="-609600" algn="just">
              <a:lnSpc>
                <a:spcPct val="150000"/>
              </a:lnSpc>
              <a:buFontTx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Power source (e.g., batteries and solar cells)</a:t>
            </a:r>
          </a:p>
          <a:p>
            <a:pPr marL="609600" indent="-609600" algn="just">
              <a:lnSpc>
                <a:spcPct val="150000"/>
              </a:lnSpc>
              <a:buFontTx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Various sensors.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Communication Protocols: IEEE 802.11, IEEE 802.15.4</a:t>
            </a:r>
          </a:p>
          <a:p>
            <a:endParaRPr lang="en-IN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694C3E0-352F-4F0D-86B0-750A39420E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105850"/>
              </p:ext>
            </p:extLst>
          </p:nvPr>
        </p:nvGraphicFramePr>
        <p:xfrm>
          <a:off x="6383045" y="3005091"/>
          <a:ext cx="5808955" cy="3852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Bitmap Image" r:id="rId3" imgW="7466667" imgH="4285714" progId="Paint.Picture">
                  <p:embed/>
                </p:oleObj>
              </mc:Choice>
              <mc:Fallback>
                <p:oleObj name="Bitmap Image" r:id="rId3" imgW="7466667" imgH="4285714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EB565C8-6092-4DE0-8C48-33CEE57AAC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045" y="3005091"/>
                        <a:ext cx="5808955" cy="3852909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2197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>
            <a:extLst>
              <a:ext uri="{FF2B5EF4-FFF2-40B4-BE49-F238E27FC236}">
                <a16:creationId xmlns:a16="http://schemas.microsoft.com/office/drawing/2014/main" id="{40CFCC0B-5480-4EB4-9993-9CBE300CB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95" y="0"/>
            <a:ext cx="1026850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E8D1D-1C0F-48D4-A6DD-2D7623ECE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6940"/>
            <a:ext cx="8596668" cy="13208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Cloud Computing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36EB-E2D5-4647-A19F-63924B03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" y="599647"/>
            <a:ext cx="5770403" cy="2238804"/>
          </a:xfrm>
        </p:spPr>
        <p:txBody>
          <a:bodyPr>
            <a:normAutofit/>
          </a:bodyPr>
          <a:lstStyle/>
          <a:p>
            <a:r>
              <a:rPr lang="en-US" dirty="0"/>
              <a:t>Cloud Computing is a transformative computing paradigm that involves delivering applications and services over the Internet.</a:t>
            </a:r>
          </a:p>
          <a:p>
            <a:r>
              <a:rPr lang="en-US" dirty="0"/>
              <a:t>Provisioning of Computing, Networking, and Storage resources on demand and providing these resources as metered  services to the users , in a “Pay as you Go” model.</a:t>
            </a:r>
            <a:endParaRPr lang="en-IN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DEB9DB2-D8C3-445F-BF49-8994F93270D9}"/>
              </a:ext>
            </a:extLst>
          </p:cNvPr>
          <p:cNvSpPr txBox="1">
            <a:spLocks/>
          </p:cNvSpPr>
          <p:nvPr/>
        </p:nvSpPr>
        <p:spPr>
          <a:xfrm>
            <a:off x="114896" y="2768112"/>
            <a:ext cx="5377735" cy="18081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Data </a:t>
            </a:r>
            <a:r>
              <a:rPr lang="en-US" altLang="zh-CN" dirty="0">
                <a:solidFill>
                  <a:srgbClr val="FF0000"/>
                </a:solidFill>
              </a:rPr>
              <a:t>stored</a:t>
            </a:r>
            <a:r>
              <a:rPr lang="en-US" altLang="zh-CN" dirty="0"/>
              <a:t> in the “Cloud”</a:t>
            </a:r>
          </a:p>
          <a:p>
            <a:r>
              <a:rPr lang="en-US" altLang="zh-CN" dirty="0"/>
              <a:t>Data </a:t>
            </a:r>
            <a:r>
              <a:rPr lang="en-US" altLang="zh-CN" dirty="0">
                <a:solidFill>
                  <a:srgbClr val="FF0000"/>
                </a:solidFill>
              </a:rPr>
              <a:t>follows</a:t>
            </a:r>
            <a:r>
              <a:rPr lang="en-US" altLang="zh-CN" dirty="0"/>
              <a:t> you &amp; your devices</a:t>
            </a:r>
          </a:p>
          <a:p>
            <a:r>
              <a:rPr lang="en-US" altLang="zh-CN" dirty="0"/>
              <a:t>Data </a:t>
            </a:r>
            <a:r>
              <a:rPr lang="en-US" altLang="zh-CN" dirty="0">
                <a:solidFill>
                  <a:srgbClr val="FF0000"/>
                </a:solidFill>
              </a:rPr>
              <a:t>accessible</a:t>
            </a:r>
            <a:r>
              <a:rPr lang="en-US" altLang="zh-CN" dirty="0"/>
              <a:t> anywhere</a:t>
            </a:r>
          </a:p>
          <a:p>
            <a:r>
              <a:rPr lang="en-US" altLang="zh-CN" dirty="0"/>
              <a:t>Data can be </a:t>
            </a:r>
            <a:r>
              <a:rPr lang="en-US" altLang="zh-CN" dirty="0">
                <a:solidFill>
                  <a:srgbClr val="FF0000"/>
                </a:solidFill>
              </a:rPr>
              <a:t>shared</a:t>
            </a:r>
            <a:r>
              <a:rPr lang="en-US" altLang="zh-CN" dirty="0"/>
              <a:t> with others</a:t>
            </a:r>
          </a:p>
          <a:p>
            <a:endParaRPr lang="ko-KR" altLang="en-US" dirty="0"/>
          </a:p>
        </p:txBody>
      </p:sp>
      <p:sp>
        <p:nvSpPr>
          <p:cNvPr id="5" name="직사각형 5">
            <a:extLst>
              <a:ext uri="{FF2B5EF4-FFF2-40B4-BE49-F238E27FC236}">
                <a16:creationId xmlns:a16="http://schemas.microsoft.com/office/drawing/2014/main" id="{DB2247AA-8F78-4373-80A5-39612B8FDB27}"/>
              </a:ext>
            </a:extLst>
          </p:cNvPr>
          <p:cNvSpPr/>
          <p:nvPr/>
        </p:nvSpPr>
        <p:spPr bwMode="auto">
          <a:xfrm>
            <a:off x="6340747" y="1663212"/>
            <a:ext cx="1547389" cy="427306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ko-KR" altLang="en-US" sz="1662"/>
          </a:p>
        </p:txBody>
      </p:sp>
      <p:sp>
        <p:nvSpPr>
          <p:cNvPr id="6" name="모서리가 둥근 직사각형 3">
            <a:extLst>
              <a:ext uri="{FF2B5EF4-FFF2-40B4-BE49-F238E27FC236}">
                <a16:creationId xmlns:a16="http://schemas.microsoft.com/office/drawing/2014/main" id="{DAF0E8F5-7667-45DA-875E-88ED59C5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170" y="1756997"/>
            <a:ext cx="1204546" cy="29014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108" b="1">
                <a:solidFill>
                  <a:srgbClr val="FF0000"/>
                </a:solidFill>
              </a:rPr>
              <a:t>C</a:t>
            </a:r>
            <a:r>
              <a:rPr lang="en-US" altLang="ko-KR" sz="1108" b="1"/>
              <a:t>onvergence</a:t>
            </a:r>
            <a:endParaRPr lang="ko-KR" altLang="en-US" sz="1108" b="1"/>
          </a:p>
        </p:txBody>
      </p:sp>
      <p:sp>
        <p:nvSpPr>
          <p:cNvPr id="7" name="모서리가 둥근 직사각형 4">
            <a:extLst>
              <a:ext uri="{FF2B5EF4-FFF2-40B4-BE49-F238E27FC236}">
                <a16:creationId xmlns:a16="http://schemas.microsoft.com/office/drawing/2014/main" id="{C67F1CEE-E323-40F2-AE6F-79A94B4D6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170" y="2117482"/>
            <a:ext cx="1204546" cy="29014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108" b="1" dirty="0">
                <a:solidFill>
                  <a:srgbClr val="FF0000"/>
                </a:solidFill>
              </a:rPr>
              <a:t>C</a:t>
            </a:r>
            <a:r>
              <a:rPr lang="en-US" altLang="ko-KR" sz="1108" b="1" dirty="0"/>
              <a:t>ontents</a:t>
            </a:r>
            <a:endParaRPr lang="ko-KR" altLang="en-US" sz="1108" b="1" dirty="0"/>
          </a:p>
          <a:p>
            <a:endParaRPr lang="ko-KR" altLang="en-US" sz="1108" b="1" dirty="0"/>
          </a:p>
        </p:txBody>
      </p:sp>
      <p:sp>
        <p:nvSpPr>
          <p:cNvPr id="8" name="모서리가 둥근 직사각형 14">
            <a:extLst>
              <a:ext uri="{FF2B5EF4-FFF2-40B4-BE49-F238E27FC236}">
                <a16:creationId xmlns:a16="http://schemas.microsoft.com/office/drawing/2014/main" id="{1421C586-2CAF-452F-B750-10D2BEAD4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170" y="2477966"/>
            <a:ext cx="1204546" cy="29014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108" b="1">
                <a:solidFill>
                  <a:srgbClr val="FF0000"/>
                </a:solidFill>
              </a:rPr>
              <a:t>C</a:t>
            </a:r>
            <a:r>
              <a:rPr lang="en-US" altLang="ko-KR" sz="1108" b="1"/>
              <a:t>omputing</a:t>
            </a:r>
            <a:endParaRPr lang="ko-KR" altLang="en-US" sz="1108" b="1"/>
          </a:p>
          <a:p>
            <a:endParaRPr lang="ko-KR" altLang="en-US" sz="1108" b="1"/>
          </a:p>
        </p:txBody>
      </p:sp>
      <p:sp>
        <p:nvSpPr>
          <p:cNvPr id="9" name="모서리가 둥근 직사각형 16">
            <a:extLst>
              <a:ext uri="{FF2B5EF4-FFF2-40B4-BE49-F238E27FC236}">
                <a16:creationId xmlns:a16="http://schemas.microsoft.com/office/drawing/2014/main" id="{B656CD00-7362-4723-A470-2E645504F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170" y="2838451"/>
            <a:ext cx="1204546" cy="29014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108" b="1">
                <a:solidFill>
                  <a:srgbClr val="FF0000"/>
                </a:solidFill>
              </a:rPr>
              <a:t>C</a:t>
            </a:r>
            <a:r>
              <a:rPr lang="en-US" altLang="ko-KR" sz="1108" b="1"/>
              <a:t>ommunication</a:t>
            </a:r>
            <a:endParaRPr lang="ko-KR" altLang="en-US" sz="1108" b="1"/>
          </a:p>
          <a:p>
            <a:endParaRPr lang="ko-KR" altLang="en-US" sz="1108" b="1"/>
          </a:p>
        </p:txBody>
      </p:sp>
      <p:sp>
        <p:nvSpPr>
          <p:cNvPr id="10" name="모서리가 둥근 직사각형 18">
            <a:extLst>
              <a:ext uri="{FF2B5EF4-FFF2-40B4-BE49-F238E27FC236}">
                <a16:creationId xmlns:a16="http://schemas.microsoft.com/office/drawing/2014/main" id="{56471675-EFC0-405D-BB30-9182975F3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170" y="3207728"/>
            <a:ext cx="1204546" cy="29014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108" b="1">
                <a:solidFill>
                  <a:srgbClr val="FF0000"/>
                </a:solidFill>
              </a:rPr>
              <a:t>C</a:t>
            </a:r>
            <a:r>
              <a:rPr lang="en-US" altLang="ko-KR" sz="1108" b="1"/>
              <a:t>onnectivity</a:t>
            </a:r>
            <a:endParaRPr lang="ko-KR" altLang="en-US" sz="1108" b="1"/>
          </a:p>
          <a:p>
            <a:endParaRPr lang="ko-KR" altLang="en-US" sz="1108" b="1"/>
          </a:p>
        </p:txBody>
      </p:sp>
      <p:sp>
        <p:nvSpPr>
          <p:cNvPr id="11" name="타원 29">
            <a:extLst>
              <a:ext uri="{FF2B5EF4-FFF2-40B4-BE49-F238E27FC236}">
                <a16:creationId xmlns:a16="http://schemas.microsoft.com/office/drawing/2014/main" id="{172D7ECC-C748-4C3B-BDA2-C834D2155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4585" y="3559420"/>
            <a:ext cx="1239715" cy="422031"/>
          </a:xfrm>
          <a:prstGeom prst="ellipse">
            <a:avLst/>
          </a:prstGeom>
          <a:solidFill>
            <a:srgbClr val="FFCC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 anchorCtr="1"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292" b="1"/>
              <a:t>5C+5Any</a:t>
            </a:r>
            <a:endParaRPr lang="ko-KR" altLang="en-US" sz="1292" b="1"/>
          </a:p>
        </p:txBody>
      </p:sp>
      <p:sp>
        <p:nvSpPr>
          <p:cNvPr id="12" name="모서리가 둥근 직사각형 20">
            <a:extLst>
              <a:ext uri="{FF2B5EF4-FFF2-40B4-BE49-F238E27FC236}">
                <a16:creationId xmlns:a16="http://schemas.microsoft.com/office/drawing/2014/main" id="{9CC95292-35A8-4D29-8F67-F2DC4D77C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170" y="4060582"/>
            <a:ext cx="1204546" cy="29014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108" b="1" dirty="0">
                <a:solidFill>
                  <a:srgbClr val="FF0000"/>
                </a:solidFill>
              </a:rPr>
              <a:t>Any</a:t>
            </a:r>
            <a:r>
              <a:rPr lang="en-US" altLang="ko-KR" sz="1108" b="1" dirty="0"/>
              <a:t> Time</a:t>
            </a:r>
            <a:endParaRPr lang="ko-KR" altLang="en-US" sz="1108" b="1" dirty="0"/>
          </a:p>
        </p:txBody>
      </p:sp>
      <p:sp>
        <p:nvSpPr>
          <p:cNvPr id="13" name="모서리가 둥근 직사각형 16">
            <a:extLst>
              <a:ext uri="{FF2B5EF4-FFF2-40B4-BE49-F238E27FC236}">
                <a16:creationId xmlns:a16="http://schemas.microsoft.com/office/drawing/2014/main" id="{3011A5F8-B823-46EF-A9B1-541EC5611F9D}"/>
              </a:ext>
            </a:extLst>
          </p:cNvPr>
          <p:cNvSpPr/>
          <p:nvPr/>
        </p:nvSpPr>
        <p:spPr bwMode="auto">
          <a:xfrm>
            <a:off x="6529754" y="4421066"/>
            <a:ext cx="1204546" cy="290146"/>
          </a:xfrm>
          <a:prstGeom prst="roundRect">
            <a:avLst/>
          </a:prstGeom>
          <a:solidFill>
            <a:srgbClr val="FFFFCC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altLang="ko-KR" sz="1160" b="1" spc="-92" dirty="0">
                <a:solidFill>
                  <a:srgbClr val="FF0000"/>
                </a:solidFill>
              </a:rPr>
              <a:t>Any</a:t>
            </a:r>
            <a:r>
              <a:rPr lang="en-US" altLang="ko-KR" sz="1160" b="1" spc="-92" dirty="0"/>
              <a:t> Where</a:t>
            </a:r>
            <a:endParaRPr lang="ko-KR" altLang="en-US" sz="1160" b="1" spc="-92" dirty="0"/>
          </a:p>
        </p:txBody>
      </p:sp>
      <p:sp>
        <p:nvSpPr>
          <p:cNvPr id="14" name="모서리가 둥근 직사각형 23">
            <a:extLst>
              <a:ext uri="{FF2B5EF4-FFF2-40B4-BE49-F238E27FC236}">
                <a16:creationId xmlns:a16="http://schemas.microsoft.com/office/drawing/2014/main" id="{0BE3D0E8-1D15-4371-B89A-91D01C2C0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170" y="4781551"/>
            <a:ext cx="1204546" cy="29014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108" b="1">
                <a:solidFill>
                  <a:srgbClr val="FF0000"/>
                </a:solidFill>
              </a:rPr>
              <a:t>Any</a:t>
            </a:r>
            <a:r>
              <a:rPr lang="en-US" altLang="ko-KR" sz="1108" b="1"/>
              <a:t> Service</a:t>
            </a:r>
            <a:endParaRPr lang="ko-KR" altLang="en-US" sz="1108" b="1"/>
          </a:p>
        </p:txBody>
      </p:sp>
      <p:sp>
        <p:nvSpPr>
          <p:cNvPr id="15" name="모서리가 둥근 직사각형 25">
            <a:extLst>
              <a:ext uri="{FF2B5EF4-FFF2-40B4-BE49-F238E27FC236}">
                <a16:creationId xmlns:a16="http://schemas.microsoft.com/office/drawing/2014/main" id="{A8D9C0A6-2306-4641-8861-F50D0768B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170" y="5142036"/>
            <a:ext cx="1204546" cy="29014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108" b="1">
                <a:solidFill>
                  <a:srgbClr val="FF0000"/>
                </a:solidFill>
              </a:rPr>
              <a:t>Any</a:t>
            </a:r>
            <a:r>
              <a:rPr lang="en-US" altLang="ko-KR" sz="1108" b="1"/>
              <a:t> Network</a:t>
            </a:r>
            <a:endParaRPr lang="ko-KR" altLang="en-US" sz="1108" b="1"/>
          </a:p>
          <a:p>
            <a:endParaRPr lang="ko-KR" altLang="en-US" sz="1108" b="1"/>
          </a:p>
        </p:txBody>
      </p:sp>
      <p:sp>
        <p:nvSpPr>
          <p:cNvPr id="16" name="모서리가 둥근 직사각형 27">
            <a:extLst>
              <a:ext uri="{FF2B5EF4-FFF2-40B4-BE49-F238E27FC236}">
                <a16:creationId xmlns:a16="http://schemas.microsoft.com/office/drawing/2014/main" id="{A457CFEA-A76C-4A0A-9821-EE3650A5D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170" y="5511313"/>
            <a:ext cx="1204546" cy="29014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108" b="1">
                <a:solidFill>
                  <a:srgbClr val="FF0000"/>
                </a:solidFill>
              </a:rPr>
              <a:t>Any</a:t>
            </a:r>
            <a:r>
              <a:rPr lang="en-US" altLang="ko-KR" sz="1108" b="1"/>
              <a:t> Object</a:t>
            </a:r>
            <a:endParaRPr lang="ko-KR" altLang="en-US" sz="1108" b="1"/>
          </a:p>
        </p:txBody>
      </p:sp>
      <p:pic>
        <p:nvPicPr>
          <p:cNvPr id="17" name="Google Shape;365;p7" descr="A Primer on Cloud Computing. Cloud computing is defined as: | by Colin  Baird | Medium">
            <a:extLst>
              <a:ext uri="{FF2B5EF4-FFF2-40B4-BE49-F238E27FC236}">
                <a16:creationId xmlns:a16="http://schemas.microsoft.com/office/drawing/2014/main" id="{A3502F52-3C2C-4517-AC21-72DC9C64A2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3307" y="1333886"/>
            <a:ext cx="4291772" cy="409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BF525C4-C490-4D05-BA87-84139F0FB23B}"/>
              </a:ext>
            </a:extLst>
          </p:cNvPr>
          <p:cNvSpPr/>
          <p:nvPr/>
        </p:nvSpPr>
        <p:spPr>
          <a:xfrm>
            <a:off x="361591" y="4611938"/>
            <a:ext cx="4966418" cy="2267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accent2"/>
              </a:buClr>
              <a:buSzPts val="2240"/>
            </a:pPr>
            <a:r>
              <a:rPr lang="en-US" dirty="0">
                <a:solidFill>
                  <a:srgbClr val="FF0000"/>
                </a:solidFill>
              </a:rPr>
              <a:t>Characteristics</a:t>
            </a:r>
          </a:p>
          <a:p>
            <a:pPr marL="342900" lvl="0" indent="-342900">
              <a:buClr>
                <a:schemeClr val="accent2"/>
              </a:buClr>
              <a:buSzPts val="2240"/>
              <a:buChar char="►"/>
            </a:pPr>
            <a:r>
              <a:rPr lang="en-US" dirty="0"/>
              <a:t>Broad network access</a:t>
            </a:r>
          </a:p>
          <a:p>
            <a:pPr marL="342900" lvl="0" indent="-342900">
              <a:spcBef>
                <a:spcPts val="1000"/>
              </a:spcBef>
              <a:buClr>
                <a:schemeClr val="accent2"/>
              </a:buClr>
              <a:buSzPts val="2240"/>
              <a:buChar char="►"/>
            </a:pPr>
            <a:r>
              <a:rPr lang="en-US" dirty="0"/>
              <a:t>On demand self-services</a:t>
            </a:r>
          </a:p>
          <a:p>
            <a:pPr marL="342900" lvl="0" indent="-342900">
              <a:spcBef>
                <a:spcPts val="1000"/>
              </a:spcBef>
              <a:buClr>
                <a:schemeClr val="accent2"/>
              </a:buClr>
              <a:buSzPts val="2240"/>
              <a:buChar char="►"/>
            </a:pPr>
            <a:r>
              <a:rPr lang="en-US" dirty="0"/>
              <a:t>Rapid scalability</a:t>
            </a:r>
          </a:p>
          <a:p>
            <a:pPr marL="342900" lvl="0" indent="-342900">
              <a:spcBef>
                <a:spcPts val="1000"/>
              </a:spcBef>
              <a:buClr>
                <a:schemeClr val="accent2"/>
              </a:buClr>
              <a:buSzPts val="2240"/>
              <a:buChar char="►"/>
            </a:pPr>
            <a:r>
              <a:rPr lang="en-US" dirty="0"/>
              <a:t>Measured service</a:t>
            </a:r>
          </a:p>
          <a:p>
            <a:pPr marL="342900" lvl="0" indent="-342900">
              <a:spcBef>
                <a:spcPts val="1000"/>
              </a:spcBef>
              <a:buClr>
                <a:schemeClr val="accent2"/>
              </a:buClr>
              <a:buSzPts val="2240"/>
              <a:buChar char="►"/>
            </a:pPr>
            <a:r>
              <a:rPr lang="en-US" dirty="0"/>
              <a:t>Pay-per-use</a:t>
            </a:r>
          </a:p>
        </p:txBody>
      </p:sp>
    </p:spTree>
    <p:extLst>
      <p:ext uri="{BB962C8B-B14F-4D97-AF65-F5344CB8AC3E}">
        <p14:creationId xmlns:p14="http://schemas.microsoft.com/office/powerpoint/2010/main" val="362758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60ACA-D45A-43BF-B1D9-9A812B5A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27" y="122295"/>
            <a:ext cx="8596668" cy="54714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Conceptual Diagram for Cloud based IoT</a:t>
            </a:r>
            <a:endParaRPr lang="en-IN" dirty="0">
              <a:solidFill>
                <a:srgbClr val="C00000"/>
              </a:solidFill>
            </a:endParaRP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4685B3B3-6C7E-42AA-AF93-F961485A74F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61282" y="1305019"/>
            <a:ext cx="7838982" cy="4674862"/>
            <a:chOff x="1092" y="924"/>
            <a:chExt cx="3899" cy="2898"/>
          </a:xfrm>
        </p:grpSpPr>
        <p:sp>
          <p:nvSpPr>
            <p:cNvPr id="5" name="AutoShape 7">
              <a:extLst>
                <a:ext uri="{FF2B5EF4-FFF2-40B4-BE49-F238E27FC236}">
                  <a16:creationId xmlns:a16="http://schemas.microsoft.com/office/drawing/2014/main" id="{5CAD8243-D120-4CF9-9208-0ABCD8E71EE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092" y="924"/>
              <a:ext cx="3899" cy="2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717BB8F-FFBB-47E9-9533-59E3F7994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" y="1401"/>
              <a:ext cx="2955" cy="1225"/>
            </a:xfrm>
            <a:custGeom>
              <a:avLst/>
              <a:gdLst>
                <a:gd name="T0" fmla="*/ 0 w 9920"/>
                <a:gd name="T1" fmla="*/ 686 h 4112"/>
                <a:gd name="T2" fmla="*/ 686 w 9920"/>
                <a:gd name="T3" fmla="*/ 0 h 4112"/>
                <a:gd name="T4" fmla="*/ 686 w 9920"/>
                <a:gd name="T5" fmla="*/ 0 h 4112"/>
                <a:gd name="T6" fmla="*/ 686 w 9920"/>
                <a:gd name="T7" fmla="*/ 0 h 4112"/>
                <a:gd name="T8" fmla="*/ 9235 w 9920"/>
                <a:gd name="T9" fmla="*/ 0 h 4112"/>
                <a:gd name="T10" fmla="*/ 9235 w 9920"/>
                <a:gd name="T11" fmla="*/ 0 h 4112"/>
                <a:gd name="T12" fmla="*/ 9920 w 9920"/>
                <a:gd name="T13" fmla="*/ 686 h 4112"/>
                <a:gd name="T14" fmla="*/ 9920 w 9920"/>
                <a:gd name="T15" fmla="*/ 686 h 4112"/>
                <a:gd name="T16" fmla="*/ 9920 w 9920"/>
                <a:gd name="T17" fmla="*/ 686 h 4112"/>
                <a:gd name="T18" fmla="*/ 9920 w 9920"/>
                <a:gd name="T19" fmla="*/ 3427 h 4112"/>
                <a:gd name="T20" fmla="*/ 9920 w 9920"/>
                <a:gd name="T21" fmla="*/ 3427 h 4112"/>
                <a:gd name="T22" fmla="*/ 9235 w 9920"/>
                <a:gd name="T23" fmla="*/ 4112 h 4112"/>
                <a:gd name="T24" fmla="*/ 9235 w 9920"/>
                <a:gd name="T25" fmla="*/ 4112 h 4112"/>
                <a:gd name="T26" fmla="*/ 9235 w 9920"/>
                <a:gd name="T27" fmla="*/ 4112 h 4112"/>
                <a:gd name="T28" fmla="*/ 686 w 9920"/>
                <a:gd name="T29" fmla="*/ 4112 h 4112"/>
                <a:gd name="T30" fmla="*/ 686 w 9920"/>
                <a:gd name="T31" fmla="*/ 4112 h 4112"/>
                <a:gd name="T32" fmla="*/ 0 w 9920"/>
                <a:gd name="T33" fmla="*/ 3427 h 4112"/>
                <a:gd name="T34" fmla="*/ 0 w 9920"/>
                <a:gd name="T35" fmla="*/ 3427 h 4112"/>
                <a:gd name="T36" fmla="*/ 0 w 9920"/>
                <a:gd name="T37" fmla="*/ 686 h 4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920" h="4112">
                  <a:moveTo>
                    <a:pt x="0" y="686"/>
                  </a:moveTo>
                  <a:cubicBezTo>
                    <a:pt x="0" y="307"/>
                    <a:pt x="307" y="0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  <a:lnTo>
                    <a:pt x="686" y="0"/>
                  </a:lnTo>
                  <a:lnTo>
                    <a:pt x="9235" y="0"/>
                  </a:lnTo>
                  <a:lnTo>
                    <a:pt x="9235" y="0"/>
                  </a:lnTo>
                  <a:cubicBezTo>
                    <a:pt x="9614" y="0"/>
                    <a:pt x="9920" y="307"/>
                    <a:pt x="9920" y="686"/>
                  </a:cubicBezTo>
                  <a:cubicBezTo>
                    <a:pt x="9920" y="686"/>
                    <a:pt x="9920" y="686"/>
                    <a:pt x="9920" y="686"/>
                  </a:cubicBezTo>
                  <a:lnTo>
                    <a:pt x="9920" y="686"/>
                  </a:lnTo>
                  <a:lnTo>
                    <a:pt x="9920" y="3427"/>
                  </a:lnTo>
                  <a:lnTo>
                    <a:pt x="9920" y="3427"/>
                  </a:lnTo>
                  <a:cubicBezTo>
                    <a:pt x="9920" y="3806"/>
                    <a:pt x="9614" y="4112"/>
                    <a:pt x="9235" y="4112"/>
                  </a:cubicBezTo>
                  <a:cubicBezTo>
                    <a:pt x="9235" y="4112"/>
                    <a:pt x="9235" y="4112"/>
                    <a:pt x="9235" y="4112"/>
                  </a:cubicBezTo>
                  <a:lnTo>
                    <a:pt x="9235" y="4112"/>
                  </a:lnTo>
                  <a:lnTo>
                    <a:pt x="686" y="4112"/>
                  </a:lnTo>
                  <a:lnTo>
                    <a:pt x="686" y="4112"/>
                  </a:lnTo>
                  <a:cubicBezTo>
                    <a:pt x="307" y="4112"/>
                    <a:pt x="0" y="3806"/>
                    <a:pt x="0" y="3427"/>
                  </a:cubicBezTo>
                  <a:cubicBezTo>
                    <a:pt x="0" y="3427"/>
                    <a:pt x="0" y="3427"/>
                    <a:pt x="0" y="3427"/>
                  </a:cubicBezTo>
                  <a:lnTo>
                    <a:pt x="0" y="686"/>
                  </a:lnTo>
                  <a:close/>
                </a:path>
              </a:pathLst>
            </a:custGeom>
            <a:solidFill>
              <a:srgbClr val="DBEEF4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BC3CB81A-E955-4B46-8C72-32477A606E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4" y="1398"/>
              <a:ext cx="2960" cy="1230"/>
            </a:xfrm>
            <a:custGeom>
              <a:avLst/>
              <a:gdLst>
                <a:gd name="T0" fmla="*/ 15 w 9936"/>
                <a:gd name="T1" fmla="*/ 555 h 4128"/>
                <a:gd name="T2" fmla="*/ 55 w 9936"/>
                <a:gd name="T3" fmla="*/ 424 h 4128"/>
                <a:gd name="T4" fmla="*/ 203 w 9936"/>
                <a:gd name="T5" fmla="*/ 204 h 4128"/>
                <a:gd name="T6" fmla="*/ 307 w 9936"/>
                <a:gd name="T7" fmla="*/ 118 h 4128"/>
                <a:gd name="T8" fmla="*/ 488 w 9936"/>
                <a:gd name="T9" fmla="*/ 32 h 4128"/>
                <a:gd name="T10" fmla="*/ 694 w 9936"/>
                <a:gd name="T11" fmla="*/ 0 h 4128"/>
                <a:gd name="T12" fmla="*/ 9383 w 9936"/>
                <a:gd name="T13" fmla="*/ 15 h 4128"/>
                <a:gd name="T14" fmla="*/ 9514 w 9936"/>
                <a:gd name="T15" fmla="*/ 55 h 4128"/>
                <a:gd name="T16" fmla="*/ 9734 w 9936"/>
                <a:gd name="T17" fmla="*/ 203 h 4128"/>
                <a:gd name="T18" fmla="*/ 9819 w 9936"/>
                <a:gd name="T19" fmla="*/ 307 h 4128"/>
                <a:gd name="T20" fmla="*/ 9905 w 9936"/>
                <a:gd name="T21" fmla="*/ 488 h 4128"/>
                <a:gd name="T22" fmla="*/ 9936 w 9936"/>
                <a:gd name="T23" fmla="*/ 694 h 4128"/>
                <a:gd name="T24" fmla="*/ 9922 w 9936"/>
                <a:gd name="T25" fmla="*/ 3575 h 4128"/>
                <a:gd name="T26" fmla="*/ 9882 w 9936"/>
                <a:gd name="T27" fmla="*/ 3706 h 4128"/>
                <a:gd name="T28" fmla="*/ 9735 w 9936"/>
                <a:gd name="T29" fmla="*/ 3926 h 4128"/>
                <a:gd name="T30" fmla="*/ 9630 w 9936"/>
                <a:gd name="T31" fmla="*/ 4011 h 4128"/>
                <a:gd name="T32" fmla="*/ 9450 w 9936"/>
                <a:gd name="T33" fmla="*/ 4097 h 4128"/>
                <a:gd name="T34" fmla="*/ 9244 w 9936"/>
                <a:gd name="T35" fmla="*/ 4128 h 4128"/>
                <a:gd name="T36" fmla="*/ 555 w 9936"/>
                <a:gd name="T37" fmla="*/ 4114 h 4128"/>
                <a:gd name="T38" fmla="*/ 424 w 9936"/>
                <a:gd name="T39" fmla="*/ 4074 h 4128"/>
                <a:gd name="T40" fmla="*/ 204 w 9936"/>
                <a:gd name="T41" fmla="*/ 3927 h 4128"/>
                <a:gd name="T42" fmla="*/ 118 w 9936"/>
                <a:gd name="T43" fmla="*/ 3822 h 4128"/>
                <a:gd name="T44" fmla="*/ 32 w 9936"/>
                <a:gd name="T45" fmla="*/ 3642 h 4128"/>
                <a:gd name="T46" fmla="*/ 0 w 9936"/>
                <a:gd name="T47" fmla="*/ 3436 h 4128"/>
                <a:gd name="T48" fmla="*/ 20 w 9936"/>
                <a:gd name="T49" fmla="*/ 3504 h 4128"/>
                <a:gd name="T50" fmla="*/ 70 w 9936"/>
                <a:gd name="T51" fmla="*/ 3700 h 4128"/>
                <a:gd name="T52" fmla="*/ 132 w 9936"/>
                <a:gd name="T53" fmla="*/ 3813 h 4128"/>
                <a:gd name="T54" fmla="*/ 316 w 9936"/>
                <a:gd name="T55" fmla="*/ 3997 h 4128"/>
                <a:gd name="T56" fmla="*/ 430 w 9936"/>
                <a:gd name="T57" fmla="*/ 4059 h 4128"/>
                <a:gd name="T58" fmla="*/ 625 w 9936"/>
                <a:gd name="T59" fmla="*/ 4108 h 4128"/>
                <a:gd name="T60" fmla="*/ 9312 w 9936"/>
                <a:gd name="T61" fmla="*/ 4109 h 4128"/>
                <a:gd name="T62" fmla="*/ 9508 w 9936"/>
                <a:gd name="T63" fmla="*/ 4059 h 4128"/>
                <a:gd name="T64" fmla="*/ 9621 w 9936"/>
                <a:gd name="T65" fmla="*/ 3997 h 4128"/>
                <a:gd name="T66" fmla="*/ 9805 w 9936"/>
                <a:gd name="T67" fmla="*/ 3813 h 4128"/>
                <a:gd name="T68" fmla="*/ 9867 w 9936"/>
                <a:gd name="T69" fmla="*/ 3700 h 4128"/>
                <a:gd name="T70" fmla="*/ 9916 w 9936"/>
                <a:gd name="T71" fmla="*/ 3505 h 4128"/>
                <a:gd name="T72" fmla="*/ 9917 w 9936"/>
                <a:gd name="T73" fmla="*/ 626 h 4128"/>
                <a:gd name="T74" fmla="*/ 9867 w 9936"/>
                <a:gd name="T75" fmla="*/ 430 h 4128"/>
                <a:gd name="T76" fmla="*/ 9805 w 9936"/>
                <a:gd name="T77" fmla="*/ 316 h 4128"/>
                <a:gd name="T78" fmla="*/ 9621 w 9936"/>
                <a:gd name="T79" fmla="*/ 132 h 4128"/>
                <a:gd name="T80" fmla="*/ 9508 w 9936"/>
                <a:gd name="T81" fmla="*/ 70 h 4128"/>
                <a:gd name="T82" fmla="*/ 9313 w 9936"/>
                <a:gd name="T83" fmla="*/ 20 h 4128"/>
                <a:gd name="T84" fmla="*/ 626 w 9936"/>
                <a:gd name="T85" fmla="*/ 20 h 4128"/>
                <a:gd name="T86" fmla="*/ 430 w 9936"/>
                <a:gd name="T87" fmla="*/ 70 h 4128"/>
                <a:gd name="T88" fmla="*/ 316 w 9936"/>
                <a:gd name="T89" fmla="*/ 132 h 4128"/>
                <a:gd name="T90" fmla="*/ 132 w 9936"/>
                <a:gd name="T91" fmla="*/ 316 h 4128"/>
                <a:gd name="T92" fmla="*/ 70 w 9936"/>
                <a:gd name="T93" fmla="*/ 430 h 4128"/>
                <a:gd name="T94" fmla="*/ 20 w 9936"/>
                <a:gd name="T95" fmla="*/ 625 h 4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936" h="4128">
                  <a:moveTo>
                    <a:pt x="0" y="694"/>
                  </a:moveTo>
                  <a:lnTo>
                    <a:pt x="4" y="624"/>
                  </a:lnTo>
                  <a:lnTo>
                    <a:pt x="15" y="555"/>
                  </a:lnTo>
                  <a:lnTo>
                    <a:pt x="32" y="488"/>
                  </a:lnTo>
                  <a:lnTo>
                    <a:pt x="55" y="425"/>
                  </a:lnTo>
                  <a:cubicBezTo>
                    <a:pt x="55" y="424"/>
                    <a:pt x="55" y="424"/>
                    <a:pt x="55" y="424"/>
                  </a:cubicBezTo>
                  <a:lnTo>
                    <a:pt x="118" y="307"/>
                  </a:lnTo>
                  <a:cubicBezTo>
                    <a:pt x="119" y="306"/>
                    <a:pt x="119" y="306"/>
                    <a:pt x="119" y="305"/>
                  </a:cubicBezTo>
                  <a:lnTo>
                    <a:pt x="203" y="204"/>
                  </a:lnTo>
                  <a:cubicBezTo>
                    <a:pt x="204" y="204"/>
                    <a:pt x="204" y="204"/>
                    <a:pt x="204" y="203"/>
                  </a:cubicBezTo>
                  <a:lnTo>
                    <a:pt x="305" y="119"/>
                  </a:lnTo>
                  <a:cubicBezTo>
                    <a:pt x="306" y="119"/>
                    <a:pt x="306" y="119"/>
                    <a:pt x="307" y="118"/>
                  </a:cubicBezTo>
                  <a:lnTo>
                    <a:pt x="424" y="55"/>
                  </a:lnTo>
                  <a:cubicBezTo>
                    <a:pt x="424" y="55"/>
                    <a:pt x="424" y="55"/>
                    <a:pt x="425" y="55"/>
                  </a:cubicBezTo>
                  <a:lnTo>
                    <a:pt x="488" y="32"/>
                  </a:lnTo>
                  <a:lnTo>
                    <a:pt x="554" y="15"/>
                  </a:lnTo>
                  <a:lnTo>
                    <a:pt x="623" y="5"/>
                  </a:lnTo>
                  <a:lnTo>
                    <a:pt x="694" y="0"/>
                  </a:lnTo>
                  <a:lnTo>
                    <a:pt x="9243" y="0"/>
                  </a:lnTo>
                  <a:lnTo>
                    <a:pt x="9314" y="4"/>
                  </a:lnTo>
                  <a:lnTo>
                    <a:pt x="9383" y="15"/>
                  </a:lnTo>
                  <a:lnTo>
                    <a:pt x="9449" y="32"/>
                  </a:lnTo>
                  <a:lnTo>
                    <a:pt x="9513" y="55"/>
                  </a:lnTo>
                  <a:cubicBezTo>
                    <a:pt x="9514" y="55"/>
                    <a:pt x="9514" y="55"/>
                    <a:pt x="9514" y="55"/>
                  </a:cubicBezTo>
                  <a:lnTo>
                    <a:pt x="9630" y="118"/>
                  </a:lnTo>
                  <a:cubicBezTo>
                    <a:pt x="9631" y="119"/>
                    <a:pt x="9631" y="119"/>
                    <a:pt x="9632" y="119"/>
                  </a:cubicBezTo>
                  <a:lnTo>
                    <a:pt x="9734" y="203"/>
                  </a:lnTo>
                  <a:cubicBezTo>
                    <a:pt x="9734" y="204"/>
                    <a:pt x="9734" y="204"/>
                    <a:pt x="9735" y="204"/>
                  </a:cubicBezTo>
                  <a:lnTo>
                    <a:pt x="9818" y="305"/>
                  </a:lnTo>
                  <a:cubicBezTo>
                    <a:pt x="9818" y="306"/>
                    <a:pt x="9818" y="306"/>
                    <a:pt x="9819" y="307"/>
                  </a:cubicBezTo>
                  <a:lnTo>
                    <a:pt x="9882" y="424"/>
                  </a:lnTo>
                  <a:cubicBezTo>
                    <a:pt x="9882" y="424"/>
                    <a:pt x="9882" y="424"/>
                    <a:pt x="9882" y="425"/>
                  </a:cubicBezTo>
                  <a:lnTo>
                    <a:pt x="9905" y="488"/>
                  </a:lnTo>
                  <a:lnTo>
                    <a:pt x="9922" y="554"/>
                  </a:lnTo>
                  <a:lnTo>
                    <a:pt x="9932" y="623"/>
                  </a:lnTo>
                  <a:lnTo>
                    <a:pt x="9936" y="694"/>
                  </a:lnTo>
                  <a:lnTo>
                    <a:pt x="9936" y="3435"/>
                  </a:lnTo>
                  <a:lnTo>
                    <a:pt x="9932" y="3506"/>
                  </a:lnTo>
                  <a:lnTo>
                    <a:pt x="9922" y="3575"/>
                  </a:lnTo>
                  <a:lnTo>
                    <a:pt x="9905" y="3641"/>
                  </a:lnTo>
                  <a:lnTo>
                    <a:pt x="9882" y="3705"/>
                  </a:lnTo>
                  <a:cubicBezTo>
                    <a:pt x="9882" y="3706"/>
                    <a:pt x="9882" y="3706"/>
                    <a:pt x="9882" y="3706"/>
                  </a:cubicBezTo>
                  <a:lnTo>
                    <a:pt x="9819" y="3822"/>
                  </a:lnTo>
                  <a:cubicBezTo>
                    <a:pt x="9818" y="3823"/>
                    <a:pt x="9818" y="3823"/>
                    <a:pt x="9818" y="3824"/>
                  </a:cubicBezTo>
                  <a:lnTo>
                    <a:pt x="9735" y="3926"/>
                  </a:lnTo>
                  <a:cubicBezTo>
                    <a:pt x="9734" y="3926"/>
                    <a:pt x="9734" y="3926"/>
                    <a:pt x="9734" y="3927"/>
                  </a:cubicBezTo>
                  <a:lnTo>
                    <a:pt x="9632" y="4010"/>
                  </a:lnTo>
                  <a:cubicBezTo>
                    <a:pt x="9631" y="4010"/>
                    <a:pt x="9631" y="4010"/>
                    <a:pt x="9630" y="4011"/>
                  </a:cubicBezTo>
                  <a:lnTo>
                    <a:pt x="9514" y="4074"/>
                  </a:lnTo>
                  <a:cubicBezTo>
                    <a:pt x="9514" y="4074"/>
                    <a:pt x="9514" y="4074"/>
                    <a:pt x="9513" y="4074"/>
                  </a:cubicBezTo>
                  <a:lnTo>
                    <a:pt x="9450" y="4097"/>
                  </a:lnTo>
                  <a:lnTo>
                    <a:pt x="9383" y="4114"/>
                  </a:lnTo>
                  <a:lnTo>
                    <a:pt x="9315" y="4124"/>
                  </a:lnTo>
                  <a:lnTo>
                    <a:pt x="9244" y="4128"/>
                  </a:lnTo>
                  <a:lnTo>
                    <a:pt x="694" y="4128"/>
                  </a:lnTo>
                  <a:lnTo>
                    <a:pt x="624" y="4124"/>
                  </a:lnTo>
                  <a:lnTo>
                    <a:pt x="555" y="4114"/>
                  </a:lnTo>
                  <a:lnTo>
                    <a:pt x="488" y="4097"/>
                  </a:lnTo>
                  <a:lnTo>
                    <a:pt x="425" y="4074"/>
                  </a:lnTo>
                  <a:cubicBezTo>
                    <a:pt x="424" y="4074"/>
                    <a:pt x="424" y="4074"/>
                    <a:pt x="424" y="4074"/>
                  </a:cubicBezTo>
                  <a:lnTo>
                    <a:pt x="307" y="4011"/>
                  </a:lnTo>
                  <a:cubicBezTo>
                    <a:pt x="306" y="4010"/>
                    <a:pt x="306" y="4010"/>
                    <a:pt x="305" y="4010"/>
                  </a:cubicBezTo>
                  <a:lnTo>
                    <a:pt x="204" y="3927"/>
                  </a:lnTo>
                  <a:cubicBezTo>
                    <a:pt x="204" y="3926"/>
                    <a:pt x="204" y="3926"/>
                    <a:pt x="203" y="3926"/>
                  </a:cubicBezTo>
                  <a:lnTo>
                    <a:pt x="119" y="3824"/>
                  </a:lnTo>
                  <a:cubicBezTo>
                    <a:pt x="119" y="3823"/>
                    <a:pt x="119" y="3823"/>
                    <a:pt x="118" y="3822"/>
                  </a:cubicBezTo>
                  <a:lnTo>
                    <a:pt x="55" y="3706"/>
                  </a:lnTo>
                  <a:cubicBezTo>
                    <a:pt x="55" y="3706"/>
                    <a:pt x="55" y="3706"/>
                    <a:pt x="55" y="3705"/>
                  </a:cubicBezTo>
                  <a:lnTo>
                    <a:pt x="32" y="3642"/>
                  </a:lnTo>
                  <a:lnTo>
                    <a:pt x="15" y="3575"/>
                  </a:lnTo>
                  <a:lnTo>
                    <a:pt x="5" y="3507"/>
                  </a:lnTo>
                  <a:lnTo>
                    <a:pt x="0" y="3436"/>
                  </a:lnTo>
                  <a:lnTo>
                    <a:pt x="0" y="694"/>
                  </a:lnTo>
                  <a:close/>
                  <a:moveTo>
                    <a:pt x="16" y="3435"/>
                  </a:moveTo>
                  <a:lnTo>
                    <a:pt x="20" y="3504"/>
                  </a:lnTo>
                  <a:lnTo>
                    <a:pt x="30" y="3571"/>
                  </a:lnTo>
                  <a:lnTo>
                    <a:pt x="47" y="3637"/>
                  </a:lnTo>
                  <a:lnTo>
                    <a:pt x="70" y="3700"/>
                  </a:lnTo>
                  <a:lnTo>
                    <a:pt x="70" y="3699"/>
                  </a:lnTo>
                  <a:lnTo>
                    <a:pt x="133" y="3815"/>
                  </a:lnTo>
                  <a:lnTo>
                    <a:pt x="132" y="3813"/>
                  </a:lnTo>
                  <a:lnTo>
                    <a:pt x="216" y="3915"/>
                  </a:lnTo>
                  <a:lnTo>
                    <a:pt x="215" y="3914"/>
                  </a:lnTo>
                  <a:lnTo>
                    <a:pt x="316" y="3997"/>
                  </a:lnTo>
                  <a:lnTo>
                    <a:pt x="314" y="3996"/>
                  </a:lnTo>
                  <a:lnTo>
                    <a:pt x="431" y="4059"/>
                  </a:lnTo>
                  <a:lnTo>
                    <a:pt x="430" y="4059"/>
                  </a:lnTo>
                  <a:lnTo>
                    <a:pt x="492" y="4082"/>
                  </a:lnTo>
                  <a:lnTo>
                    <a:pt x="558" y="4099"/>
                  </a:lnTo>
                  <a:lnTo>
                    <a:pt x="625" y="4108"/>
                  </a:lnTo>
                  <a:lnTo>
                    <a:pt x="694" y="4112"/>
                  </a:lnTo>
                  <a:lnTo>
                    <a:pt x="9243" y="4112"/>
                  </a:lnTo>
                  <a:lnTo>
                    <a:pt x="9312" y="4109"/>
                  </a:lnTo>
                  <a:lnTo>
                    <a:pt x="9379" y="4099"/>
                  </a:lnTo>
                  <a:lnTo>
                    <a:pt x="9445" y="4082"/>
                  </a:lnTo>
                  <a:lnTo>
                    <a:pt x="9508" y="4059"/>
                  </a:lnTo>
                  <a:lnTo>
                    <a:pt x="9507" y="4059"/>
                  </a:lnTo>
                  <a:lnTo>
                    <a:pt x="9623" y="3996"/>
                  </a:lnTo>
                  <a:lnTo>
                    <a:pt x="9621" y="3997"/>
                  </a:lnTo>
                  <a:lnTo>
                    <a:pt x="9723" y="3914"/>
                  </a:lnTo>
                  <a:lnTo>
                    <a:pt x="9722" y="3915"/>
                  </a:lnTo>
                  <a:lnTo>
                    <a:pt x="9805" y="3813"/>
                  </a:lnTo>
                  <a:lnTo>
                    <a:pt x="9804" y="3815"/>
                  </a:lnTo>
                  <a:lnTo>
                    <a:pt x="9867" y="3699"/>
                  </a:lnTo>
                  <a:lnTo>
                    <a:pt x="9867" y="3700"/>
                  </a:lnTo>
                  <a:lnTo>
                    <a:pt x="9890" y="3637"/>
                  </a:lnTo>
                  <a:lnTo>
                    <a:pt x="9907" y="3572"/>
                  </a:lnTo>
                  <a:lnTo>
                    <a:pt x="9916" y="3505"/>
                  </a:lnTo>
                  <a:lnTo>
                    <a:pt x="9920" y="3435"/>
                  </a:lnTo>
                  <a:lnTo>
                    <a:pt x="9920" y="695"/>
                  </a:lnTo>
                  <a:lnTo>
                    <a:pt x="9917" y="626"/>
                  </a:lnTo>
                  <a:lnTo>
                    <a:pt x="9907" y="558"/>
                  </a:lnTo>
                  <a:lnTo>
                    <a:pt x="9890" y="493"/>
                  </a:lnTo>
                  <a:lnTo>
                    <a:pt x="9867" y="430"/>
                  </a:lnTo>
                  <a:lnTo>
                    <a:pt x="9867" y="431"/>
                  </a:lnTo>
                  <a:lnTo>
                    <a:pt x="9804" y="314"/>
                  </a:lnTo>
                  <a:lnTo>
                    <a:pt x="9805" y="316"/>
                  </a:lnTo>
                  <a:lnTo>
                    <a:pt x="9722" y="215"/>
                  </a:lnTo>
                  <a:lnTo>
                    <a:pt x="9723" y="216"/>
                  </a:lnTo>
                  <a:lnTo>
                    <a:pt x="9621" y="132"/>
                  </a:lnTo>
                  <a:lnTo>
                    <a:pt x="9623" y="133"/>
                  </a:lnTo>
                  <a:lnTo>
                    <a:pt x="9507" y="70"/>
                  </a:lnTo>
                  <a:lnTo>
                    <a:pt x="9508" y="70"/>
                  </a:lnTo>
                  <a:lnTo>
                    <a:pt x="9445" y="47"/>
                  </a:lnTo>
                  <a:lnTo>
                    <a:pt x="9380" y="30"/>
                  </a:lnTo>
                  <a:lnTo>
                    <a:pt x="9313" y="20"/>
                  </a:lnTo>
                  <a:lnTo>
                    <a:pt x="9243" y="16"/>
                  </a:lnTo>
                  <a:lnTo>
                    <a:pt x="695" y="16"/>
                  </a:lnTo>
                  <a:lnTo>
                    <a:pt x="626" y="20"/>
                  </a:lnTo>
                  <a:lnTo>
                    <a:pt x="558" y="30"/>
                  </a:lnTo>
                  <a:lnTo>
                    <a:pt x="493" y="47"/>
                  </a:lnTo>
                  <a:lnTo>
                    <a:pt x="430" y="70"/>
                  </a:lnTo>
                  <a:lnTo>
                    <a:pt x="431" y="70"/>
                  </a:lnTo>
                  <a:lnTo>
                    <a:pt x="314" y="133"/>
                  </a:lnTo>
                  <a:lnTo>
                    <a:pt x="316" y="132"/>
                  </a:lnTo>
                  <a:lnTo>
                    <a:pt x="215" y="216"/>
                  </a:lnTo>
                  <a:lnTo>
                    <a:pt x="216" y="215"/>
                  </a:lnTo>
                  <a:lnTo>
                    <a:pt x="132" y="316"/>
                  </a:lnTo>
                  <a:lnTo>
                    <a:pt x="133" y="314"/>
                  </a:lnTo>
                  <a:lnTo>
                    <a:pt x="70" y="431"/>
                  </a:lnTo>
                  <a:lnTo>
                    <a:pt x="70" y="430"/>
                  </a:lnTo>
                  <a:lnTo>
                    <a:pt x="47" y="492"/>
                  </a:lnTo>
                  <a:lnTo>
                    <a:pt x="30" y="558"/>
                  </a:lnTo>
                  <a:lnTo>
                    <a:pt x="20" y="625"/>
                  </a:lnTo>
                  <a:lnTo>
                    <a:pt x="16" y="694"/>
                  </a:lnTo>
                  <a:lnTo>
                    <a:pt x="16" y="3435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237C64B5-4F08-4127-B224-2D1BCC925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" y="3384"/>
              <a:ext cx="1368" cy="433"/>
            </a:xfrm>
            <a:custGeom>
              <a:avLst/>
              <a:gdLst>
                <a:gd name="T0" fmla="*/ 0 w 4592"/>
                <a:gd name="T1" fmla="*/ 243 h 1456"/>
                <a:gd name="T2" fmla="*/ 243 w 4592"/>
                <a:gd name="T3" fmla="*/ 0 h 1456"/>
                <a:gd name="T4" fmla="*/ 243 w 4592"/>
                <a:gd name="T5" fmla="*/ 0 h 1456"/>
                <a:gd name="T6" fmla="*/ 243 w 4592"/>
                <a:gd name="T7" fmla="*/ 0 h 1456"/>
                <a:gd name="T8" fmla="*/ 4350 w 4592"/>
                <a:gd name="T9" fmla="*/ 0 h 1456"/>
                <a:gd name="T10" fmla="*/ 4350 w 4592"/>
                <a:gd name="T11" fmla="*/ 0 h 1456"/>
                <a:gd name="T12" fmla="*/ 4592 w 4592"/>
                <a:gd name="T13" fmla="*/ 243 h 1456"/>
                <a:gd name="T14" fmla="*/ 4592 w 4592"/>
                <a:gd name="T15" fmla="*/ 243 h 1456"/>
                <a:gd name="T16" fmla="*/ 4592 w 4592"/>
                <a:gd name="T17" fmla="*/ 243 h 1456"/>
                <a:gd name="T18" fmla="*/ 4592 w 4592"/>
                <a:gd name="T19" fmla="*/ 1214 h 1456"/>
                <a:gd name="T20" fmla="*/ 4592 w 4592"/>
                <a:gd name="T21" fmla="*/ 1214 h 1456"/>
                <a:gd name="T22" fmla="*/ 4350 w 4592"/>
                <a:gd name="T23" fmla="*/ 1456 h 1456"/>
                <a:gd name="T24" fmla="*/ 4350 w 4592"/>
                <a:gd name="T25" fmla="*/ 1456 h 1456"/>
                <a:gd name="T26" fmla="*/ 4350 w 4592"/>
                <a:gd name="T27" fmla="*/ 1456 h 1456"/>
                <a:gd name="T28" fmla="*/ 243 w 4592"/>
                <a:gd name="T29" fmla="*/ 1456 h 1456"/>
                <a:gd name="T30" fmla="*/ 243 w 4592"/>
                <a:gd name="T31" fmla="*/ 1456 h 1456"/>
                <a:gd name="T32" fmla="*/ 0 w 4592"/>
                <a:gd name="T33" fmla="*/ 1214 h 1456"/>
                <a:gd name="T34" fmla="*/ 0 w 4592"/>
                <a:gd name="T35" fmla="*/ 1214 h 1456"/>
                <a:gd name="T36" fmla="*/ 0 w 4592"/>
                <a:gd name="T37" fmla="*/ 243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92" h="1456">
                  <a:moveTo>
                    <a:pt x="0" y="243"/>
                  </a:moveTo>
                  <a:cubicBezTo>
                    <a:pt x="0" y="109"/>
                    <a:pt x="109" y="0"/>
                    <a:pt x="243" y="0"/>
                  </a:cubicBezTo>
                  <a:cubicBezTo>
                    <a:pt x="243" y="0"/>
                    <a:pt x="243" y="0"/>
                    <a:pt x="243" y="0"/>
                  </a:cubicBezTo>
                  <a:lnTo>
                    <a:pt x="243" y="0"/>
                  </a:lnTo>
                  <a:lnTo>
                    <a:pt x="4350" y="0"/>
                  </a:lnTo>
                  <a:lnTo>
                    <a:pt x="4350" y="0"/>
                  </a:lnTo>
                  <a:cubicBezTo>
                    <a:pt x="4484" y="0"/>
                    <a:pt x="4592" y="109"/>
                    <a:pt x="4592" y="243"/>
                  </a:cubicBezTo>
                  <a:cubicBezTo>
                    <a:pt x="4592" y="243"/>
                    <a:pt x="4592" y="243"/>
                    <a:pt x="4592" y="243"/>
                  </a:cubicBezTo>
                  <a:lnTo>
                    <a:pt x="4592" y="243"/>
                  </a:lnTo>
                  <a:lnTo>
                    <a:pt x="4592" y="1214"/>
                  </a:lnTo>
                  <a:lnTo>
                    <a:pt x="4592" y="1214"/>
                  </a:lnTo>
                  <a:cubicBezTo>
                    <a:pt x="4592" y="1348"/>
                    <a:pt x="4484" y="1456"/>
                    <a:pt x="4350" y="1456"/>
                  </a:cubicBezTo>
                  <a:cubicBezTo>
                    <a:pt x="4350" y="1456"/>
                    <a:pt x="4350" y="1456"/>
                    <a:pt x="4350" y="1456"/>
                  </a:cubicBezTo>
                  <a:lnTo>
                    <a:pt x="4350" y="1456"/>
                  </a:lnTo>
                  <a:lnTo>
                    <a:pt x="243" y="1456"/>
                  </a:lnTo>
                  <a:lnTo>
                    <a:pt x="243" y="1456"/>
                  </a:lnTo>
                  <a:cubicBezTo>
                    <a:pt x="109" y="1456"/>
                    <a:pt x="0" y="1348"/>
                    <a:pt x="0" y="1214"/>
                  </a:cubicBezTo>
                  <a:cubicBezTo>
                    <a:pt x="0" y="1214"/>
                    <a:pt x="0" y="1214"/>
                    <a:pt x="0" y="1214"/>
                  </a:cubicBezTo>
                  <a:lnTo>
                    <a:pt x="0" y="243"/>
                  </a:lnTo>
                  <a:close/>
                </a:path>
              </a:pathLst>
            </a:custGeom>
            <a:solidFill>
              <a:srgbClr val="EBF1DE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D6346537-89CC-4646-B263-12491B2C34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" y="3381"/>
              <a:ext cx="1372" cy="439"/>
            </a:xfrm>
            <a:custGeom>
              <a:avLst/>
              <a:gdLst>
                <a:gd name="T0" fmla="*/ 6 w 4608"/>
                <a:gd name="T1" fmla="*/ 200 h 1472"/>
                <a:gd name="T2" fmla="*/ 43 w 4608"/>
                <a:gd name="T3" fmla="*/ 112 h 1472"/>
                <a:gd name="T4" fmla="*/ 74 w 4608"/>
                <a:gd name="T5" fmla="*/ 73 h 1472"/>
                <a:gd name="T6" fmla="*/ 154 w 4608"/>
                <a:gd name="T7" fmla="*/ 20 h 1472"/>
                <a:gd name="T8" fmla="*/ 202 w 4608"/>
                <a:gd name="T9" fmla="*/ 5 h 1472"/>
                <a:gd name="T10" fmla="*/ 4408 w 4608"/>
                <a:gd name="T11" fmla="*/ 5 h 1472"/>
                <a:gd name="T12" fmla="*/ 4456 w 4608"/>
                <a:gd name="T13" fmla="*/ 20 h 1472"/>
                <a:gd name="T14" fmla="*/ 4534 w 4608"/>
                <a:gd name="T15" fmla="*/ 73 h 1472"/>
                <a:gd name="T16" fmla="*/ 4567 w 4608"/>
                <a:gd name="T17" fmla="*/ 112 h 1472"/>
                <a:gd name="T18" fmla="*/ 4603 w 4608"/>
                <a:gd name="T19" fmla="*/ 200 h 1472"/>
                <a:gd name="T20" fmla="*/ 4608 w 4608"/>
                <a:gd name="T21" fmla="*/ 1222 h 1472"/>
                <a:gd name="T22" fmla="*/ 4589 w 4608"/>
                <a:gd name="T23" fmla="*/ 1319 h 1472"/>
                <a:gd name="T24" fmla="*/ 4566 w 4608"/>
                <a:gd name="T25" fmla="*/ 1363 h 1472"/>
                <a:gd name="T26" fmla="*/ 4499 w 4608"/>
                <a:gd name="T27" fmla="*/ 1430 h 1472"/>
                <a:gd name="T28" fmla="*/ 4455 w 4608"/>
                <a:gd name="T29" fmla="*/ 1453 h 1472"/>
                <a:gd name="T30" fmla="*/ 4359 w 4608"/>
                <a:gd name="T31" fmla="*/ 1472 h 1472"/>
                <a:gd name="T32" fmla="*/ 200 w 4608"/>
                <a:gd name="T33" fmla="*/ 1467 h 1472"/>
                <a:gd name="T34" fmla="*/ 112 w 4608"/>
                <a:gd name="T35" fmla="*/ 1431 h 1472"/>
                <a:gd name="T36" fmla="*/ 73 w 4608"/>
                <a:gd name="T37" fmla="*/ 1398 h 1472"/>
                <a:gd name="T38" fmla="*/ 20 w 4608"/>
                <a:gd name="T39" fmla="*/ 1320 h 1472"/>
                <a:gd name="T40" fmla="*/ 6 w 4608"/>
                <a:gd name="T41" fmla="*/ 1272 h 1472"/>
                <a:gd name="T42" fmla="*/ 16 w 4608"/>
                <a:gd name="T43" fmla="*/ 1222 h 1472"/>
                <a:gd name="T44" fmla="*/ 35 w 4608"/>
                <a:gd name="T45" fmla="*/ 1314 h 1472"/>
                <a:gd name="T46" fmla="*/ 57 w 4608"/>
                <a:gd name="T47" fmla="*/ 1352 h 1472"/>
                <a:gd name="T48" fmla="*/ 121 w 4608"/>
                <a:gd name="T49" fmla="*/ 1417 h 1472"/>
                <a:gd name="T50" fmla="*/ 160 w 4608"/>
                <a:gd name="T51" fmla="*/ 1438 h 1472"/>
                <a:gd name="T52" fmla="*/ 251 w 4608"/>
                <a:gd name="T53" fmla="*/ 1456 h 1472"/>
                <a:gd name="T54" fmla="*/ 4405 w 4608"/>
                <a:gd name="T55" fmla="*/ 1452 h 1472"/>
                <a:gd name="T56" fmla="*/ 4490 w 4608"/>
                <a:gd name="T57" fmla="*/ 1416 h 1472"/>
                <a:gd name="T58" fmla="*/ 4523 w 4608"/>
                <a:gd name="T59" fmla="*/ 1388 h 1472"/>
                <a:gd name="T60" fmla="*/ 4574 w 4608"/>
                <a:gd name="T61" fmla="*/ 1313 h 1472"/>
                <a:gd name="T62" fmla="*/ 4588 w 4608"/>
                <a:gd name="T63" fmla="*/ 1271 h 1472"/>
                <a:gd name="T64" fmla="*/ 4588 w 4608"/>
                <a:gd name="T65" fmla="*/ 203 h 1472"/>
                <a:gd name="T66" fmla="*/ 4574 w 4608"/>
                <a:gd name="T67" fmla="*/ 161 h 1472"/>
                <a:gd name="T68" fmla="*/ 4523 w 4608"/>
                <a:gd name="T69" fmla="*/ 85 h 1472"/>
                <a:gd name="T70" fmla="*/ 4490 w 4608"/>
                <a:gd name="T71" fmla="*/ 57 h 1472"/>
                <a:gd name="T72" fmla="*/ 4405 w 4608"/>
                <a:gd name="T73" fmla="*/ 21 h 1472"/>
                <a:gd name="T74" fmla="*/ 252 w 4608"/>
                <a:gd name="T75" fmla="*/ 16 h 1472"/>
                <a:gd name="T76" fmla="*/ 160 w 4608"/>
                <a:gd name="T77" fmla="*/ 35 h 1472"/>
                <a:gd name="T78" fmla="*/ 120 w 4608"/>
                <a:gd name="T79" fmla="*/ 57 h 1472"/>
                <a:gd name="T80" fmla="*/ 57 w 4608"/>
                <a:gd name="T81" fmla="*/ 120 h 1472"/>
                <a:gd name="T82" fmla="*/ 35 w 4608"/>
                <a:gd name="T83" fmla="*/ 160 h 1472"/>
                <a:gd name="T84" fmla="*/ 16 w 4608"/>
                <a:gd name="T85" fmla="*/ 251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608" h="1472">
                  <a:moveTo>
                    <a:pt x="0" y="251"/>
                  </a:moveTo>
                  <a:lnTo>
                    <a:pt x="6" y="202"/>
                  </a:lnTo>
                  <a:cubicBezTo>
                    <a:pt x="6" y="201"/>
                    <a:pt x="6" y="201"/>
                    <a:pt x="6" y="200"/>
                  </a:cubicBezTo>
                  <a:lnTo>
                    <a:pt x="20" y="155"/>
                  </a:lnTo>
                  <a:cubicBezTo>
                    <a:pt x="20" y="155"/>
                    <a:pt x="20" y="154"/>
                    <a:pt x="20" y="154"/>
                  </a:cubicBezTo>
                  <a:lnTo>
                    <a:pt x="43" y="112"/>
                  </a:lnTo>
                  <a:cubicBezTo>
                    <a:pt x="44" y="111"/>
                    <a:pt x="44" y="111"/>
                    <a:pt x="44" y="110"/>
                  </a:cubicBezTo>
                  <a:lnTo>
                    <a:pt x="73" y="74"/>
                  </a:lnTo>
                  <a:cubicBezTo>
                    <a:pt x="74" y="74"/>
                    <a:pt x="74" y="74"/>
                    <a:pt x="74" y="73"/>
                  </a:cubicBezTo>
                  <a:lnTo>
                    <a:pt x="110" y="44"/>
                  </a:lnTo>
                  <a:cubicBezTo>
                    <a:pt x="111" y="44"/>
                    <a:pt x="111" y="44"/>
                    <a:pt x="112" y="43"/>
                  </a:cubicBezTo>
                  <a:lnTo>
                    <a:pt x="154" y="20"/>
                  </a:lnTo>
                  <a:cubicBezTo>
                    <a:pt x="154" y="20"/>
                    <a:pt x="155" y="20"/>
                    <a:pt x="155" y="20"/>
                  </a:cubicBezTo>
                  <a:lnTo>
                    <a:pt x="200" y="6"/>
                  </a:lnTo>
                  <a:cubicBezTo>
                    <a:pt x="201" y="6"/>
                    <a:pt x="201" y="6"/>
                    <a:pt x="202" y="5"/>
                  </a:cubicBezTo>
                  <a:lnTo>
                    <a:pt x="251" y="0"/>
                  </a:lnTo>
                  <a:lnTo>
                    <a:pt x="4358" y="0"/>
                  </a:lnTo>
                  <a:lnTo>
                    <a:pt x="4408" y="5"/>
                  </a:lnTo>
                  <a:cubicBezTo>
                    <a:pt x="4409" y="6"/>
                    <a:pt x="4409" y="6"/>
                    <a:pt x="4410" y="6"/>
                  </a:cubicBezTo>
                  <a:lnTo>
                    <a:pt x="4455" y="20"/>
                  </a:lnTo>
                  <a:cubicBezTo>
                    <a:pt x="4455" y="20"/>
                    <a:pt x="4456" y="20"/>
                    <a:pt x="4456" y="20"/>
                  </a:cubicBezTo>
                  <a:lnTo>
                    <a:pt x="4497" y="43"/>
                  </a:lnTo>
                  <a:cubicBezTo>
                    <a:pt x="4498" y="44"/>
                    <a:pt x="4498" y="44"/>
                    <a:pt x="4498" y="44"/>
                  </a:cubicBezTo>
                  <a:lnTo>
                    <a:pt x="4534" y="73"/>
                  </a:lnTo>
                  <a:cubicBezTo>
                    <a:pt x="4535" y="74"/>
                    <a:pt x="4535" y="74"/>
                    <a:pt x="4536" y="74"/>
                  </a:cubicBezTo>
                  <a:lnTo>
                    <a:pt x="4566" y="110"/>
                  </a:lnTo>
                  <a:cubicBezTo>
                    <a:pt x="4566" y="111"/>
                    <a:pt x="4566" y="111"/>
                    <a:pt x="4567" y="112"/>
                  </a:cubicBezTo>
                  <a:lnTo>
                    <a:pt x="4589" y="154"/>
                  </a:lnTo>
                  <a:cubicBezTo>
                    <a:pt x="4589" y="154"/>
                    <a:pt x="4589" y="155"/>
                    <a:pt x="4589" y="155"/>
                  </a:cubicBezTo>
                  <a:lnTo>
                    <a:pt x="4603" y="200"/>
                  </a:lnTo>
                  <a:cubicBezTo>
                    <a:pt x="4603" y="201"/>
                    <a:pt x="4603" y="201"/>
                    <a:pt x="4603" y="202"/>
                  </a:cubicBezTo>
                  <a:lnTo>
                    <a:pt x="4608" y="251"/>
                  </a:lnTo>
                  <a:lnTo>
                    <a:pt x="4608" y="1222"/>
                  </a:lnTo>
                  <a:lnTo>
                    <a:pt x="4603" y="1272"/>
                  </a:lnTo>
                  <a:cubicBezTo>
                    <a:pt x="4603" y="1273"/>
                    <a:pt x="4603" y="1273"/>
                    <a:pt x="4603" y="1274"/>
                  </a:cubicBezTo>
                  <a:lnTo>
                    <a:pt x="4589" y="1319"/>
                  </a:lnTo>
                  <a:cubicBezTo>
                    <a:pt x="4589" y="1319"/>
                    <a:pt x="4589" y="1320"/>
                    <a:pt x="4589" y="1320"/>
                  </a:cubicBezTo>
                  <a:lnTo>
                    <a:pt x="4567" y="1361"/>
                  </a:lnTo>
                  <a:cubicBezTo>
                    <a:pt x="4566" y="1362"/>
                    <a:pt x="4566" y="1362"/>
                    <a:pt x="4566" y="1363"/>
                  </a:cubicBezTo>
                  <a:lnTo>
                    <a:pt x="4536" y="1399"/>
                  </a:lnTo>
                  <a:cubicBezTo>
                    <a:pt x="4535" y="1399"/>
                    <a:pt x="4535" y="1399"/>
                    <a:pt x="4535" y="1400"/>
                  </a:cubicBezTo>
                  <a:lnTo>
                    <a:pt x="4499" y="1430"/>
                  </a:lnTo>
                  <a:cubicBezTo>
                    <a:pt x="4498" y="1430"/>
                    <a:pt x="4498" y="1430"/>
                    <a:pt x="4497" y="1431"/>
                  </a:cubicBezTo>
                  <a:lnTo>
                    <a:pt x="4456" y="1453"/>
                  </a:lnTo>
                  <a:cubicBezTo>
                    <a:pt x="4456" y="1453"/>
                    <a:pt x="4455" y="1453"/>
                    <a:pt x="4455" y="1453"/>
                  </a:cubicBezTo>
                  <a:lnTo>
                    <a:pt x="4410" y="1467"/>
                  </a:lnTo>
                  <a:cubicBezTo>
                    <a:pt x="4409" y="1467"/>
                    <a:pt x="4409" y="1467"/>
                    <a:pt x="4408" y="1467"/>
                  </a:cubicBezTo>
                  <a:lnTo>
                    <a:pt x="4359" y="1472"/>
                  </a:lnTo>
                  <a:lnTo>
                    <a:pt x="251" y="1472"/>
                  </a:lnTo>
                  <a:lnTo>
                    <a:pt x="202" y="1467"/>
                  </a:lnTo>
                  <a:cubicBezTo>
                    <a:pt x="201" y="1467"/>
                    <a:pt x="201" y="1467"/>
                    <a:pt x="200" y="1467"/>
                  </a:cubicBezTo>
                  <a:lnTo>
                    <a:pt x="155" y="1453"/>
                  </a:lnTo>
                  <a:cubicBezTo>
                    <a:pt x="155" y="1453"/>
                    <a:pt x="154" y="1453"/>
                    <a:pt x="154" y="1453"/>
                  </a:cubicBezTo>
                  <a:lnTo>
                    <a:pt x="112" y="1431"/>
                  </a:lnTo>
                  <a:cubicBezTo>
                    <a:pt x="111" y="1430"/>
                    <a:pt x="111" y="1430"/>
                    <a:pt x="110" y="1430"/>
                  </a:cubicBezTo>
                  <a:lnTo>
                    <a:pt x="74" y="1400"/>
                  </a:lnTo>
                  <a:cubicBezTo>
                    <a:pt x="74" y="1399"/>
                    <a:pt x="74" y="1399"/>
                    <a:pt x="73" y="1398"/>
                  </a:cubicBezTo>
                  <a:lnTo>
                    <a:pt x="44" y="1362"/>
                  </a:lnTo>
                  <a:cubicBezTo>
                    <a:pt x="44" y="1362"/>
                    <a:pt x="44" y="1362"/>
                    <a:pt x="43" y="1361"/>
                  </a:cubicBezTo>
                  <a:lnTo>
                    <a:pt x="20" y="1320"/>
                  </a:lnTo>
                  <a:cubicBezTo>
                    <a:pt x="20" y="1320"/>
                    <a:pt x="20" y="1319"/>
                    <a:pt x="20" y="1319"/>
                  </a:cubicBezTo>
                  <a:lnTo>
                    <a:pt x="6" y="1274"/>
                  </a:lnTo>
                  <a:cubicBezTo>
                    <a:pt x="6" y="1273"/>
                    <a:pt x="6" y="1273"/>
                    <a:pt x="6" y="1272"/>
                  </a:cubicBezTo>
                  <a:lnTo>
                    <a:pt x="1" y="1223"/>
                  </a:lnTo>
                  <a:lnTo>
                    <a:pt x="0" y="251"/>
                  </a:lnTo>
                  <a:close/>
                  <a:moveTo>
                    <a:pt x="16" y="1222"/>
                  </a:moveTo>
                  <a:lnTo>
                    <a:pt x="21" y="1271"/>
                  </a:lnTo>
                  <a:lnTo>
                    <a:pt x="21" y="1269"/>
                  </a:lnTo>
                  <a:lnTo>
                    <a:pt x="35" y="1314"/>
                  </a:lnTo>
                  <a:lnTo>
                    <a:pt x="34" y="1313"/>
                  </a:lnTo>
                  <a:lnTo>
                    <a:pt x="57" y="1354"/>
                  </a:lnTo>
                  <a:lnTo>
                    <a:pt x="57" y="1352"/>
                  </a:lnTo>
                  <a:lnTo>
                    <a:pt x="86" y="1388"/>
                  </a:lnTo>
                  <a:lnTo>
                    <a:pt x="85" y="1387"/>
                  </a:lnTo>
                  <a:lnTo>
                    <a:pt x="121" y="1417"/>
                  </a:lnTo>
                  <a:lnTo>
                    <a:pt x="119" y="1416"/>
                  </a:lnTo>
                  <a:lnTo>
                    <a:pt x="161" y="1438"/>
                  </a:lnTo>
                  <a:lnTo>
                    <a:pt x="160" y="1438"/>
                  </a:lnTo>
                  <a:lnTo>
                    <a:pt x="205" y="1452"/>
                  </a:lnTo>
                  <a:lnTo>
                    <a:pt x="203" y="1451"/>
                  </a:lnTo>
                  <a:lnTo>
                    <a:pt x="251" y="1456"/>
                  </a:lnTo>
                  <a:lnTo>
                    <a:pt x="4358" y="1456"/>
                  </a:lnTo>
                  <a:lnTo>
                    <a:pt x="4407" y="1451"/>
                  </a:lnTo>
                  <a:lnTo>
                    <a:pt x="4405" y="1452"/>
                  </a:lnTo>
                  <a:lnTo>
                    <a:pt x="4450" y="1438"/>
                  </a:lnTo>
                  <a:lnTo>
                    <a:pt x="4449" y="1438"/>
                  </a:lnTo>
                  <a:lnTo>
                    <a:pt x="4490" y="1416"/>
                  </a:lnTo>
                  <a:lnTo>
                    <a:pt x="4488" y="1417"/>
                  </a:lnTo>
                  <a:lnTo>
                    <a:pt x="4524" y="1387"/>
                  </a:lnTo>
                  <a:lnTo>
                    <a:pt x="4523" y="1388"/>
                  </a:lnTo>
                  <a:lnTo>
                    <a:pt x="4553" y="1352"/>
                  </a:lnTo>
                  <a:lnTo>
                    <a:pt x="4552" y="1354"/>
                  </a:lnTo>
                  <a:lnTo>
                    <a:pt x="4574" y="1313"/>
                  </a:lnTo>
                  <a:lnTo>
                    <a:pt x="4574" y="1314"/>
                  </a:lnTo>
                  <a:lnTo>
                    <a:pt x="4588" y="1269"/>
                  </a:lnTo>
                  <a:lnTo>
                    <a:pt x="4588" y="1271"/>
                  </a:lnTo>
                  <a:lnTo>
                    <a:pt x="4592" y="1222"/>
                  </a:lnTo>
                  <a:lnTo>
                    <a:pt x="4592" y="252"/>
                  </a:lnTo>
                  <a:lnTo>
                    <a:pt x="4588" y="203"/>
                  </a:lnTo>
                  <a:lnTo>
                    <a:pt x="4588" y="205"/>
                  </a:lnTo>
                  <a:lnTo>
                    <a:pt x="4574" y="160"/>
                  </a:lnTo>
                  <a:lnTo>
                    <a:pt x="4574" y="161"/>
                  </a:lnTo>
                  <a:lnTo>
                    <a:pt x="4552" y="119"/>
                  </a:lnTo>
                  <a:lnTo>
                    <a:pt x="4553" y="121"/>
                  </a:lnTo>
                  <a:lnTo>
                    <a:pt x="4523" y="85"/>
                  </a:lnTo>
                  <a:lnTo>
                    <a:pt x="4524" y="86"/>
                  </a:lnTo>
                  <a:lnTo>
                    <a:pt x="4488" y="57"/>
                  </a:lnTo>
                  <a:lnTo>
                    <a:pt x="4490" y="57"/>
                  </a:lnTo>
                  <a:lnTo>
                    <a:pt x="4449" y="34"/>
                  </a:lnTo>
                  <a:lnTo>
                    <a:pt x="4450" y="35"/>
                  </a:lnTo>
                  <a:lnTo>
                    <a:pt x="4405" y="21"/>
                  </a:lnTo>
                  <a:lnTo>
                    <a:pt x="4407" y="21"/>
                  </a:lnTo>
                  <a:lnTo>
                    <a:pt x="4358" y="16"/>
                  </a:lnTo>
                  <a:lnTo>
                    <a:pt x="252" y="16"/>
                  </a:lnTo>
                  <a:lnTo>
                    <a:pt x="203" y="21"/>
                  </a:lnTo>
                  <a:lnTo>
                    <a:pt x="205" y="21"/>
                  </a:lnTo>
                  <a:lnTo>
                    <a:pt x="160" y="35"/>
                  </a:lnTo>
                  <a:lnTo>
                    <a:pt x="161" y="34"/>
                  </a:lnTo>
                  <a:lnTo>
                    <a:pt x="119" y="57"/>
                  </a:lnTo>
                  <a:lnTo>
                    <a:pt x="120" y="57"/>
                  </a:lnTo>
                  <a:lnTo>
                    <a:pt x="84" y="86"/>
                  </a:lnTo>
                  <a:lnTo>
                    <a:pt x="86" y="84"/>
                  </a:lnTo>
                  <a:lnTo>
                    <a:pt x="57" y="120"/>
                  </a:lnTo>
                  <a:lnTo>
                    <a:pt x="57" y="119"/>
                  </a:lnTo>
                  <a:lnTo>
                    <a:pt x="34" y="161"/>
                  </a:lnTo>
                  <a:lnTo>
                    <a:pt x="35" y="160"/>
                  </a:lnTo>
                  <a:lnTo>
                    <a:pt x="21" y="205"/>
                  </a:lnTo>
                  <a:lnTo>
                    <a:pt x="21" y="203"/>
                  </a:lnTo>
                  <a:lnTo>
                    <a:pt x="16" y="251"/>
                  </a:lnTo>
                  <a:lnTo>
                    <a:pt x="16" y="1222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10" name="Rectangle 13">
              <a:extLst>
                <a:ext uri="{FF2B5EF4-FFF2-40B4-BE49-F238E27FC236}">
                  <a16:creationId xmlns:a16="http://schemas.microsoft.com/office/drawing/2014/main" id="{7D26EA49-1D5E-4301-B528-50FF9F465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3552"/>
              <a:ext cx="30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Humans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9618A517-CFDA-434A-B97A-7580A1A6D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7" y="3552"/>
              <a:ext cx="80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>
                  <a:solidFill>
                    <a:srgbClr val="000000"/>
                  </a:solidFill>
                </a:rPr>
                <a:t>with Attached Devices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943E5430-F042-4476-8D40-3FF918267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" y="3384"/>
              <a:ext cx="1368" cy="433"/>
            </a:xfrm>
            <a:custGeom>
              <a:avLst/>
              <a:gdLst>
                <a:gd name="T0" fmla="*/ 0 w 4592"/>
                <a:gd name="T1" fmla="*/ 243 h 1456"/>
                <a:gd name="T2" fmla="*/ 243 w 4592"/>
                <a:gd name="T3" fmla="*/ 0 h 1456"/>
                <a:gd name="T4" fmla="*/ 243 w 4592"/>
                <a:gd name="T5" fmla="*/ 0 h 1456"/>
                <a:gd name="T6" fmla="*/ 243 w 4592"/>
                <a:gd name="T7" fmla="*/ 0 h 1456"/>
                <a:gd name="T8" fmla="*/ 4350 w 4592"/>
                <a:gd name="T9" fmla="*/ 0 h 1456"/>
                <a:gd name="T10" fmla="*/ 4350 w 4592"/>
                <a:gd name="T11" fmla="*/ 0 h 1456"/>
                <a:gd name="T12" fmla="*/ 4592 w 4592"/>
                <a:gd name="T13" fmla="*/ 243 h 1456"/>
                <a:gd name="T14" fmla="*/ 4592 w 4592"/>
                <a:gd name="T15" fmla="*/ 243 h 1456"/>
                <a:gd name="T16" fmla="*/ 4592 w 4592"/>
                <a:gd name="T17" fmla="*/ 243 h 1456"/>
                <a:gd name="T18" fmla="*/ 4592 w 4592"/>
                <a:gd name="T19" fmla="*/ 1214 h 1456"/>
                <a:gd name="T20" fmla="*/ 4592 w 4592"/>
                <a:gd name="T21" fmla="*/ 1214 h 1456"/>
                <a:gd name="T22" fmla="*/ 4350 w 4592"/>
                <a:gd name="T23" fmla="*/ 1456 h 1456"/>
                <a:gd name="T24" fmla="*/ 4350 w 4592"/>
                <a:gd name="T25" fmla="*/ 1456 h 1456"/>
                <a:gd name="T26" fmla="*/ 4350 w 4592"/>
                <a:gd name="T27" fmla="*/ 1456 h 1456"/>
                <a:gd name="T28" fmla="*/ 243 w 4592"/>
                <a:gd name="T29" fmla="*/ 1456 h 1456"/>
                <a:gd name="T30" fmla="*/ 243 w 4592"/>
                <a:gd name="T31" fmla="*/ 1456 h 1456"/>
                <a:gd name="T32" fmla="*/ 0 w 4592"/>
                <a:gd name="T33" fmla="*/ 1214 h 1456"/>
                <a:gd name="T34" fmla="*/ 0 w 4592"/>
                <a:gd name="T35" fmla="*/ 1214 h 1456"/>
                <a:gd name="T36" fmla="*/ 0 w 4592"/>
                <a:gd name="T37" fmla="*/ 243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92" h="1456">
                  <a:moveTo>
                    <a:pt x="0" y="243"/>
                  </a:moveTo>
                  <a:cubicBezTo>
                    <a:pt x="0" y="109"/>
                    <a:pt x="109" y="0"/>
                    <a:pt x="243" y="0"/>
                  </a:cubicBezTo>
                  <a:cubicBezTo>
                    <a:pt x="243" y="0"/>
                    <a:pt x="243" y="0"/>
                    <a:pt x="243" y="0"/>
                  </a:cubicBezTo>
                  <a:lnTo>
                    <a:pt x="243" y="0"/>
                  </a:lnTo>
                  <a:lnTo>
                    <a:pt x="4350" y="0"/>
                  </a:lnTo>
                  <a:lnTo>
                    <a:pt x="4350" y="0"/>
                  </a:lnTo>
                  <a:cubicBezTo>
                    <a:pt x="4484" y="0"/>
                    <a:pt x="4592" y="109"/>
                    <a:pt x="4592" y="243"/>
                  </a:cubicBezTo>
                  <a:cubicBezTo>
                    <a:pt x="4592" y="243"/>
                    <a:pt x="4592" y="243"/>
                    <a:pt x="4592" y="243"/>
                  </a:cubicBezTo>
                  <a:lnTo>
                    <a:pt x="4592" y="243"/>
                  </a:lnTo>
                  <a:lnTo>
                    <a:pt x="4592" y="1214"/>
                  </a:lnTo>
                  <a:lnTo>
                    <a:pt x="4592" y="1214"/>
                  </a:lnTo>
                  <a:cubicBezTo>
                    <a:pt x="4592" y="1348"/>
                    <a:pt x="4484" y="1456"/>
                    <a:pt x="4350" y="1456"/>
                  </a:cubicBezTo>
                  <a:cubicBezTo>
                    <a:pt x="4350" y="1456"/>
                    <a:pt x="4350" y="1456"/>
                    <a:pt x="4350" y="1456"/>
                  </a:cubicBezTo>
                  <a:lnTo>
                    <a:pt x="4350" y="1456"/>
                  </a:lnTo>
                  <a:lnTo>
                    <a:pt x="243" y="1456"/>
                  </a:lnTo>
                  <a:lnTo>
                    <a:pt x="243" y="1456"/>
                  </a:lnTo>
                  <a:cubicBezTo>
                    <a:pt x="109" y="1456"/>
                    <a:pt x="0" y="1348"/>
                    <a:pt x="0" y="1214"/>
                  </a:cubicBezTo>
                  <a:cubicBezTo>
                    <a:pt x="0" y="1214"/>
                    <a:pt x="0" y="1214"/>
                    <a:pt x="0" y="1214"/>
                  </a:cubicBezTo>
                  <a:lnTo>
                    <a:pt x="0" y="243"/>
                  </a:lnTo>
                  <a:close/>
                </a:path>
              </a:pathLst>
            </a:custGeom>
            <a:solidFill>
              <a:srgbClr val="EBF1DE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D5272FFA-4B2D-415F-B191-FF1F5E057F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82" y="3381"/>
              <a:ext cx="1372" cy="439"/>
            </a:xfrm>
            <a:custGeom>
              <a:avLst/>
              <a:gdLst>
                <a:gd name="T0" fmla="*/ 6 w 4608"/>
                <a:gd name="T1" fmla="*/ 200 h 1472"/>
                <a:gd name="T2" fmla="*/ 43 w 4608"/>
                <a:gd name="T3" fmla="*/ 112 h 1472"/>
                <a:gd name="T4" fmla="*/ 74 w 4608"/>
                <a:gd name="T5" fmla="*/ 73 h 1472"/>
                <a:gd name="T6" fmla="*/ 154 w 4608"/>
                <a:gd name="T7" fmla="*/ 20 h 1472"/>
                <a:gd name="T8" fmla="*/ 202 w 4608"/>
                <a:gd name="T9" fmla="*/ 5 h 1472"/>
                <a:gd name="T10" fmla="*/ 4408 w 4608"/>
                <a:gd name="T11" fmla="*/ 5 h 1472"/>
                <a:gd name="T12" fmla="*/ 4456 w 4608"/>
                <a:gd name="T13" fmla="*/ 20 h 1472"/>
                <a:gd name="T14" fmla="*/ 4534 w 4608"/>
                <a:gd name="T15" fmla="*/ 73 h 1472"/>
                <a:gd name="T16" fmla="*/ 4567 w 4608"/>
                <a:gd name="T17" fmla="*/ 112 h 1472"/>
                <a:gd name="T18" fmla="*/ 4603 w 4608"/>
                <a:gd name="T19" fmla="*/ 200 h 1472"/>
                <a:gd name="T20" fmla="*/ 4608 w 4608"/>
                <a:gd name="T21" fmla="*/ 1222 h 1472"/>
                <a:gd name="T22" fmla="*/ 4589 w 4608"/>
                <a:gd name="T23" fmla="*/ 1319 h 1472"/>
                <a:gd name="T24" fmla="*/ 4566 w 4608"/>
                <a:gd name="T25" fmla="*/ 1363 h 1472"/>
                <a:gd name="T26" fmla="*/ 4499 w 4608"/>
                <a:gd name="T27" fmla="*/ 1430 h 1472"/>
                <a:gd name="T28" fmla="*/ 4455 w 4608"/>
                <a:gd name="T29" fmla="*/ 1453 h 1472"/>
                <a:gd name="T30" fmla="*/ 4359 w 4608"/>
                <a:gd name="T31" fmla="*/ 1472 h 1472"/>
                <a:gd name="T32" fmla="*/ 200 w 4608"/>
                <a:gd name="T33" fmla="*/ 1467 h 1472"/>
                <a:gd name="T34" fmla="*/ 112 w 4608"/>
                <a:gd name="T35" fmla="*/ 1431 h 1472"/>
                <a:gd name="T36" fmla="*/ 73 w 4608"/>
                <a:gd name="T37" fmla="*/ 1398 h 1472"/>
                <a:gd name="T38" fmla="*/ 20 w 4608"/>
                <a:gd name="T39" fmla="*/ 1320 h 1472"/>
                <a:gd name="T40" fmla="*/ 5 w 4608"/>
                <a:gd name="T41" fmla="*/ 1272 h 1472"/>
                <a:gd name="T42" fmla="*/ 16 w 4608"/>
                <a:gd name="T43" fmla="*/ 1222 h 1472"/>
                <a:gd name="T44" fmla="*/ 35 w 4608"/>
                <a:gd name="T45" fmla="*/ 1314 h 1472"/>
                <a:gd name="T46" fmla="*/ 57 w 4608"/>
                <a:gd name="T47" fmla="*/ 1352 h 1472"/>
                <a:gd name="T48" fmla="*/ 121 w 4608"/>
                <a:gd name="T49" fmla="*/ 1417 h 1472"/>
                <a:gd name="T50" fmla="*/ 160 w 4608"/>
                <a:gd name="T51" fmla="*/ 1438 h 1472"/>
                <a:gd name="T52" fmla="*/ 251 w 4608"/>
                <a:gd name="T53" fmla="*/ 1456 h 1472"/>
                <a:gd name="T54" fmla="*/ 4405 w 4608"/>
                <a:gd name="T55" fmla="*/ 1452 h 1472"/>
                <a:gd name="T56" fmla="*/ 4490 w 4608"/>
                <a:gd name="T57" fmla="*/ 1416 h 1472"/>
                <a:gd name="T58" fmla="*/ 4523 w 4608"/>
                <a:gd name="T59" fmla="*/ 1388 h 1472"/>
                <a:gd name="T60" fmla="*/ 4574 w 4608"/>
                <a:gd name="T61" fmla="*/ 1313 h 1472"/>
                <a:gd name="T62" fmla="*/ 4587 w 4608"/>
                <a:gd name="T63" fmla="*/ 1271 h 1472"/>
                <a:gd name="T64" fmla="*/ 4587 w 4608"/>
                <a:gd name="T65" fmla="*/ 203 h 1472"/>
                <a:gd name="T66" fmla="*/ 4574 w 4608"/>
                <a:gd name="T67" fmla="*/ 161 h 1472"/>
                <a:gd name="T68" fmla="*/ 4523 w 4608"/>
                <a:gd name="T69" fmla="*/ 85 h 1472"/>
                <a:gd name="T70" fmla="*/ 4490 w 4608"/>
                <a:gd name="T71" fmla="*/ 57 h 1472"/>
                <a:gd name="T72" fmla="*/ 4405 w 4608"/>
                <a:gd name="T73" fmla="*/ 21 h 1472"/>
                <a:gd name="T74" fmla="*/ 252 w 4608"/>
                <a:gd name="T75" fmla="*/ 16 h 1472"/>
                <a:gd name="T76" fmla="*/ 160 w 4608"/>
                <a:gd name="T77" fmla="*/ 35 h 1472"/>
                <a:gd name="T78" fmla="*/ 120 w 4608"/>
                <a:gd name="T79" fmla="*/ 57 h 1472"/>
                <a:gd name="T80" fmla="*/ 57 w 4608"/>
                <a:gd name="T81" fmla="*/ 120 h 1472"/>
                <a:gd name="T82" fmla="*/ 35 w 4608"/>
                <a:gd name="T83" fmla="*/ 160 h 1472"/>
                <a:gd name="T84" fmla="*/ 16 w 4608"/>
                <a:gd name="T85" fmla="*/ 251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608" h="1472">
                  <a:moveTo>
                    <a:pt x="0" y="251"/>
                  </a:moveTo>
                  <a:lnTo>
                    <a:pt x="5" y="202"/>
                  </a:lnTo>
                  <a:cubicBezTo>
                    <a:pt x="6" y="201"/>
                    <a:pt x="6" y="201"/>
                    <a:pt x="6" y="200"/>
                  </a:cubicBezTo>
                  <a:lnTo>
                    <a:pt x="20" y="155"/>
                  </a:lnTo>
                  <a:cubicBezTo>
                    <a:pt x="20" y="155"/>
                    <a:pt x="20" y="154"/>
                    <a:pt x="20" y="154"/>
                  </a:cubicBezTo>
                  <a:lnTo>
                    <a:pt x="43" y="112"/>
                  </a:lnTo>
                  <a:cubicBezTo>
                    <a:pt x="44" y="111"/>
                    <a:pt x="44" y="111"/>
                    <a:pt x="44" y="110"/>
                  </a:cubicBezTo>
                  <a:lnTo>
                    <a:pt x="73" y="74"/>
                  </a:lnTo>
                  <a:cubicBezTo>
                    <a:pt x="74" y="74"/>
                    <a:pt x="74" y="74"/>
                    <a:pt x="74" y="73"/>
                  </a:cubicBezTo>
                  <a:lnTo>
                    <a:pt x="110" y="44"/>
                  </a:lnTo>
                  <a:cubicBezTo>
                    <a:pt x="111" y="44"/>
                    <a:pt x="111" y="44"/>
                    <a:pt x="112" y="43"/>
                  </a:cubicBezTo>
                  <a:lnTo>
                    <a:pt x="154" y="20"/>
                  </a:lnTo>
                  <a:cubicBezTo>
                    <a:pt x="154" y="20"/>
                    <a:pt x="155" y="20"/>
                    <a:pt x="155" y="20"/>
                  </a:cubicBezTo>
                  <a:lnTo>
                    <a:pt x="200" y="6"/>
                  </a:lnTo>
                  <a:cubicBezTo>
                    <a:pt x="201" y="6"/>
                    <a:pt x="201" y="6"/>
                    <a:pt x="202" y="5"/>
                  </a:cubicBezTo>
                  <a:lnTo>
                    <a:pt x="251" y="0"/>
                  </a:lnTo>
                  <a:lnTo>
                    <a:pt x="4358" y="0"/>
                  </a:lnTo>
                  <a:lnTo>
                    <a:pt x="4408" y="5"/>
                  </a:lnTo>
                  <a:cubicBezTo>
                    <a:pt x="4409" y="6"/>
                    <a:pt x="4409" y="6"/>
                    <a:pt x="4410" y="6"/>
                  </a:cubicBezTo>
                  <a:lnTo>
                    <a:pt x="4455" y="20"/>
                  </a:lnTo>
                  <a:cubicBezTo>
                    <a:pt x="4455" y="20"/>
                    <a:pt x="4456" y="20"/>
                    <a:pt x="4456" y="20"/>
                  </a:cubicBezTo>
                  <a:lnTo>
                    <a:pt x="4497" y="43"/>
                  </a:lnTo>
                  <a:cubicBezTo>
                    <a:pt x="4498" y="44"/>
                    <a:pt x="4498" y="44"/>
                    <a:pt x="4498" y="44"/>
                  </a:cubicBezTo>
                  <a:lnTo>
                    <a:pt x="4534" y="73"/>
                  </a:lnTo>
                  <a:cubicBezTo>
                    <a:pt x="4535" y="74"/>
                    <a:pt x="4535" y="74"/>
                    <a:pt x="4536" y="74"/>
                  </a:cubicBezTo>
                  <a:lnTo>
                    <a:pt x="4566" y="110"/>
                  </a:lnTo>
                  <a:cubicBezTo>
                    <a:pt x="4566" y="111"/>
                    <a:pt x="4566" y="111"/>
                    <a:pt x="4567" y="112"/>
                  </a:cubicBezTo>
                  <a:lnTo>
                    <a:pt x="4589" y="154"/>
                  </a:lnTo>
                  <a:cubicBezTo>
                    <a:pt x="4589" y="154"/>
                    <a:pt x="4589" y="155"/>
                    <a:pt x="4589" y="155"/>
                  </a:cubicBezTo>
                  <a:lnTo>
                    <a:pt x="4603" y="200"/>
                  </a:lnTo>
                  <a:cubicBezTo>
                    <a:pt x="4603" y="201"/>
                    <a:pt x="4603" y="201"/>
                    <a:pt x="4603" y="202"/>
                  </a:cubicBezTo>
                  <a:lnTo>
                    <a:pt x="4608" y="251"/>
                  </a:lnTo>
                  <a:lnTo>
                    <a:pt x="4608" y="1222"/>
                  </a:lnTo>
                  <a:lnTo>
                    <a:pt x="4603" y="1272"/>
                  </a:lnTo>
                  <a:cubicBezTo>
                    <a:pt x="4603" y="1273"/>
                    <a:pt x="4603" y="1273"/>
                    <a:pt x="4603" y="1274"/>
                  </a:cubicBezTo>
                  <a:lnTo>
                    <a:pt x="4589" y="1319"/>
                  </a:lnTo>
                  <a:cubicBezTo>
                    <a:pt x="4589" y="1319"/>
                    <a:pt x="4589" y="1320"/>
                    <a:pt x="4589" y="1320"/>
                  </a:cubicBezTo>
                  <a:lnTo>
                    <a:pt x="4567" y="1361"/>
                  </a:lnTo>
                  <a:cubicBezTo>
                    <a:pt x="4566" y="1362"/>
                    <a:pt x="4566" y="1362"/>
                    <a:pt x="4566" y="1363"/>
                  </a:cubicBezTo>
                  <a:lnTo>
                    <a:pt x="4536" y="1399"/>
                  </a:lnTo>
                  <a:cubicBezTo>
                    <a:pt x="4535" y="1399"/>
                    <a:pt x="4535" y="1399"/>
                    <a:pt x="4535" y="1400"/>
                  </a:cubicBezTo>
                  <a:lnTo>
                    <a:pt x="4499" y="1430"/>
                  </a:lnTo>
                  <a:cubicBezTo>
                    <a:pt x="4498" y="1430"/>
                    <a:pt x="4498" y="1430"/>
                    <a:pt x="4497" y="1431"/>
                  </a:cubicBezTo>
                  <a:lnTo>
                    <a:pt x="4456" y="1453"/>
                  </a:lnTo>
                  <a:cubicBezTo>
                    <a:pt x="4456" y="1453"/>
                    <a:pt x="4455" y="1453"/>
                    <a:pt x="4455" y="1453"/>
                  </a:cubicBezTo>
                  <a:lnTo>
                    <a:pt x="4410" y="1467"/>
                  </a:lnTo>
                  <a:cubicBezTo>
                    <a:pt x="4409" y="1467"/>
                    <a:pt x="4409" y="1467"/>
                    <a:pt x="4408" y="1467"/>
                  </a:cubicBezTo>
                  <a:lnTo>
                    <a:pt x="4359" y="1472"/>
                  </a:lnTo>
                  <a:lnTo>
                    <a:pt x="251" y="1472"/>
                  </a:lnTo>
                  <a:lnTo>
                    <a:pt x="202" y="1467"/>
                  </a:lnTo>
                  <a:cubicBezTo>
                    <a:pt x="201" y="1467"/>
                    <a:pt x="201" y="1467"/>
                    <a:pt x="200" y="1467"/>
                  </a:cubicBezTo>
                  <a:lnTo>
                    <a:pt x="155" y="1453"/>
                  </a:lnTo>
                  <a:cubicBezTo>
                    <a:pt x="155" y="1453"/>
                    <a:pt x="154" y="1453"/>
                    <a:pt x="154" y="1453"/>
                  </a:cubicBezTo>
                  <a:lnTo>
                    <a:pt x="112" y="1431"/>
                  </a:lnTo>
                  <a:cubicBezTo>
                    <a:pt x="111" y="1430"/>
                    <a:pt x="111" y="1430"/>
                    <a:pt x="110" y="1430"/>
                  </a:cubicBezTo>
                  <a:lnTo>
                    <a:pt x="74" y="1400"/>
                  </a:lnTo>
                  <a:cubicBezTo>
                    <a:pt x="74" y="1399"/>
                    <a:pt x="74" y="1399"/>
                    <a:pt x="73" y="1398"/>
                  </a:cubicBezTo>
                  <a:lnTo>
                    <a:pt x="44" y="1362"/>
                  </a:lnTo>
                  <a:cubicBezTo>
                    <a:pt x="44" y="1362"/>
                    <a:pt x="44" y="1362"/>
                    <a:pt x="43" y="1361"/>
                  </a:cubicBezTo>
                  <a:lnTo>
                    <a:pt x="20" y="1320"/>
                  </a:lnTo>
                  <a:cubicBezTo>
                    <a:pt x="20" y="1320"/>
                    <a:pt x="20" y="1319"/>
                    <a:pt x="20" y="1319"/>
                  </a:cubicBezTo>
                  <a:lnTo>
                    <a:pt x="6" y="1274"/>
                  </a:lnTo>
                  <a:cubicBezTo>
                    <a:pt x="6" y="1273"/>
                    <a:pt x="6" y="1273"/>
                    <a:pt x="5" y="1272"/>
                  </a:cubicBezTo>
                  <a:lnTo>
                    <a:pt x="0" y="1223"/>
                  </a:lnTo>
                  <a:lnTo>
                    <a:pt x="0" y="251"/>
                  </a:lnTo>
                  <a:close/>
                  <a:moveTo>
                    <a:pt x="16" y="1222"/>
                  </a:moveTo>
                  <a:lnTo>
                    <a:pt x="21" y="1271"/>
                  </a:lnTo>
                  <a:lnTo>
                    <a:pt x="21" y="1269"/>
                  </a:lnTo>
                  <a:lnTo>
                    <a:pt x="35" y="1314"/>
                  </a:lnTo>
                  <a:lnTo>
                    <a:pt x="34" y="1313"/>
                  </a:lnTo>
                  <a:lnTo>
                    <a:pt x="57" y="1354"/>
                  </a:lnTo>
                  <a:lnTo>
                    <a:pt x="57" y="1352"/>
                  </a:lnTo>
                  <a:lnTo>
                    <a:pt x="86" y="1388"/>
                  </a:lnTo>
                  <a:lnTo>
                    <a:pt x="85" y="1387"/>
                  </a:lnTo>
                  <a:lnTo>
                    <a:pt x="121" y="1417"/>
                  </a:lnTo>
                  <a:lnTo>
                    <a:pt x="119" y="1416"/>
                  </a:lnTo>
                  <a:lnTo>
                    <a:pt x="161" y="1438"/>
                  </a:lnTo>
                  <a:lnTo>
                    <a:pt x="160" y="1438"/>
                  </a:lnTo>
                  <a:lnTo>
                    <a:pt x="205" y="1452"/>
                  </a:lnTo>
                  <a:lnTo>
                    <a:pt x="203" y="1451"/>
                  </a:lnTo>
                  <a:lnTo>
                    <a:pt x="251" y="1456"/>
                  </a:lnTo>
                  <a:lnTo>
                    <a:pt x="4358" y="1456"/>
                  </a:lnTo>
                  <a:lnTo>
                    <a:pt x="4407" y="1451"/>
                  </a:lnTo>
                  <a:lnTo>
                    <a:pt x="4405" y="1452"/>
                  </a:lnTo>
                  <a:lnTo>
                    <a:pt x="4450" y="1438"/>
                  </a:lnTo>
                  <a:lnTo>
                    <a:pt x="4449" y="1438"/>
                  </a:lnTo>
                  <a:lnTo>
                    <a:pt x="4490" y="1416"/>
                  </a:lnTo>
                  <a:lnTo>
                    <a:pt x="4488" y="1417"/>
                  </a:lnTo>
                  <a:lnTo>
                    <a:pt x="4524" y="1387"/>
                  </a:lnTo>
                  <a:lnTo>
                    <a:pt x="4523" y="1388"/>
                  </a:lnTo>
                  <a:lnTo>
                    <a:pt x="4553" y="1352"/>
                  </a:lnTo>
                  <a:lnTo>
                    <a:pt x="4552" y="1354"/>
                  </a:lnTo>
                  <a:lnTo>
                    <a:pt x="4574" y="1313"/>
                  </a:lnTo>
                  <a:lnTo>
                    <a:pt x="4574" y="1314"/>
                  </a:lnTo>
                  <a:lnTo>
                    <a:pt x="4588" y="1269"/>
                  </a:lnTo>
                  <a:lnTo>
                    <a:pt x="4587" y="1271"/>
                  </a:lnTo>
                  <a:lnTo>
                    <a:pt x="4592" y="1222"/>
                  </a:lnTo>
                  <a:lnTo>
                    <a:pt x="4592" y="252"/>
                  </a:lnTo>
                  <a:lnTo>
                    <a:pt x="4587" y="203"/>
                  </a:lnTo>
                  <a:lnTo>
                    <a:pt x="4588" y="205"/>
                  </a:lnTo>
                  <a:lnTo>
                    <a:pt x="4574" y="160"/>
                  </a:lnTo>
                  <a:lnTo>
                    <a:pt x="4574" y="161"/>
                  </a:lnTo>
                  <a:lnTo>
                    <a:pt x="4552" y="119"/>
                  </a:lnTo>
                  <a:lnTo>
                    <a:pt x="4553" y="121"/>
                  </a:lnTo>
                  <a:lnTo>
                    <a:pt x="4523" y="85"/>
                  </a:lnTo>
                  <a:lnTo>
                    <a:pt x="4524" y="86"/>
                  </a:lnTo>
                  <a:lnTo>
                    <a:pt x="4488" y="57"/>
                  </a:lnTo>
                  <a:lnTo>
                    <a:pt x="4490" y="57"/>
                  </a:lnTo>
                  <a:lnTo>
                    <a:pt x="4449" y="34"/>
                  </a:lnTo>
                  <a:lnTo>
                    <a:pt x="4450" y="35"/>
                  </a:lnTo>
                  <a:lnTo>
                    <a:pt x="4405" y="21"/>
                  </a:lnTo>
                  <a:lnTo>
                    <a:pt x="4407" y="21"/>
                  </a:lnTo>
                  <a:lnTo>
                    <a:pt x="4358" y="16"/>
                  </a:lnTo>
                  <a:lnTo>
                    <a:pt x="252" y="16"/>
                  </a:lnTo>
                  <a:lnTo>
                    <a:pt x="203" y="21"/>
                  </a:lnTo>
                  <a:lnTo>
                    <a:pt x="205" y="21"/>
                  </a:lnTo>
                  <a:lnTo>
                    <a:pt x="160" y="35"/>
                  </a:lnTo>
                  <a:lnTo>
                    <a:pt x="161" y="34"/>
                  </a:lnTo>
                  <a:lnTo>
                    <a:pt x="119" y="57"/>
                  </a:lnTo>
                  <a:lnTo>
                    <a:pt x="120" y="57"/>
                  </a:lnTo>
                  <a:lnTo>
                    <a:pt x="84" y="86"/>
                  </a:lnTo>
                  <a:lnTo>
                    <a:pt x="86" y="84"/>
                  </a:lnTo>
                  <a:lnTo>
                    <a:pt x="57" y="120"/>
                  </a:lnTo>
                  <a:lnTo>
                    <a:pt x="57" y="119"/>
                  </a:lnTo>
                  <a:lnTo>
                    <a:pt x="34" y="161"/>
                  </a:lnTo>
                  <a:lnTo>
                    <a:pt x="35" y="160"/>
                  </a:lnTo>
                  <a:lnTo>
                    <a:pt x="21" y="205"/>
                  </a:lnTo>
                  <a:lnTo>
                    <a:pt x="21" y="203"/>
                  </a:lnTo>
                  <a:lnTo>
                    <a:pt x="16" y="251"/>
                  </a:lnTo>
                  <a:lnTo>
                    <a:pt x="16" y="1222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14" name="Rectangle 17">
              <a:extLst>
                <a:ext uri="{FF2B5EF4-FFF2-40B4-BE49-F238E27FC236}">
                  <a16:creationId xmlns:a16="http://schemas.microsoft.com/office/drawing/2014/main" id="{B89D2AD7-6242-483F-97AD-7AFBA9341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" y="3499"/>
              <a:ext cx="279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Objects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5" name="Rectangle 18">
              <a:extLst>
                <a:ext uri="{FF2B5EF4-FFF2-40B4-BE49-F238E27FC236}">
                  <a16:creationId xmlns:a16="http://schemas.microsoft.com/office/drawing/2014/main" id="{D5CC6976-F912-416D-9F65-EC1E3DFAD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3499"/>
              <a:ext cx="91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>
                  <a:solidFill>
                    <a:srgbClr val="000000"/>
                  </a:solidFill>
                </a:rPr>
                <a:t>(Remote Monitoring and 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6" name="Rectangle 19">
              <a:extLst>
                <a:ext uri="{FF2B5EF4-FFF2-40B4-BE49-F238E27FC236}">
                  <a16:creationId xmlns:a16="http://schemas.microsoft.com/office/drawing/2014/main" id="{467E8FE1-3568-43E1-ABDE-1559FAE5B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8" y="3604"/>
              <a:ext cx="1122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>
                  <a:solidFill>
                    <a:srgbClr val="000000"/>
                  </a:solidFill>
                </a:rPr>
                <a:t>Information Devices, Contents)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11FCB856-8D9C-4597-AA49-9B517EFF0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2807"/>
              <a:ext cx="1368" cy="434"/>
            </a:xfrm>
            <a:custGeom>
              <a:avLst/>
              <a:gdLst>
                <a:gd name="T0" fmla="*/ 0 w 4592"/>
                <a:gd name="T1" fmla="*/ 243 h 1456"/>
                <a:gd name="T2" fmla="*/ 243 w 4592"/>
                <a:gd name="T3" fmla="*/ 0 h 1456"/>
                <a:gd name="T4" fmla="*/ 243 w 4592"/>
                <a:gd name="T5" fmla="*/ 0 h 1456"/>
                <a:gd name="T6" fmla="*/ 243 w 4592"/>
                <a:gd name="T7" fmla="*/ 0 h 1456"/>
                <a:gd name="T8" fmla="*/ 4350 w 4592"/>
                <a:gd name="T9" fmla="*/ 0 h 1456"/>
                <a:gd name="T10" fmla="*/ 4350 w 4592"/>
                <a:gd name="T11" fmla="*/ 0 h 1456"/>
                <a:gd name="T12" fmla="*/ 4592 w 4592"/>
                <a:gd name="T13" fmla="*/ 243 h 1456"/>
                <a:gd name="T14" fmla="*/ 4592 w 4592"/>
                <a:gd name="T15" fmla="*/ 243 h 1456"/>
                <a:gd name="T16" fmla="*/ 4592 w 4592"/>
                <a:gd name="T17" fmla="*/ 243 h 1456"/>
                <a:gd name="T18" fmla="*/ 4592 w 4592"/>
                <a:gd name="T19" fmla="*/ 1214 h 1456"/>
                <a:gd name="T20" fmla="*/ 4592 w 4592"/>
                <a:gd name="T21" fmla="*/ 1214 h 1456"/>
                <a:gd name="T22" fmla="*/ 4350 w 4592"/>
                <a:gd name="T23" fmla="*/ 1456 h 1456"/>
                <a:gd name="T24" fmla="*/ 4350 w 4592"/>
                <a:gd name="T25" fmla="*/ 1456 h 1456"/>
                <a:gd name="T26" fmla="*/ 4350 w 4592"/>
                <a:gd name="T27" fmla="*/ 1456 h 1456"/>
                <a:gd name="T28" fmla="*/ 243 w 4592"/>
                <a:gd name="T29" fmla="*/ 1456 h 1456"/>
                <a:gd name="T30" fmla="*/ 243 w 4592"/>
                <a:gd name="T31" fmla="*/ 1456 h 1456"/>
                <a:gd name="T32" fmla="*/ 0 w 4592"/>
                <a:gd name="T33" fmla="*/ 1214 h 1456"/>
                <a:gd name="T34" fmla="*/ 0 w 4592"/>
                <a:gd name="T35" fmla="*/ 1214 h 1456"/>
                <a:gd name="T36" fmla="*/ 0 w 4592"/>
                <a:gd name="T37" fmla="*/ 243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92" h="1456">
                  <a:moveTo>
                    <a:pt x="0" y="243"/>
                  </a:moveTo>
                  <a:cubicBezTo>
                    <a:pt x="0" y="109"/>
                    <a:pt x="109" y="0"/>
                    <a:pt x="243" y="0"/>
                  </a:cubicBezTo>
                  <a:cubicBezTo>
                    <a:pt x="243" y="0"/>
                    <a:pt x="243" y="0"/>
                    <a:pt x="243" y="0"/>
                  </a:cubicBezTo>
                  <a:lnTo>
                    <a:pt x="243" y="0"/>
                  </a:lnTo>
                  <a:lnTo>
                    <a:pt x="4350" y="0"/>
                  </a:lnTo>
                  <a:lnTo>
                    <a:pt x="4350" y="0"/>
                  </a:lnTo>
                  <a:cubicBezTo>
                    <a:pt x="4484" y="0"/>
                    <a:pt x="4592" y="109"/>
                    <a:pt x="4592" y="243"/>
                  </a:cubicBezTo>
                  <a:cubicBezTo>
                    <a:pt x="4592" y="243"/>
                    <a:pt x="4592" y="243"/>
                    <a:pt x="4592" y="243"/>
                  </a:cubicBezTo>
                  <a:lnTo>
                    <a:pt x="4592" y="243"/>
                  </a:lnTo>
                  <a:lnTo>
                    <a:pt x="4592" y="1214"/>
                  </a:lnTo>
                  <a:lnTo>
                    <a:pt x="4592" y="1214"/>
                  </a:lnTo>
                  <a:cubicBezTo>
                    <a:pt x="4592" y="1348"/>
                    <a:pt x="4484" y="1456"/>
                    <a:pt x="4350" y="1456"/>
                  </a:cubicBezTo>
                  <a:cubicBezTo>
                    <a:pt x="4350" y="1456"/>
                    <a:pt x="4350" y="1456"/>
                    <a:pt x="4350" y="1456"/>
                  </a:cubicBezTo>
                  <a:lnTo>
                    <a:pt x="4350" y="1456"/>
                  </a:lnTo>
                  <a:lnTo>
                    <a:pt x="243" y="1456"/>
                  </a:lnTo>
                  <a:lnTo>
                    <a:pt x="243" y="1456"/>
                  </a:lnTo>
                  <a:cubicBezTo>
                    <a:pt x="109" y="1456"/>
                    <a:pt x="0" y="1348"/>
                    <a:pt x="0" y="1214"/>
                  </a:cubicBezTo>
                  <a:cubicBezTo>
                    <a:pt x="0" y="1214"/>
                    <a:pt x="0" y="1214"/>
                    <a:pt x="0" y="1214"/>
                  </a:cubicBezTo>
                  <a:lnTo>
                    <a:pt x="0" y="243"/>
                  </a:lnTo>
                  <a:close/>
                </a:path>
              </a:pathLst>
            </a:custGeom>
            <a:solidFill>
              <a:srgbClr val="FFFF9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4A6A098F-6411-4745-8A62-8B3FC4624D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90" y="2804"/>
              <a:ext cx="1373" cy="439"/>
            </a:xfrm>
            <a:custGeom>
              <a:avLst/>
              <a:gdLst>
                <a:gd name="T0" fmla="*/ 6 w 4608"/>
                <a:gd name="T1" fmla="*/ 200 h 1472"/>
                <a:gd name="T2" fmla="*/ 43 w 4608"/>
                <a:gd name="T3" fmla="*/ 112 h 1472"/>
                <a:gd name="T4" fmla="*/ 74 w 4608"/>
                <a:gd name="T5" fmla="*/ 73 h 1472"/>
                <a:gd name="T6" fmla="*/ 154 w 4608"/>
                <a:gd name="T7" fmla="*/ 20 h 1472"/>
                <a:gd name="T8" fmla="*/ 202 w 4608"/>
                <a:gd name="T9" fmla="*/ 5 h 1472"/>
                <a:gd name="T10" fmla="*/ 4408 w 4608"/>
                <a:gd name="T11" fmla="*/ 5 h 1472"/>
                <a:gd name="T12" fmla="*/ 4456 w 4608"/>
                <a:gd name="T13" fmla="*/ 20 h 1472"/>
                <a:gd name="T14" fmla="*/ 4534 w 4608"/>
                <a:gd name="T15" fmla="*/ 73 h 1472"/>
                <a:gd name="T16" fmla="*/ 4567 w 4608"/>
                <a:gd name="T17" fmla="*/ 112 h 1472"/>
                <a:gd name="T18" fmla="*/ 4603 w 4608"/>
                <a:gd name="T19" fmla="*/ 200 h 1472"/>
                <a:gd name="T20" fmla="*/ 4608 w 4608"/>
                <a:gd name="T21" fmla="*/ 1222 h 1472"/>
                <a:gd name="T22" fmla="*/ 4589 w 4608"/>
                <a:gd name="T23" fmla="*/ 1319 h 1472"/>
                <a:gd name="T24" fmla="*/ 4566 w 4608"/>
                <a:gd name="T25" fmla="*/ 1363 h 1472"/>
                <a:gd name="T26" fmla="*/ 4499 w 4608"/>
                <a:gd name="T27" fmla="*/ 1430 h 1472"/>
                <a:gd name="T28" fmla="*/ 4455 w 4608"/>
                <a:gd name="T29" fmla="*/ 1453 h 1472"/>
                <a:gd name="T30" fmla="*/ 4359 w 4608"/>
                <a:gd name="T31" fmla="*/ 1472 h 1472"/>
                <a:gd name="T32" fmla="*/ 200 w 4608"/>
                <a:gd name="T33" fmla="*/ 1467 h 1472"/>
                <a:gd name="T34" fmla="*/ 112 w 4608"/>
                <a:gd name="T35" fmla="*/ 1431 h 1472"/>
                <a:gd name="T36" fmla="*/ 73 w 4608"/>
                <a:gd name="T37" fmla="*/ 1398 h 1472"/>
                <a:gd name="T38" fmla="*/ 20 w 4608"/>
                <a:gd name="T39" fmla="*/ 1320 h 1472"/>
                <a:gd name="T40" fmla="*/ 6 w 4608"/>
                <a:gd name="T41" fmla="*/ 1272 h 1472"/>
                <a:gd name="T42" fmla="*/ 16 w 4608"/>
                <a:gd name="T43" fmla="*/ 1222 h 1472"/>
                <a:gd name="T44" fmla="*/ 35 w 4608"/>
                <a:gd name="T45" fmla="*/ 1314 h 1472"/>
                <a:gd name="T46" fmla="*/ 57 w 4608"/>
                <a:gd name="T47" fmla="*/ 1352 h 1472"/>
                <a:gd name="T48" fmla="*/ 121 w 4608"/>
                <a:gd name="T49" fmla="*/ 1417 h 1472"/>
                <a:gd name="T50" fmla="*/ 160 w 4608"/>
                <a:gd name="T51" fmla="*/ 1438 h 1472"/>
                <a:gd name="T52" fmla="*/ 251 w 4608"/>
                <a:gd name="T53" fmla="*/ 1456 h 1472"/>
                <a:gd name="T54" fmla="*/ 4405 w 4608"/>
                <a:gd name="T55" fmla="*/ 1452 h 1472"/>
                <a:gd name="T56" fmla="*/ 4490 w 4608"/>
                <a:gd name="T57" fmla="*/ 1416 h 1472"/>
                <a:gd name="T58" fmla="*/ 4523 w 4608"/>
                <a:gd name="T59" fmla="*/ 1388 h 1472"/>
                <a:gd name="T60" fmla="*/ 4574 w 4608"/>
                <a:gd name="T61" fmla="*/ 1313 h 1472"/>
                <a:gd name="T62" fmla="*/ 4587 w 4608"/>
                <a:gd name="T63" fmla="*/ 1271 h 1472"/>
                <a:gd name="T64" fmla="*/ 4587 w 4608"/>
                <a:gd name="T65" fmla="*/ 203 h 1472"/>
                <a:gd name="T66" fmla="*/ 4574 w 4608"/>
                <a:gd name="T67" fmla="*/ 161 h 1472"/>
                <a:gd name="T68" fmla="*/ 4523 w 4608"/>
                <a:gd name="T69" fmla="*/ 85 h 1472"/>
                <a:gd name="T70" fmla="*/ 4490 w 4608"/>
                <a:gd name="T71" fmla="*/ 57 h 1472"/>
                <a:gd name="T72" fmla="*/ 4405 w 4608"/>
                <a:gd name="T73" fmla="*/ 21 h 1472"/>
                <a:gd name="T74" fmla="*/ 252 w 4608"/>
                <a:gd name="T75" fmla="*/ 16 h 1472"/>
                <a:gd name="T76" fmla="*/ 160 w 4608"/>
                <a:gd name="T77" fmla="*/ 35 h 1472"/>
                <a:gd name="T78" fmla="*/ 120 w 4608"/>
                <a:gd name="T79" fmla="*/ 57 h 1472"/>
                <a:gd name="T80" fmla="*/ 57 w 4608"/>
                <a:gd name="T81" fmla="*/ 120 h 1472"/>
                <a:gd name="T82" fmla="*/ 35 w 4608"/>
                <a:gd name="T83" fmla="*/ 160 h 1472"/>
                <a:gd name="T84" fmla="*/ 16 w 4608"/>
                <a:gd name="T85" fmla="*/ 251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608" h="1472">
                  <a:moveTo>
                    <a:pt x="0" y="251"/>
                  </a:moveTo>
                  <a:lnTo>
                    <a:pt x="6" y="202"/>
                  </a:lnTo>
                  <a:cubicBezTo>
                    <a:pt x="6" y="201"/>
                    <a:pt x="6" y="201"/>
                    <a:pt x="6" y="200"/>
                  </a:cubicBezTo>
                  <a:lnTo>
                    <a:pt x="20" y="155"/>
                  </a:lnTo>
                  <a:cubicBezTo>
                    <a:pt x="20" y="155"/>
                    <a:pt x="20" y="154"/>
                    <a:pt x="20" y="154"/>
                  </a:cubicBezTo>
                  <a:lnTo>
                    <a:pt x="43" y="112"/>
                  </a:lnTo>
                  <a:cubicBezTo>
                    <a:pt x="44" y="111"/>
                    <a:pt x="44" y="111"/>
                    <a:pt x="44" y="110"/>
                  </a:cubicBezTo>
                  <a:lnTo>
                    <a:pt x="73" y="74"/>
                  </a:lnTo>
                  <a:cubicBezTo>
                    <a:pt x="74" y="74"/>
                    <a:pt x="74" y="74"/>
                    <a:pt x="74" y="73"/>
                  </a:cubicBezTo>
                  <a:lnTo>
                    <a:pt x="110" y="44"/>
                  </a:lnTo>
                  <a:cubicBezTo>
                    <a:pt x="111" y="44"/>
                    <a:pt x="111" y="44"/>
                    <a:pt x="112" y="43"/>
                  </a:cubicBezTo>
                  <a:lnTo>
                    <a:pt x="154" y="20"/>
                  </a:lnTo>
                  <a:cubicBezTo>
                    <a:pt x="154" y="20"/>
                    <a:pt x="155" y="20"/>
                    <a:pt x="155" y="20"/>
                  </a:cubicBezTo>
                  <a:lnTo>
                    <a:pt x="200" y="6"/>
                  </a:lnTo>
                  <a:cubicBezTo>
                    <a:pt x="201" y="6"/>
                    <a:pt x="201" y="6"/>
                    <a:pt x="202" y="5"/>
                  </a:cubicBezTo>
                  <a:lnTo>
                    <a:pt x="251" y="0"/>
                  </a:lnTo>
                  <a:lnTo>
                    <a:pt x="4358" y="0"/>
                  </a:lnTo>
                  <a:lnTo>
                    <a:pt x="4408" y="5"/>
                  </a:lnTo>
                  <a:cubicBezTo>
                    <a:pt x="4409" y="6"/>
                    <a:pt x="4409" y="6"/>
                    <a:pt x="4410" y="6"/>
                  </a:cubicBezTo>
                  <a:lnTo>
                    <a:pt x="4455" y="20"/>
                  </a:lnTo>
                  <a:cubicBezTo>
                    <a:pt x="4455" y="20"/>
                    <a:pt x="4456" y="20"/>
                    <a:pt x="4456" y="20"/>
                  </a:cubicBezTo>
                  <a:lnTo>
                    <a:pt x="4497" y="43"/>
                  </a:lnTo>
                  <a:cubicBezTo>
                    <a:pt x="4498" y="44"/>
                    <a:pt x="4498" y="44"/>
                    <a:pt x="4498" y="44"/>
                  </a:cubicBezTo>
                  <a:lnTo>
                    <a:pt x="4534" y="73"/>
                  </a:lnTo>
                  <a:cubicBezTo>
                    <a:pt x="4535" y="74"/>
                    <a:pt x="4535" y="74"/>
                    <a:pt x="4536" y="74"/>
                  </a:cubicBezTo>
                  <a:lnTo>
                    <a:pt x="4566" y="110"/>
                  </a:lnTo>
                  <a:cubicBezTo>
                    <a:pt x="4566" y="111"/>
                    <a:pt x="4566" y="111"/>
                    <a:pt x="4567" y="112"/>
                  </a:cubicBezTo>
                  <a:lnTo>
                    <a:pt x="4589" y="154"/>
                  </a:lnTo>
                  <a:cubicBezTo>
                    <a:pt x="4589" y="154"/>
                    <a:pt x="4589" y="155"/>
                    <a:pt x="4589" y="155"/>
                  </a:cubicBezTo>
                  <a:lnTo>
                    <a:pt x="4603" y="200"/>
                  </a:lnTo>
                  <a:cubicBezTo>
                    <a:pt x="4603" y="201"/>
                    <a:pt x="4603" y="201"/>
                    <a:pt x="4603" y="202"/>
                  </a:cubicBezTo>
                  <a:lnTo>
                    <a:pt x="4608" y="251"/>
                  </a:lnTo>
                  <a:lnTo>
                    <a:pt x="4608" y="1222"/>
                  </a:lnTo>
                  <a:lnTo>
                    <a:pt x="4603" y="1272"/>
                  </a:lnTo>
                  <a:cubicBezTo>
                    <a:pt x="4603" y="1273"/>
                    <a:pt x="4603" y="1273"/>
                    <a:pt x="4603" y="1274"/>
                  </a:cubicBezTo>
                  <a:lnTo>
                    <a:pt x="4589" y="1319"/>
                  </a:lnTo>
                  <a:cubicBezTo>
                    <a:pt x="4589" y="1319"/>
                    <a:pt x="4589" y="1320"/>
                    <a:pt x="4589" y="1320"/>
                  </a:cubicBezTo>
                  <a:lnTo>
                    <a:pt x="4567" y="1361"/>
                  </a:lnTo>
                  <a:cubicBezTo>
                    <a:pt x="4566" y="1362"/>
                    <a:pt x="4566" y="1362"/>
                    <a:pt x="4566" y="1363"/>
                  </a:cubicBezTo>
                  <a:lnTo>
                    <a:pt x="4536" y="1399"/>
                  </a:lnTo>
                  <a:cubicBezTo>
                    <a:pt x="4535" y="1399"/>
                    <a:pt x="4535" y="1399"/>
                    <a:pt x="4535" y="1400"/>
                  </a:cubicBezTo>
                  <a:lnTo>
                    <a:pt x="4499" y="1430"/>
                  </a:lnTo>
                  <a:cubicBezTo>
                    <a:pt x="4498" y="1430"/>
                    <a:pt x="4498" y="1430"/>
                    <a:pt x="4497" y="1431"/>
                  </a:cubicBezTo>
                  <a:lnTo>
                    <a:pt x="4456" y="1453"/>
                  </a:lnTo>
                  <a:cubicBezTo>
                    <a:pt x="4456" y="1453"/>
                    <a:pt x="4455" y="1453"/>
                    <a:pt x="4455" y="1453"/>
                  </a:cubicBezTo>
                  <a:lnTo>
                    <a:pt x="4410" y="1467"/>
                  </a:lnTo>
                  <a:cubicBezTo>
                    <a:pt x="4409" y="1467"/>
                    <a:pt x="4409" y="1467"/>
                    <a:pt x="4408" y="1467"/>
                  </a:cubicBezTo>
                  <a:lnTo>
                    <a:pt x="4359" y="1472"/>
                  </a:lnTo>
                  <a:lnTo>
                    <a:pt x="251" y="1472"/>
                  </a:lnTo>
                  <a:lnTo>
                    <a:pt x="202" y="1467"/>
                  </a:lnTo>
                  <a:cubicBezTo>
                    <a:pt x="201" y="1467"/>
                    <a:pt x="201" y="1467"/>
                    <a:pt x="200" y="1467"/>
                  </a:cubicBezTo>
                  <a:lnTo>
                    <a:pt x="155" y="1453"/>
                  </a:lnTo>
                  <a:cubicBezTo>
                    <a:pt x="155" y="1453"/>
                    <a:pt x="154" y="1453"/>
                    <a:pt x="154" y="1453"/>
                  </a:cubicBezTo>
                  <a:lnTo>
                    <a:pt x="112" y="1431"/>
                  </a:lnTo>
                  <a:cubicBezTo>
                    <a:pt x="111" y="1430"/>
                    <a:pt x="111" y="1430"/>
                    <a:pt x="110" y="1430"/>
                  </a:cubicBezTo>
                  <a:lnTo>
                    <a:pt x="74" y="1400"/>
                  </a:lnTo>
                  <a:cubicBezTo>
                    <a:pt x="74" y="1399"/>
                    <a:pt x="74" y="1399"/>
                    <a:pt x="73" y="1398"/>
                  </a:cubicBezTo>
                  <a:lnTo>
                    <a:pt x="44" y="1362"/>
                  </a:lnTo>
                  <a:cubicBezTo>
                    <a:pt x="44" y="1362"/>
                    <a:pt x="44" y="1362"/>
                    <a:pt x="43" y="1361"/>
                  </a:cubicBezTo>
                  <a:lnTo>
                    <a:pt x="20" y="1320"/>
                  </a:lnTo>
                  <a:cubicBezTo>
                    <a:pt x="20" y="1320"/>
                    <a:pt x="20" y="1319"/>
                    <a:pt x="20" y="1319"/>
                  </a:cubicBezTo>
                  <a:lnTo>
                    <a:pt x="6" y="1274"/>
                  </a:lnTo>
                  <a:cubicBezTo>
                    <a:pt x="6" y="1273"/>
                    <a:pt x="6" y="1273"/>
                    <a:pt x="6" y="1272"/>
                  </a:cubicBezTo>
                  <a:lnTo>
                    <a:pt x="1" y="1223"/>
                  </a:lnTo>
                  <a:lnTo>
                    <a:pt x="0" y="251"/>
                  </a:lnTo>
                  <a:close/>
                  <a:moveTo>
                    <a:pt x="16" y="1222"/>
                  </a:moveTo>
                  <a:lnTo>
                    <a:pt x="21" y="1271"/>
                  </a:lnTo>
                  <a:lnTo>
                    <a:pt x="21" y="1269"/>
                  </a:lnTo>
                  <a:lnTo>
                    <a:pt x="35" y="1314"/>
                  </a:lnTo>
                  <a:lnTo>
                    <a:pt x="34" y="1313"/>
                  </a:lnTo>
                  <a:lnTo>
                    <a:pt x="57" y="1354"/>
                  </a:lnTo>
                  <a:lnTo>
                    <a:pt x="57" y="1352"/>
                  </a:lnTo>
                  <a:lnTo>
                    <a:pt x="86" y="1388"/>
                  </a:lnTo>
                  <a:lnTo>
                    <a:pt x="85" y="1387"/>
                  </a:lnTo>
                  <a:lnTo>
                    <a:pt x="121" y="1417"/>
                  </a:lnTo>
                  <a:lnTo>
                    <a:pt x="119" y="1416"/>
                  </a:lnTo>
                  <a:lnTo>
                    <a:pt x="161" y="1438"/>
                  </a:lnTo>
                  <a:lnTo>
                    <a:pt x="160" y="1438"/>
                  </a:lnTo>
                  <a:lnTo>
                    <a:pt x="205" y="1452"/>
                  </a:lnTo>
                  <a:lnTo>
                    <a:pt x="203" y="1451"/>
                  </a:lnTo>
                  <a:lnTo>
                    <a:pt x="251" y="1456"/>
                  </a:lnTo>
                  <a:lnTo>
                    <a:pt x="4358" y="1456"/>
                  </a:lnTo>
                  <a:lnTo>
                    <a:pt x="4407" y="1451"/>
                  </a:lnTo>
                  <a:lnTo>
                    <a:pt x="4405" y="1452"/>
                  </a:lnTo>
                  <a:lnTo>
                    <a:pt x="4450" y="1438"/>
                  </a:lnTo>
                  <a:lnTo>
                    <a:pt x="4449" y="1438"/>
                  </a:lnTo>
                  <a:lnTo>
                    <a:pt x="4490" y="1416"/>
                  </a:lnTo>
                  <a:lnTo>
                    <a:pt x="4488" y="1417"/>
                  </a:lnTo>
                  <a:lnTo>
                    <a:pt x="4524" y="1387"/>
                  </a:lnTo>
                  <a:lnTo>
                    <a:pt x="4523" y="1388"/>
                  </a:lnTo>
                  <a:lnTo>
                    <a:pt x="4553" y="1352"/>
                  </a:lnTo>
                  <a:lnTo>
                    <a:pt x="4552" y="1354"/>
                  </a:lnTo>
                  <a:lnTo>
                    <a:pt x="4574" y="1313"/>
                  </a:lnTo>
                  <a:lnTo>
                    <a:pt x="4574" y="1314"/>
                  </a:lnTo>
                  <a:lnTo>
                    <a:pt x="4588" y="1269"/>
                  </a:lnTo>
                  <a:lnTo>
                    <a:pt x="4587" y="1271"/>
                  </a:lnTo>
                  <a:lnTo>
                    <a:pt x="4592" y="1222"/>
                  </a:lnTo>
                  <a:lnTo>
                    <a:pt x="4592" y="252"/>
                  </a:lnTo>
                  <a:lnTo>
                    <a:pt x="4587" y="203"/>
                  </a:lnTo>
                  <a:lnTo>
                    <a:pt x="4588" y="205"/>
                  </a:lnTo>
                  <a:lnTo>
                    <a:pt x="4574" y="160"/>
                  </a:lnTo>
                  <a:lnTo>
                    <a:pt x="4574" y="161"/>
                  </a:lnTo>
                  <a:lnTo>
                    <a:pt x="4552" y="119"/>
                  </a:lnTo>
                  <a:lnTo>
                    <a:pt x="4553" y="121"/>
                  </a:lnTo>
                  <a:lnTo>
                    <a:pt x="4523" y="85"/>
                  </a:lnTo>
                  <a:lnTo>
                    <a:pt x="4524" y="86"/>
                  </a:lnTo>
                  <a:lnTo>
                    <a:pt x="4488" y="57"/>
                  </a:lnTo>
                  <a:lnTo>
                    <a:pt x="4490" y="57"/>
                  </a:lnTo>
                  <a:lnTo>
                    <a:pt x="4449" y="34"/>
                  </a:lnTo>
                  <a:lnTo>
                    <a:pt x="4450" y="35"/>
                  </a:lnTo>
                  <a:lnTo>
                    <a:pt x="4405" y="21"/>
                  </a:lnTo>
                  <a:lnTo>
                    <a:pt x="4407" y="21"/>
                  </a:lnTo>
                  <a:lnTo>
                    <a:pt x="4358" y="16"/>
                  </a:lnTo>
                  <a:lnTo>
                    <a:pt x="252" y="16"/>
                  </a:lnTo>
                  <a:lnTo>
                    <a:pt x="203" y="21"/>
                  </a:lnTo>
                  <a:lnTo>
                    <a:pt x="205" y="21"/>
                  </a:lnTo>
                  <a:lnTo>
                    <a:pt x="160" y="35"/>
                  </a:lnTo>
                  <a:lnTo>
                    <a:pt x="161" y="34"/>
                  </a:lnTo>
                  <a:lnTo>
                    <a:pt x="119" y="57"/>
                  </a:lnTo>
                  <a:lnTo>
                    <a:pt x="120" y="57"/>
                  </a:lnTo>
                  <a:lnTo>
                    <a:pt x="84" y="86"/>
                  </a:lnTo>
                  <a:lnTo>
                    <a:pt x="86" y="84"/>
                  </a:lnTo>
                  <a:lnTo>
                    <a:pt x="57" y="120"/>
                  </a:lnTo>
                  <a:lnTo>
                    <a:pt x="57" y="119"/>
                  </a:lnTo>
                  <a:lnTo>
                    <a:pt x="34" y="161"/>
                  </a:lnTo>
                  <a:lnTo>
                    <a:pt x="35" y="160"/>
                  </a:lnTo>
                  <a:lnTo>
                    <a:pt x="21" y="205"/>
                  </a:lnTo>
                  <a:lnTo>
                    <a:pt x="21" y="203"/>
                  </a:lnTo>
                  <a:lnTo>
                    <a:pt x="16" y="251"/>
                  </a:lnTo>
                  <a:lnTo>
                    <a:pt x="16" y="1222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19" name="Rectangle 22">
              <a:extLst>
                <a:ext uri="{FF2B5EF4-FFF2-40B4-BE49-F238E27FC236}">
                  <a16:creationId xmlns:a16="http://schemas.microsoft.com/office/drawing/2014/main" id="{01104D01-64A0-4A87-800F-4AD782E8D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2922"/>
              <a:ext cx="709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1015" b="1" dirty="0">
                  <a:solidFill>
                    <a:srgbClr val="000000"/>
                  </a:solidFill>
                </a:rPr>
                <a:t>Ubiquitous Access</a:t>
              </a:r>
              <a:r>
                <a:rPr lang="ko-KR" altLang="ko-KR" sz="1015" b="1" dirty="0">
                  <a:solidFill>
                    <a:srgbClr val="000000"/>
                  </a:solidFill>
                </a:rPr>
                <a:t>/</a:t>
              </a:r>
              <a:endParaRPr lang="ko-KR" altLang="ko-KR" sz="1662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" name="Rectangle 23">
              <a:extLst>
                <a:ext uri="{FF2B5EF4-FFF2-40B4-BE49-F238E27FC236}">
                  <a16:creationId xmlns:a16="http://schemas.microsoft.com/office/drawing/2014/main" id="{8CC0AAED-A274-4067-80A2-8986F9202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3027"/>
              <a:ext cx="82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1015" b="1" dirty="0">
                  <a:solidFill>
                    <a:srgbClr val="000000"/>
                  </a:solidFill>
                </a:rPr>
                <a:t>Seamless Connectivity</a:t>
              </a:r>
              <a:endParaRPr lang="ko-KR" altLang="ko-KR" sz="1662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" name="Freeform 24">
              <a:extLst>
                <a:ext uri="{FF2B5EF4-FFF2-40B4-BE49-F238E27FC236}">
                  <a16:creationId xmlns:a16="http://schemas.microsoft.com/office/drawing/2014/main" id="{A745148C-609C-48BE-9340-74A45143A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" y="943"/>
              <a:ext cx="2884" cy="291"/>
            </a:xfrm>
            <a:custGeom>
              <a:avLst/>
              <a:gdLst>
                <a:gd name="T0" fmla="*/ 0 w 9680"/>
                <a:gd name="T1" fmla="*/ 488 h 976"/>
                <a:gd name="T2" fmla="*/ 4840 w 9680"/>
                <a:gd name="T3" fmla="*/ 0 h 976"/>
                <a:gd name="T4" fmla="*/ 4840 w 9680"/>
                <a:gd name="T5" fmla="*/ 0 h 976"/>
                <a:gd name="T6" fmla="*/ 9680 w 9680"/>
                <a:gd name="T7" fmla="*/ 488 h 976"/>
                <a:gd name="T8" fmla="*/ 9680 w 9680"/>
                <a:gd name="T9" fmla="*/ 488 h 976"/>
                <a:gd name="T10" fmla="*/ 9680 w 9680"/>
                <a:gd name="T11" fmla="*/ 488 h 976"/>
                <a:gd name="T12" fmla="*/ 4840 w 9680"/>
                <a:gd name="T13" fmla="*/ 976 h 976"/>
                <a:gd name="T14" fmla="*/ 4840 w 9680"/>
                <a:gd name="T15" fmla="*/ 976 h 976"/>
                <a:gd name="T16" fmla="*/ 4840 w 9680"/>
                <a:gd name="T17" fmla="*/ 976 h 976"/>
                <a:gd name="T18" fmla="*/ 0 w 9680"/>
                <a:gd name="T19" fmla="*/ 488 h 976"/>
                <a:gd name="T20" fmla="*/ 0 w 9680"/>
                <a:gd name="T21" fmla="*/ 488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680" h="976">
                  <a:moveTo>
                    <a:pt x="0" y="488"/>
                  </a:moveTo>
                  <a:cubicBezTo>
                    <a:pt x="0" y="219"/>
                    <a:pt x="2167" y="0"/>
                    <a:pt x="4840" y="0"/>
                  </a:cubicBezTo>
                  <a:lnTo>
                    <a:pt x="4840" y="0"/>
                  </a:lnTo>
                  <a:cubicBezTo>
                    <a:pt x="7514" y="0"/>
                    <a:pt x="9680" y="219"/>
                    <a:pt x="9680" y="488"/>
                  </a:cubicBezTo>
                  <a:cubicBezTo>
                    <a:pt x="9680" y="488"/>
                    <a:pt x="9680" y="488"/>
                    <a:pt x="9680" y="488"/>
                  </a:cubicBezTo>
                  <a:lnTo>
                    <a:pt x="9680" y="488"/>
                  </a:lnTo>
                  <a:cubicBezTo>
                    <a:pt x="9680" y="758"/>
                    <a:pt x="7514" y="976"/>
                    <a:pt x="4840" y="976"/>
                  </a:cubicBezTo>
                  <a:cubicBezTo>
                    <a:pt x="4840" y="976"/>
                    <a:pt x="4840" y="976"/>
                    <a:pt x="4840" y="976"/>
                  </a:cubicBezTo>
                  <a:lnTo>
                    <a:pt x="4840" y="976"/>
                  </a:lnTo>
                  <a:cubicBezTo>
                    <a:pt x="2167" y="976"/>
                    <a:pt x="0" y="758"/>
                    <a:pt x="0" y="488"/>
                  </a:cubicBezTo>
                  <a:cubicBezTo>
                    <a:pt x="0" y="488"/>
                    <a:pt x="0" y="488"/>
                    <a:pt x="0" y="488"/>
                  </a:cubicBezTo>
                  <a:close/>
                </a:path>
              </a:pathLst>
            </a:custGeom>
            <a:solidFill>
              <a:srgbClr val="FDEAD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22" name="Freeform 25">
              <a:extLst>
                <a:ext uri="{FF2B5EF4-FFF2-40B4-BE49-F238E27FC236}">
                  <a16:creationId xmlns:a16="http://schemas.microsoft.com/office/drawing/2014/main" id="{FE9430F0-36AD-4490-A533-B0F7E8F889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" y="941"/>
              <a:ext cx="2888" cy="295"/>
            </a:xfrm>
            <a:custGeom>
              <a:avLst/>
              <a:gdLst>
                <a:gd name="T0" fmla="*/ 8 w 9697"/>
                <a:gd name="T1" fmla="*/ 467 h 992"/>
                <a:gd name="T2" fmla="*/ 102 w 9697"/>
                <a:gd name="T3" fmla="*/ 392 h 992"/>
                <a:gd name="T4" fmla="*/ 386 w 9697"/>
                <a:gd name="T5" fmla="*/ 299 h 992"/>
                <a:gd name="T6" fmla="*/ 834 w 9697"/>
                <a:gd name="T7" fmla="*/ 216 h 992"/>
                <a:gd name="T8" fmla="*/ 1426 w 9697"/>
                <a:gd name="T9" fmla="*/ 144 h 992"/>
                <a:gd name="T10" fmla="*/ 2142 w 9697"/>
                <a:gd name="T11" fmla="*/ 83 h 992"/>
                <a:gd name="T12" fmla="*/ 2964 w 9697"/>
                <a:gd name="T13" fmla="*/ 38 h 992"/>
                <a:gd name="T14" fmla="*/ 4848 w 9697"/>
                <a:gd name="T15" fmla="*/ 0 h 992"/>
                <a:gd name="T16" fmla="*/ 6733 w 9697"/>
                <a:gd name="T17" fmla="*/ 38 h 992"/>
                <a:gd name="T18" fmla="*/ 7556 w 9697"/>
                <a:gd name="T19" fmla="*/ 83 h 992"/>
                <a:gd name="T20" fmla="*/ 8272 w 9697"/>
                <a:gd name="T21" fmla="*/ 143 h 992"/>
                <a:gd name="T22" fmla="*/ 8864 w 9697"/>
                <a:gd name="T23" fmla="*/ 216 h 992"/>
                <a:gd name="T24" fmla="*/ 9310 w 9697"/>
                <a:gd name="T25" fmla="*/ 299 h 992"/>
                <a:gd name="T26" fmla="*/ 9594 w 9697"/>
                <a:gd name="T27" fmla="*/ 391 h 992"/>
                <a:gd name="T28" fmla="*/ 9689 w 9697"/>
                <a:gd name="T29" fmla="*/ 467 h 992"/>
                <a:gd name="T30" fmla="*/ 9690 w 9697"/>
                <a:gd name="T31" fmla="*/ 523 h 992"/>
                <a:gd name="T32" fmla="*/ 9637 w 9697"/>
                <a:gd name="T33" fmla="*/ 577 h 992"/>
                <a:gd name="T34" fmla="*/ 9397 w 9697"/>
                <a:gd name="T35" fmla="*/ 672 h 992"/>
                <a:gd name="T36" fmla="*/ 8990 w 9697"/>
                <a:gd name="T37" fmla="*/ 757 h 992"/>
                <a:gd name="T38" fmla="*/ 8432 w 9697"/>
                <a:gd name="T39" fmla="*/ 832 h 992"/>
                <a:gd name="T40" fmla="*/ 7745 w 9697"/>
                <a:gd name="T41" fmla="*/ 895 h 992"/>
                <a:gd name="T42" fmla="*/ 6948 w 9697"/>
                <a:gd name="T43" fmla="*/ 944 h 992"/>
                <a:gd name="T44" fmla="*/ 5344 w 9697"/>
                <a:gd name="T45" fmla="*/ 989 h 992"/>
                <a:gd name="T46" fmla="*/ 3409 w 9697"/>
                <a:gd name="T47" fmla="*/ 970 h 992"/>
                <a:gd name="T48" fmla="*/ 2338 w 9697"/>
                <a:gd name="T49" fmla="*/ 921 h 992"/>
                <a:gd name="T50" fmla="*/ 1594 w 9697"/>
                <a:gd name="T51" fmla="*/ 865 h 992"/>
                <a:gd name="T52" fmla="*/ 969 w 9697"/>
                <a:gd name="T53" fmla="*/ 796 h 992"/>
                <a:gd name="T54" fmla="*/ 484 w 9697"/>
                <a:gd name="T55" fmla="*/ 716 h 992"/>
                <a:gd name="T56" fmla="*/ 158 w 9697"/>
                <a:gd name="T57" fmla="*/ 626 h 992"/>
                <a:gd name="T58" fmla="*/ 27 w 9697"/>
                <a:gd name="T59" fmla="*/ 551 h 992"/>
                <a:gd name="T60" fmla="*/ 22 w 9697"/>
                <a:gd name="T61" fmla="*/ 520 h 992"/>
                <a:gd name="T62" fmla="*/ 68 w 9697"/>
                <a:gd name="T63" fmla="*/ 564 h 992"/>
                <a:gd name="T64" fmla="*/ 304 w 9697"/>
                <a:gd name="T65" fmla="*/ 657 h 992"/>
                <a:gd name="T66" fmla="*/ 711 w 9697"/>
                <a:gd name="T67" fmla="*/ 742 h 992"/>
                <a:gd name="T68" fmla="*/ 1266 w 9697"/>
                <a:gd name="T69" fmla="*/ 817 h 992"/>
                <a:gd name="T70" fmla="*/ 1953 w 9697"/>
                <a:gd name="T71" fmla="*/ 879 h 992"/>
                <a:gd name="T72" fmla="*/ 2751 w 9697"/>
                <a:gd name="T73" fmla="*/ 928 h 992"/>
                <a:gd name="T74" fmla="*/ 4354 w 9697"/>
                <a:gd name="T75" fmla="*/ 973 h 992"/>
                <a:gd name="T76" fmla="*/ 6288 w 9697"/>
                <a:gd name="T77" fmla="*/ 954 h 992"/>
                <a:gd name="T78" fmla="*/ 7358 w 9697"/>
                <a:gd name="T79" fmla="*/ 905 h 992"/>
                <a:gd name="T80" fmla="*/ 8103 w 9697"/>
                <a:gd name="T81" fmla="*/ 849 h 992"/>
                <a:gd name="T82" fmla="*/ 8726 w 9697"/>
                <a:gd name="T83" fmla="*/ 781 h 992"/>
                <a:gd name="T84" fmla="*/ 9210 w 9697"/>
                <a:gd name="T85" fmla="*/ 701 h 992"/>
                <a:gd name="T86" fmla="*/ 9533 w 9697"/>
                <a:gd name="T87" fmla="*/ 611 h 992"/>
                <a:gd name="T88" fmla="*/ 9657 w 9697"/>
                <a:gd name="T89" fmla="*/ 542 h 992"/>
                <a:gd name="T90" fmla="*/ 9681 w 9697"/>
                <a:gd name="T91" fmla="*/ 498 h 992"/>
                <a:gd name="T92" fmla="*/ 9659 w 9697"/>
                <a:gd name="T93" fmla="*/ 453 h 992"/>
                <a:gd name="T94" fmla="*/ 9468 w 9697"/>
                <a:gd name="T95" fmla="*/ 359 h 992"/>
                <a:gd name="T96" fmla="*/ 9103 w 9697"/>
                <a:gd name="T97" fmla="*/ 272 h 992"/>
                <a:gd name="T98" fmla="*/ 8583 w 9697"/>
                <a:gd name="T99" fmla="*/ 194 h 992"/>
                <a:gd name="T100" fmla="*/ 7927 w 9697"/>
                <a:gd name="T101" fmla="*/ 128 h 992"/>
                <a:gd name="T102" fmla="*/ 7155 w 9697"/>
                <a:gd name="T103" fmla="*/ 75 h 992"/>
                <a:gd name="T104" fmla="*/ 5824 w 9697"/>
                <a:gd name="T105" fmla="*/ 26 h 992"/>
                <a:gd name="T106" fmla="*/ 3873 w 9697"/>
                <a:gd name="T107" fmla="*/ 26 h 992"/>
                <a:gd name="T108" fmla="*/ 2542 w 9697"/>
                <a:gd name="T109" fmla="*/ 75 h 992"/>
                <a:gd name="T110" fmla="*/ 1770 w 9697"/>
                <a:gd name="T111" fmla="*/ 128 h 992"/>
                <a:gd name="T112" fmla="*/ 1114 w 9697"/>
                <a:gd name="T113" fmla="*/ 194 h 992"/>
                <a:gd name="T114" fmla="*/ 594 w 9697"/>
                <a:gd name="T115" fmla="*/ 272 h 992"/>
                <a:gd name="T116" fmla="*/ 229 w 9697"/>
                <a:gd name="T117" fmla="*/ 359 h 992"/>
                <a:gd name="T118" fmla="*/ 38 w 9697"/>
                <a:gd name="T119" fmla="*/ 453 h 992"/>
                <a:gd name="T120" fmla="*/ 16 w 9697"/>
                <a:gd name="T121" fmla="*/ 498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697" h="992">
                  <a:moveTo>
                    <a:pt x="1" y="498"/>
                  </a:moveTo>
                  <a:cubicBezTo>
                    <a:pt x="0" y="497"/>
                    <a:pt x="0" y="496"/>
                    <a:pt x="1" y="495"/>
                  </a:cubicBezTo>
                  <a:lnTo>
                    <a:pt x="7" y="470"/>
                  </a:lnTo>
                  <a:cubicBezTo>
                    <a:pt x="7" y="469"/>
                    <a:pt x="7" y="468"/>
                    <a:pt x="8" y="467"/>
                  </a:cubicBezTo>
                  <a:lnTo>
                    <a:pt x="27" y="442"/>
                  </a:lnTo>
                  <a:cubicBezTo>
                    <a:pt x="28" y="441"/>
                    <a:pt x="28" y="441"/>
                    <a:pt x="29" y="440"/>
                  </a:cubicBezTo>
                  <a:lnTo>
                    <a:pt x="60" y="416"/>
                  </a:lnTo>
                  <a:lnTo>
                    <a:pt x="102" y="392"/>
                  </a:lnTo>
                  <a:lnTo>
                    <a:pt x="157" y="367"/>
                  </a:lnTo>
                  <a:lnTo>
                    <a:pt x="224" y="344"/>
                  </a:lnTo>
                  <a:lnTo>
                    <a:pt x="300" y="321"/>
                  </a:lnTo>
                  <a:lnTo>
                    <a:pt x="386" y="299"/>
                  </a:lnTo>
                  <a:lnTo>
                    <a:pt x="484" y="278"/>
                  </a:lnTo>
                  <a:lnTo>
                    <a:pt x="591" y="257"/>
                  </a:lnTo>
                  <a:lnTo>
                    <a:pt x="708" y="236"/>
                  </a:lnTo>
                  <a:lnTo>
                    <a:pt x="834" y="216"/>
                  </a:lnTo>
                  <a:lnTo>
                    <a:pt x="969" y="197"/>
                  </a:lnTo>
                  <a:lnTo>
                    <a:pt x="1112" y="179"/>
                  </a:lnTo>
                  <a:lnTo>
                    <a:pt x="1265" y="161"/>
                  </a:lnTo>
                  <a:lnTo>
                    <a:pt x="1426" y="144"/>
                  </a:lnTo>
                  <a:lnTo>
                    <a:pt x="1594" y="127"/>
                  </a:lnTo>
                  <a:lnTo>
                    <a:pt x="1769" y="112"/>
                  </a:lnTo>
                  <a:lnTo>
                    <a:pt x="1952" y="97"/>
                  </a:lnTo>
                  <a:lnTo>
                    <a:pt x="2142" y="83"/>
                  </a:lnTo>
                  <a:lnTo>
                    <a:pt x="2338" y="71"/>
                  </a:lnTo>
                  <a:lnTo>
                    <a:pt x="2541" y="59"/>
                  </a:lnTo>
                  <a:lnTo>
                    <a:pt x="2750" y="48"/>
                  </a:lnTo>
                  <a:lnTo>
                    <a:pt x="2964" y="38"/>
                  </a:lnTo>
                  <a:lnTo>
                    <a:pt x="3409" y="22"/>
                  </a:lnTo>
                  <a:lnTo>
                    <a:pt x="3872" y="10"/>
                  </a:lnTo>
                  <a:lnTo>
                    <a:pt x="4353" y="2"/>
                  </a:lnTo>
                  <a:lnTo>
                    <a:pt x="4848" y="0"/>
                  </a:lnTo>
                  <a:lnTo>
                    <a:pt x="5344" y="3"/>
                  </a:lnTo>
                  <a:lnTo>
                    <a:pt x="5825" y="10"/>
                  </a:lnTo>
                  <a:lnTo>
                    <a:pt x="6289" y="22"/>
                  </a:lnTo>
                  <a:lnTo>
                    <a:pt x="6733" y="38"/>
                  </a:lnTo>
                  <a:lnTo>
                    <a:pt x="6948" y="48"/>
                  </a:lnTo>
                  <a:lnTo>
                    <a:pt x="7156" y="59"/>
                  </a:lnTo>
                  <a:lnTo>
                    <a:pt x="7359" y="71"/>
                  </a:lnTo>
                  <a:lnTo>
                    <a:pt x="7556" y="83"/>
                  </a:lnTo>
                  <a:lnTo>
                    <a:pt x="7745" y="97"/>
                  </a:lnTo>
                  <a:lnTo>
                    <a:pt x="7928" y="112"/>
                  </a:lnTo>
                  <a:lnTo>
                    <a:pt x="8104" y="127"/>
                  </a:lnTo>
                  <a:lnTo>
                    <a:pt x="8272" y="143"/>
                  </a:lnTo>
                  <a:lnTo>
                    <a:pt x="8432" y="161"/>
                  </a:lnTo>
                  <a:lnTo>
                    <a:pt x="8584" y="179"/>
                  </a:lnTo>
                  <a:lnTo>
                    <a:pt x="8728" y="197"/>
                  </a:lnTo>
                  <a:lnTo>
                    <a:pt x="8864" y="216"/>
                  </a:lnTo>
                  <a:lnTo>
                    <a:pt x="8990" y="236"/>
                  </a:lnTo>
                  <a:lnTo>
                    <a:pt x="9106" y="257"/>
                  </a:lnTo>
                  <a:lnTo>
                    <a:pt x="9213" y="278"/>
                  </a:lnTo>
                  <a:lnTo>
                    <a:pt x="9310" y="299"/>
                  </a:lnTo>
                  <a:lnTo>
                    <a:pt x="9396" y="321"/>
                  </a:lnTo>
                  <a:lnTo>
                    <a:pt x="9473" y="344"/>
                  </a:lnTo>
                  <a:lnTo>
                    <a:pt x="9539" y="367"/>
                  </a:lnTo>
                  <a:lnTo>
                    <a:pt x="9594" y="391"/>
                  </a:lnTo>
                  <a:lnTo>
                    <a:pt x="9636" y="416"/>
                  </a:lnTo>
                  <a:lnTo>
                    <a:pt x="9668" y="440"/>
                  </a:lnTo>
                  <a:cubicBezTo>
                    <a:pt x="9669" y="441"/>
                    <a:pt x="9669" y="441"/>
                    <a:pt x="9670" y="442"/>
                  </a:cubicBezTo>
                  <a:lnTo>
                    <a:pt x="9689" y="467"/>
                  </a:lnTo>
                  <a:cubicBezTo>
                    <a:pt x="9690" y="468"/>
                    <a:pt x="9690" y="469"/>
                    <a:pt x="9690" y="470"/>
                  </a:cubicBezTo>
                  <a:lnTo>
                    <a:pt x="9696" y="495"/>
                  </a:lnTo>
                  <a:cubicBezTo>
                    <a:pt x="9697" y="496"/>
                    <a:pt x="9697" y="497"/>
                    <a:pt x="9696" y="498"/>
                  </a:cubicBezTo>
                  <a:lnTo>
                    <a:pt x="9690" y="523"/>
                  </a:lnTo>
                  <a:cubicBezTo>
                    <a:pt x="9690" y="524"/>
                    <a:pt x="9690" y="525"/>
                    <a:pt x="9689" y="526"/>
                  </a:cubicBezTo>
                  <a:lnTo>
                    <a:pt x="9670" y="551"/>
                  </a:lnTo>
                  <a:cubicBezTo>
                    <a:pt x="9669" y="552"/>
                    <a:pt x="9669" y="552"/>
                    <a:pt x="9668" y="553"/>
                  </a:cubicBezTo>
                  <a:lnTo>
                    <a:pt x="9637" y="577"/>
                  </a:lnTo>
                  <a:lnTo>
                    <a:pt x="9594" y="601"/>
                  </a:lnTo>
                  <a:lnTo>
                    <a:pt x="9540" y="626"/>
                  </a:lnTo>
                  <a:lnTo>
                    <a:pt x="9473" y="649"/>
                  </a:lnTo>
                  <a:lnTo>
                    <a:pt x="9397" y="672"/>
                  </a:lnTo>
                  <a:lnTo>
                    <a:pt x="9310" y="694"/>
                  </a:lnTo>
                  <a:lnTo>
                    <a:pt x="9213" y="716"/>
                  </a:lnTo>
                  <a:lnTo>
                    <a:pt x="9106" y="737"/>
                  </a:lnTo>
                  <a:lnTo>
                    <a:pt x="8990" y="757"/>
                  </a:lnTo>
                  <a:lnTo>
                    <a:pt x="8864" y="777"/>
                  </a:lnTo>
                  <a:lnTo>
                    <a:pt x="8729" y="796"/>
                  </a:lnTo>
                  <a:lnTo>
                    <a:pt x="8585" y="815"/>
                  </a:lnTo>
                  <a:lnTo>
                    <a:pt x="8432" y="832"/>
                  </a:lnTo>
                  <a:lnTo>
                    <a:pt x="8272" y="849"/>
                  </a:lnTo>
                  <a:lnTo>
                    <a:pt x="8104" y="865"/>
                  </a:lnTo>
                  <a:lnTo>
                    <a:pt x="7928" y="881"/>
                  </a:lnTo>
                  <a:lnTo>
                    <a:pt x="7745" y="895"/>
                  </a:lnTo>
                  <a:lnTo>
                    <a:pt x="7556" y="909"/>
                  </a:lnTo>
                  <a:lnTo>
                    <a:pt x="7359" y="921"/>
                  </a:lnTo>
                  <a:lnTo>
                    <a:pt x="7156" y="933"/>
                  </a:lnTo>
                  <a:lnTo>
                    <a:pt x="6948" y="944"/>
                  </a:lnTo>
                  <a:lnTo>
                    <a:pt x="6733" y="954"/>
                  </a:lnTo>
                  <a:lnTo>
                    <a:pt x="6289" y="970"/>
                  </a:lnTo>
                  <a:lnTo>
                    <a:pt x="5825" y="982"/>
                  </a:lnTo>
                  <a:lnTo>
                    <a:pt x="5344" y="989"/>
                  </a:lnTo>
                  <a:lnTo>
                    <a:pt x="4849" y="992"/>
                  </a:lnTo>
                  <a:lnTo>
                    <a:pt x="4353" y="989"/>
                  </a:lnTo>
                  <a:lnTo>
                    <a:pt x="3873" y="982"/>
                  </a:lnTo>
                  <a:lnTo>
                    <a:pt x="3409" y="970"/>
                  </a:lnTo>
                  <a:lnTo>
                    <a:pt x="2964" y="954"/>
                  </a:lnTo>
                  <a:lnTo>
                    <a:pt x="2750" y="944"/>
                  </a:lnTo>
                  <a:lnTo>
                    <a:pt x="2541" y="933"/>
                  </a:lnTo>
                  <a:lnTo>
                    <a:pt x="2338" y="921"/>
                  </a:lnTo>
                  <a:lnTo>
                    <a:pt x="2142" y="909"/>
                  </a:lnTo>
                  <a:lnTo>
                    <a:pt x="1952" y="895"/>
                  </a:lnTo>
                  <a:lnTo>
                    <a:pt x="1769" y="881"/>
                  </a:lnTo>
                  <a:lnTo>
                    <a:pt x="1594" y="865"/>
                  </a:lnTo>
                  <a:lnTo>
                    <a:pt x="1426" y="849"/>
                  </a:lnTo>
                  <a:lnTo>
                    <a:pt x="1265" y="832"/>
                  </a:lnTo>
                  <a:lnTo>
                    <a:pt x="1113" y="815"/>
                  </a:lnTo>
                  <a:lnTo>
                    <a:pt x="969" y="796"/>
                  </a:lnTo>
                  <a:lnTo>
                    <a:pt x="834" y="777"/>
                  </a:lnTo>
                  <a:lnTo>
                    <a:pt x="708" y="757"/>
                  </a:lnTo>
                  <a:lnTo>
                    <a:pt x="591" y="737"/>
                  </a:lnTo>
                  <a:lnTo>
                    <a:pt x="484" y="716"/>
                  </a:lnTo>
                  <a:lnTo>
                    <a:pt x="387" y="694"/>
                  </a:lnTo>
                  <a:lnTo>
                    <a:pt x="300" y="672"/>
                  </a:lnTo>
                  <a:lnTo>
                    <a:pt x="224" y="649"/>
                  </a:lnTo>
                  <a:lnTo>
                    <a:pt x="158" y="626"/>
                  </a:lnTo>
                  <a:lnTo>
                    <a:pt x="103" y="602"/>
                  </a:lnTo>
                  <a:lnTo>
                    <a:pt x="60" y="577"/>
                  </a:lnTo>
                  <a:lnTo>
                    <a:pt x="29" y="553"/>
                  </a:lnTo>
                  <a:cubicBezTo>
                    <a:pt x="28" y="552"/>
                    <a:pt x="28" y="552"/>
                    <a:pt x="27" y="551"/>
                  </a:cubicBezTo>
                  <a:lnTo>
                    <a:pt x="8" y="526"/>
                  </a:lnTo>
                  <a:cubicBezTo>
                    <a:pt x="7" y="525"/>
                    <a:pt x="7" y="524"/>
                    <a:pt x="7" y="523"/>
                  </a:cubicBezTo>
                  <a:lnTo>
                    <a:pt x="1" y="498"/>
                  </a:lnTo>
                  <a:close/>
                  <a:moveTo>
                    <a:pt x="22" y="520"/>
                  </a:moveTo>
                  <a:lnTo>
                    <a:pt x="21" y="517"/>
                  </a:lnTo>
                  <a:lnTo>
                    <a:pt x="40" y="542"/>
                  </a:lnTo>
                  <a:lnTo>
                    <a:pt x="38" y="540"/>
                  </a:lnTo>
                  <a:lnTo>
                    <a:pt x="68" y="564"/>
                  </a:lnTo>
                  <a:lnTo>
                    <a:pt x="110" y="587"/>
                  </a:lnTo>
                  <a:lnTo>
                    <a:pt x="163" y="611"/>
                  </a:lnTo>
                  <a:lnTo>
                    <a:pt x="229" y="634"/>
                  </a:lnTo>
                  <a:lnTo>
                    <a:pt x="304" y="657"/>
                  </a:lnTo>
                  <a:lnTo>
                    <a:pt x="390" y="679"/>
                  </a:lnTo>
                  <a:lnTo>
                    <a:pt x="487" y="701"/>
                  </a:lnTo>
                  <a:lnTo>
                    <a:pt x="594" y="722"/>
                  </a:lnTo>
                  <a:lnTo>
                    <a:pt x="711" y="742"/>
                  </a:lnTo>
                  <a:lnTo>
                    <a:pt x="837" y="762"/>
                  </a:lnTo>
                  <a:lnTo>
                    <a:pt x="972" y="781"/>
                  </a:lnTo>
                  <a:lnTo>
                    <a:pt x="1114" y="800"/>
                  </a:lnTo>
                  <a:lnTo>
                    <a:pt x="1266" y="817"/>
                  </a:lnTo>
                  <a:lnTo>
                    <a:pt x="1427" y="833"/>
                  </a:lnTo>
                  <a:lnTo>
                    <a:pt x="1595" y="849"/>
                  </a:lnTo>
                  <a:lnTo>
                    <a:pt x="1770" y="865"/>
                  </a:lnTo>
                  <a:lnTo>
                    <a:pt x="1953" y="879"/>
                  </a:lnTo>
                  <a:lnTo>
                    <a:pt x="2143" y="893"/>
                  </a:lnTo>
                  <a:lnTo>
                    <a:pt x="2339" y="905"/>
                  </a:lnTo>
                  <a:lnTo>
                    <a:pt x="2542" y="917"/>
                  </a:lnTo>
                  <a:lnTo>
                    <a:pt x="2751" y="928"/>
                  </a:lnTo>
                  <a:lnTo>
                    <a:pt x="2965" y="938"/>
                  </a:lnTo>
                  <a:lnTo>
                    <a:pt x="3410" y="954"/>
                  </a:lnTo>
                  <a:lnTo>
                    <a:pt x="3874" y="966"/>
                  </a:lnTo>
                  <a:lnTo>
                    <a:pt x="4354" y="973"/>
                  </a:lnTo>
                  <a:lnTo>
                    <a:pt x="4848" y="976"/>
                  </a:lnTo>
                  <a:lnTo>
                    <a:pt x="5343" y="973"/>
                  </a:lnTo>
                  <a:lnTo>
                    <a:pt x="5824" y="966"/>
                  </a:lnTo>
                  <a:lnTo>
                    <a:pt x="6288" y="954"/>
                  </a:lnTo>
                  <a:lnTo>
                    <a:pt x="6732" y="938"/>
                  </a:lnTo>
                  <a:lnTo>
                    <a:pt x="6947" y="928"/>
                  </a:lnTo>
                  <a:lnTo>
                    <a:pt x="7155" y="917"/>
                  </a:lnTo>
                  <a:lnTo>
                    <a:pt x="7358" y="905"/>
                  </a:lnTo>
                  <a:lnTo>
                    <a:pt x="7555" y="893"/>
                  </a:lnTo>
                  <a:lnTo>
                    <a:pt x="7744" y="879"/>
                  </a:lnTo>
                  <a:lnTo>
                    <a:pt x="7927" y="865"/>
                  </a:lnTo>
                  <a:lnTo>
                    <a:pt x="8103" y="849"/>
                  </a:lnTo>
                  <a:lnTo>
                    <a:pt x="8271" y="834"/>
                  </a:lnTo>
                  <a:lnTo>
                    <a:pt x="8431" y="817"/>
                  </a:lnTo>
                  <a:lnTo>
                    <a:pt x="8582" y="800"/>
                  </a:lnTo>
                  <a:lnTo>
                    <a:pt x="8726" y="781"/>
                  </a:lnTo>
                  <a:lnTo>
                    <a:pt x="8861" y="762"/>
                  </a:lnTo>
                  <a:lnTo>
                    <a:pt x="8987" y="742"/>
                  </a:lnTo>
                  <a:lnTo>
                    <a:pt x="9103" y="722"/>
                  </a:lnTo>
                  <a:lnTo>
                    <a:pt x="9210" y="701"/>
                  </a:lnTo>
                  <a:lnTo>
                    <a:pt x="9306" y="679"/>
                  </a:lnTo>
                  <a:lnTo>
                    <a:pt x="9392" y="657"/>
                  </a:lnTo>
                  <a:lnTo>
                    <a:pt x="9468" y="634"/>
                  </a:lnTo>
                  <a:lnTo>
                    <a:pt x="9533" y="611"/>
                  </a:lnTo>
                  <a:lnTo>
                    <a:pt x="9586" y="588"/>
                  </a:lnTo>
                  <a:lnTo>
                    <a:pt x="9628" y="564"/>
                  </a:lnTo>
                  <a:lnTo>
                    <a:pt x="9659" y="540"/>
                  </a:lnTo>
                  <a:lnTo>
                    <a:pt x="9657" y="542"/>
                  </a:lnTo>
                  <a:lnTo>
                    <a:pt x="9676" y="517"/>
                  </a:lnTo>
                  <a:lnTo>
                    <a:pt x="9675" y="520"/>
                  </a:lnTo>
                  <a:lnTo>
                    <a:pt x="9681" y="495"/>
                  </a:lnTo>
                  <a:lnTo>
                    <a:pt x="9681" y="498"/>
                  </a:lnTo>
                  <a:lnTo>
                    <a:pt x="9675" y="473"/>
                  </a:lnTo>
                  <a:lnTo>
                    <a:pt x="9676" y="476"/>
                  </a:lnTo>
                  <a:lnTo>
                    <a:pt x="9657" y="451"/>
                  </a:lnTo>
                  <a:lnTo>
                    <a:pt x="9659" y="453"/>
                  </a:lnTo>
                  <a:lnTo>
                    <a:pt x="9628" y="429"/>
                  </a:lnTo>
                  <a:lnTo>
                    <a:pt x="9587" y="406"/>
                  </a:lnTo>
                  <a:lnTo>
                    <a:pt x="9534" y="382"/>
                  </a:lnTo>
                  <a:lnTo>
                    <a:pt x="9468" y="359"/>
                  </a:lnTo>
                  <a:lnTo>
                    <a:pt x="9392" y="336"/>
                  </a:lnTo>
                  <a:lnTo>
                    <a:pt x="9307" y="314"/>
                  </a:lnTo>
                  <a:lnTo>
                    <a:pt x="9210" y="293"/>
                  </a:lnTo>
                  <a:lnTo>
                    <a:pt x="9103" y="272"/>
                  </a:lnTo>
                  <a:lnTo>
                    <a:pt x="8987" y="251"/>
                  </a:lnTo>
                  <a:lnTo>
                    <a:pt x="8861" y="231"/>
                  </a:lnTo>
                  <a:lnTo>
                    <a:pt x="8726" y="212"/>
                  </a:lnTo>
                  <a:lnTo>
                    <a:pt x="8583" y="194"/>
                  </a:lnTo>
                  <a:lnTo>
                    <a:pt x="8431" y="176"/>
                  </a:lnTo>
                  <a:lnTo>
                    <a:pt x="8271" y="159"/>
                  </a:lnTo>
                  <a:lnTo>
                    <a:pt x="8103" y="143"/>
                  </a:lnTo>
                  <a:lnTo>
                    <a:pt x="7927" y="128"/>
                  </a:lnTo>
                  <a:lnTo>
                    <a:pt x="7744" y="113"/>
                  </a:lnTo>
                  <a:lnTo>
                    <a:pt x="7555" y="99"/>
                  </a:lnTo>
                  <a:lnTo>
                    <a:pt x="7358" y="87"/>
                  </a:lnTo>
                  <a:lnTo>
                    <a:pt x="7155" y="75"/>
                  </a:lnTo>
                  <a:lnTo>
                    <a:pt x="6947" y="64"/>
                  </a:lnTo>
                  <a:lnTo>
                    <a:pt x="6732" y="54"/>
                  </a:lnTo>
                  <a:lnTo>
                    <a:pt x="6288" y="38"/>
                  </a:lnTo>
                  <a:lnTo>
                    <a:pt x="5824" y="26"/>
                  </a:lnTo>
                  <a:lnTo>
                    <a:pt x="5343" y="19"/>
                  </a:lnTo>
                  <a:lnTo>
                    <a:pt x="4848" y="16"/>
                  </a:lnTo>
                  <a:lnTo>
                    <a:pt x="4354" y="18"/>
                  </a:lnTo>
                  <a:lnTo>
                    <a:pt x="3873" y="26"/>
                  </a:lnTo>
                  <a:lnTo>
                    <a:pt x="3410" y="38"/>
                  </a:lnTo>
                  <a:lnTo>
                    <a:pt x="2965" y="54"/>
                  </a:lnTo>
                  <a:lnTo>
                    <a:pt x="2751" y="64"/>
                  </a:lnTo>
                  <a:lnTo>
                    <a:pt x="2542" y="75"/>
                  </a:lnTo>
                  <a:lnTo>
                    <a:pt x="2339" y="87"/>
                  </a:lnTo>
                  <a:lnTo>
                    <a:pt x="2143" y="99"/>
                  </a:lnTo>
                  <a:lnTo>
                    <a:pt x="1953" y="113"/>
                  </a:lnTo>
                  <a:lnTo>
                    <a:pt x="1770" y="128"/>
                  </a:lnTo>
                  <a:lnTo>
                    <a:pt x="1595" y="143"/>
                  </a:lnTo>
                  <a:lnTo>
                    <a:pt x="1427" y="159"/>
                  </a:lnTo>
                  <a:lnTo>
                    <a:pt x="1266" y="176"/>
                  </a:lnTo>
                  <a:lnTo>
                    <a:pt x="1114" y="194"/>
                  </a:lnTo>
                  <a:lnTo>
                    <a:pt x="972" y="212"/>
                  </a:lnTo>
                  <a:lnTo>
                    <a:pt x="837" y="231"/>
                  </a:lnTo>
                  <a:lnTo>
                    <a:pt x="711" y="251"/>
                  </a:lnTo>
                  <a:lnTo>
                    <a:pt x="594" y="272"/>
                  </a:lnTo>
                  <a:lnTo>
                    <a:pt x="487" y="293"/>
                  </a:lnTo>
                  <a:lnTo>
                    <a:pt x="390" y="314"/>
                  </a:lnTo>
                  <a:lnTo>
                    <a:pt x="305" y="336"/>
                  </a:lnTo>
                  <a:lnTo>
                    <a:pt x="229" y="359"/>
                  </a:lnTo>
                  <a:lnTo>
                    <a:pt x="164" y="382"/>
                  </a:lnTo>
                  <a:lnTo>
                    <a:pt x="110" y="405"/>
                  </a:lnTo>
                  <a:lnTo>
                    <a:pt x="69" y="429"/>
                  </a:lnTo>
                  <a:lnTo>
                    <a:pt x="38" y="453"/>
                  </a:lnTo>
                  <a:lnTo>
                    <a:pt x="40" y="451"/>
                  </a:lnTo>
                  <a:lnTo>
                    <a:pt x="21" y="476"/>
                  </a:lnTo>
                  <a:lnTo>
                    <a:pt x="22" y="473"/>
                  </a:lnTo>
                  <a:lnTo>
                    <a:pt x="16" y="498"/>
                  </a:lnTo>
                  <a:lnTo>
                    <a:pt x="16" y="495"/>
                  </a:lnTo>
                  <a:lnTo>
                    <a:pt x="22" y="520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23" name="Rectangle 26">
              <a:extLst>
                <a:ext uri="{FF2B5EF4-FFF2-40B4-BE49-F238E27FC236}">
                  <a16:creationId xmlns:a16="http://schemas.microsoft.com/office/drawing/2014/main" id="{17F9BCB9-FFD3-4AD9-AF65-1ADC10F5E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" y="1039"/>
              <a:ext cx="21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Cloud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4" name="Rectangle 27">
              <a:extLst>
                <a:ext uri="{FF2B5EF4-FFF2-40B4-BE49-F238E27FC236}">
                  <a16:creationId xmlns:a16="http://schemas.microsoft.com/office/drawing/2014/main" id="{3D2BA994-6582-46C6-8328-3083EFAD3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" y="1039"/>
              <a:ext cx="27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-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5" name="Rectangle 28">
              <a:extLst>
                <a:ext uri="{FF2B5EF4-FFF2-40B4-BE49-F238E27FC236}">
                  <a16:creationId xmlns:a16="http://schemas.microsoft.com/office/drawing/2014/main" id="{98AFF0F1-60B4-4A06-84D8-728FFA6C9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6" y="1039"/>
              <a:ext cx="89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 dirty="0">
                  <a:solidFill>
                    <a:srgbClr val="000000"/>
                  </a:solidFill>
                </a:rPr>
                <a:t>based Services of Things</a:t>
              </a:r>
              <a:endParaRPr lang="ko-KR" altLang="ko-KR" sz="1662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64F00FB1-02C9-47FE-A301-CA7A33E4B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6" y="1691"/>
              <a:ext cx="753" cy="325"/>
            </a:xfrm>
            <a:custGeom>
              <a:avLst/>
              <a:gdLst>
                <a:gd name="T0" fmla="*/ 0 w 2528"/>
                <a:gd name="T1" fmla="*/ 182 h 1088"/>
                <a:gd name="T2" fmla="*/ 182 w 2528"/>
                <a:gd name="T3" fmla="*/ 0 h 1088"/>
                <a:gd name="T4" fmla="*/ 182 w 2528"/>
                <a:gd name="T5" fmla="*/ 0 h 1088"/>
                <a:gd name="T6" fmla="*/ 182 w 2528"/>
                <a:gd name="T7" fmla="*/ 0 h 1088"/>
                <a:gd name="T8" fmla="*/ 2347 w 2528"/>
                <a:gd name="T9" fmla="*/ 0 h 1088"/>
                <a:gd name="T10" fmla="*/ 2347 w 2528"/>
                <a:gd name="T11" fmla="*/ 0 h 1088"/>
                <a:gd name="T12" fmla="*/ 2528 w 2528"/>
                <a:gd name="T13" fmla="*/ 182 h 1088"/>
                <a:gd name="T14" fmla="*/ 2528 w 2528"/>
                <a:gd name="T15" fmla="*/ 182 h 1088"/>
                <a:gd name="T16" fmla="*/ 2528 w 2528"/>
                <a:gd name="T17" fmla="*/ 182 h 1088"/>
                <a:gd name="T18" fmla="*/ 2528 w 2528"/>
                <a:gd name="T19" fmla="*/ 907 h 1088"/>
                <a:gd name="T20" fmla="*/ 2528 w 2528"/>
                <a:gd name="T21" fmla="*/ 907 h 1088"/>
                <a:gd name="T22" fmla="*/ 2347 w 2528"/>
                <a:gd name="T23" fmla="*/ 1088 h 1088"/>
                <a:gd name="T24" fmla="*/ 2347 w 2528"/>
                <a:gd name="T25" fmla="*/ 1088 h 1088"/>
                <a:gd name="T26" fmla="*/ 2347 w 2528"/>
                <a:gd name="T27" fmla="*/ 1088 h 1088"/>
                <a:gd name="T28" fmla="*/ 182 w 2528"/>
                <a:gd name="T29" fmla="*/ 1088 h 1088"/>
                <a:gd name="T30" fmla="*/ 182 w 2528"/>
                <a:gd name="T31" fmla="*/ 1088 h 1088"/>
                <a:gd name="T32" fmla="*/ 0 w 2528"/>
                <a:gd name="T33" fmla="*/ 907 h 1088"/>
                <a:gd name="T34" fmla="*/ 0 w 2528"/>
                <a:gd name="T35" fmla="*/ 907 h 1088"/>
                <a:gd name="T36" fmla="*/ 0 w 2528"/>
                <a:gd name="T37" fmla="*/ 182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8" h="1088">
                  <a:moveTo>
                    <a:pt x="0" y="182"/>
                  </a:moveTo>
                  <a:cubicBezTo>
                    <a:pt x="0" y="82"/>
                    <a:pt x="82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lnTo>
                    <a:pt x="182" y="0"/>
                  </a:lnTo>
                  <a:lnTo>
                    <a:pt x="2347" y="0"/>
                  </a:lnTo>
                  <a:lnTo>
                    <a:pt x="2347" y="0"/>
                  </a:lnTo>
                  <a:cubicBezTo>
                    <a:pt x="2447" y="0"/>
                    <a:pt x="2528" y="82"/>
                    <a:pt x="2528" y="182"/>
                  </a:cubicBezTo>
                  <a:cubicBezTo>
                    <a:pt x="2528" y="182"/>
                    <a:pt x="2528" y="182"/>
                    <a:pt x="2528" y="182"/>
                  </a:cubicBezTo>
                  <a:lnTo>
                    <a:pt x="2528" y="182"/>
                  </a:lnTo>
                  <a:lnTo>
                    <a:pt x="2528" y="907"/>
                  </a:lnTo>
                  <a:lnTo>
                    <a:pt x="2528" y="907"/>
                  </a:lnTo>
                  <a:cubicBezTo>
                    <a:pt x="2528" y="1007"/>
                    <a:pt x="2447" y="1088"/>
                    <a:pt x="2347" y="1088"/>
                  </a:cubicBezTo>
                  <a:cubicBezTo>
                    <a:pt x="2347" y="1088"/>
                    <a:pt x="2347" y="1088"/>
                    <a:pt x="2347" y="1088"/>
                  </a:cubicBezTo>
                  <a:lnTo>
                    <a:pt x="2347" y="1088"/>
                  </a:lnTo>
                  <a:lnTo>
                    <a:pt x="182" y="1088"/>
                  </a:lnTo>
                  <a:lnTo>
                    <a:pt x="182" y="1088"/>
                  </a:lnTo>
                  <a:cubicBezTo>
                    <a:pt x="82" y="1088"/>
                    <a:pt x="0" y="1007"/>
                    <a:pt x="0" y="907"/>
                  </a:cubicBezTo>
                  <a:cubicBezTo>
                    <a:pt x="0" y="907"/>
                    <a:pt x="0" y="907"/>
                    <a:pt x="0" y="907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F87D9341-1A4B-48C9-865A-2B541C04CE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4" y="1689"/>
              <a:ext cx="758" cy="329"/>
            </a:xfrm>
            <a:custGeom>
              <a:avLst/>
              <a:gdLst>
                <a:gd name="T0" fmla="*/ 5 w 2544"/>
                <a:gd name="T1" fmla="*/ 151 h 1104"/>
                <a:gd name="T2" fmla="*/ 32 w 2544"/>
                <a:gd name="T3" fmla="*/ 85 h 1104"/>
                <a:gd name="T4" fmla="*/ 83 w 2544"/>
                <a:gd name="T5" fmla="*/ 33 h 1104"/>
                <a:gd name="T6" fmla="*/ 117 w 2544"/>
                <a:gd name="T7" fmla="*/ 15 h 1104"/>
                <a:gd name="T8" fmla="*/ 190 w 2544"/>
                <a:gd name="T9" fmla="*/ 1 h 1104"/>
                <a:gd name="T10" fmla="*/ 2394 w 2544"/>
                <a:gd name="T11" fmla="*/ 5 h 1104"/>
                <a:gd name="T12" fmla="*/ 2460 w 2544"/>
                <a:gd name="T13" fmla="*/ 32 h 1104"/>
                <a:gd name="T14" fmla="*/ 2490 w 2544"/>
                <a:gd name="T15" fmla="*/ 57 h 1104"/>
                <a:gd name="T16" fmla="*/ 2529 w 2544"/>
                <a:gd name="T17" fmla="*/ 116 h 1104"/>
                <a:gd name="T18" fmla="*/ 2540 w 2544"/>
                <a:gd name="T19" fmla="*/ 153 h 1104"/>
                <a:gd name="T20" fmla="*/ 2540 w 2544"/>
                <a:gd name="T21" fmla="*/ 952 h 1104"/>
                <a:gd name="T22" fmla="*/ 2529 w 2544"/>
                <a:gd name="T23" fmla="*/ 989 h 1104"/>
                <a:gd name="T24" fmla="*/ 2490 w 2544"/>
                <a:gd name="T25" fmla="*/ 1049 h 1104"/>
                <a:gd name="T26" fmla="*/ 2460 w 2544"/>
                <a:gd name="T27" fmla="*/ 1072 h 1104"/>
                <a:gd name="T28" fmla="*/ 2394 w 2544"/>
                <a:gd name="T29" fmla="*/ 1100 h 1104"/>
                <a:gd name="T30" fmla="*/ 190 w 2544"/>
                <a:gd name="T31" fmla="*/ 1104 h 1104"/>
                <a:gd name="T32" fmla="*/ 117 w 2544"/>
                <a:gd name="T33" fmla="*/ 1090 h 1104"/>
                <a:gd name="T34" fmla="*/ 83 w 2544"/>
                <a:gd name="T35" fmla="*/ 1072 h 1104"/>
                <a:gd name="T36" fmla="*/ 33 w 2544"/>
                <a:gd name="T37" fmla="*/ 1022 h 1104"/>
                <a:gd name="T38" fmla="*/ 15 w 2544"/>
                <a:gd name="T39" fmla="*/ 988 h 1104"/>
                <a:gd name="T40" fmla="*/ 1 w 2544"/>
                <a:gd name="T41" fmla="*/ 916 h 1104"/>
                <a:gd name="T42" fmla="*/ 20 w 2544"/>
                <a:gd name="T43" fmla="*/ 951 h 1104"/>
                <a:gd name="T44" fmla="*/ 29 w 2544"/>
                <a:gd name="T45" fmla="*/ 982 h 1104"/>
                <a:gd name="T46" fmla="*/ 69 w 2544"/>
                <a:gd name="T47" fmla="*/ 1038 h 1104"/>
                <a:gd name="T48" fmla="*/ 92 w 2544"/>
                <a:gd name="T49" fmla="*/ 1058 h 1104"/>
                <a:gd name="T50" fmla="*/ 156 w 2544"/>
                <a:gd name="T51" fmla="*/ 1085 h 1104"/>
                <a:gd name="T52" fmla="*/ 2355 w 2544"/>
                <a:gd name="T53" fmla="*/ 1089 h 1104"/>
                <a:gd name="T54" fmla="*/ 2423 w 2544"/>
                <a:gd name="T55" fmla="*/ 1075 h 1104"/>
                <a:gd name="T56" fmla="*/ 2451 w 2544"/>
                <a:gd name="T57" fmla="*/ 1059 h 1104"/>
                <a:gd name="T58" fmla="*/ 2499 w 2544"/>
                <a:gd name="T59" fmla="*/ 1011 h 1104"/>
                <a:gd name="T60" fmla="*/ 2515 w 2544"/>
                <a:gd name="T61" fmla="*/ 983 h 1104"/>
                <a:gd name="T62" fmla="*/ 2528 w 2544"/>
                <a:gd name="T63" fmla="*/ 915 h 1104"/>
                <a:gd name="T64" fmla="*/ 2525 w 2544"/>
                <a:gd name="T65" fmla="*/ 156 h 1104"/>
                <a:gd name="T66" fmla="*/ 2498 w 2544"/>
                <a:gd name="T67" fmla="*/ 92 h 1104"/>
                <a:gd name="T68" fmla="*/ 2478 w 2544"/>
                <a:gd name="T69" fmla="*/ 69 h 1104"/>
                <a:gd name="T70" fmla="*/ 2422 w 2544"/>
                <a:gd name="T71" fmla="*/ 29 h 1104"/>
                <a:gd name="T72" fmla="*/ 2391 w 2544"/>
                <a:gd name="T73" fmla="*/ 20 h 1104"/>
                <a:gd name="T74" fmla="*/ 154 w 2544"/>
                <a:gd name="T75" fmla="*/ 20 h 1104"/>
                <a:gd name="T76" fmla="*/ 123 w 2544"/>
                <a:gd name="T77" fmla="*/ 29 h 1104"/>
                <a:gd name="T78" fmla="*/ 68 w 2544"/>
                <a:gd name="T79" fmla="*/ 68 h 1104"/>
                <a:gd name="T80" fmla="*/ 29 w 2544"/>
                <a:gd name="T81" fmla="*/ 123 h 1104"/>
                <a:gd name="T82" fmla="*/ 20 w 2544"/>
                <a:gd name="T83" fmla="*/ 154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44" h="1104">
                  <a:moveTo>
                    <a:pt x="0" y="190"/>
                  </a:moveTo>
                  <a:lnTo>
                    <a:pt x="5" y="153"/>
                  </a:lnTo>
                  <a:cubicBezTo>
                    <a:pt x="5" y="152"/>
                    <a:pt x="5" y="152"/>
                    <a:pt x="5" y="151"/>
                  </a:cubicBezTo>
                  <a:lnTo>
                    <a:pt x="15" y="117"/>
                  </a:lnTo>
                  <a:cubicBezTo>
                    <a:pt x="15" y="117"/>
                    <a:pt x="15" y="116"/>
                    <a:pt x="15" y="116"/>
                  </a:cubicBezTo>
                  <a:lnTo>
                    <a:pt x="32" y="85"/>
                  </a:lnTo>
                  <a:cubicBezTo>
                    <a:pt x="33" y="84"/>
                    <a:pt x="33" y="84"/>
                    <a:pt x="33" y="83"/>
                  </a:cubicBezTo>
                  <a:lnTo>
                    <a:pt x="56" y="57"/>
                  </a:lnTo>
                  <a:lnTo>
                    <a:pt x="83" y="33"/>
                  </a:lnTo>
                  <a:cubicBezTo>
                    <a:pt x="84" y="33"/>
                    <a:pt x="84" y="33"/>
                    <a:pt x="85" y="32"/>
                  </a:cubicBezTo>
                  <a:lnTo>
                    <a:pt x="116" y="15"/>
                  </a:lnTo>
                  <a:cubicBezTo>
                    <a:pt x="116" y="15"/>
                    <a:pt x="117" y="15"/>
                    <a:pt x="117" y="15"/>
                  </a:cubicBezTo>
                  <a:lnTo>
                    <a:pt x="151" y="5"/>
                  </a:lnTo>
                  <a:cubicBezTo>
                    <a:pt x="152" y="5"/>
                    <a:pt x="152" y="5"/>
                    <a:pt x="153" y="5"/>
                  </a:cubicBezTo>
                  <a:lnTo>
                    <a:pt x="190" y="1"/>
                  </a:lnTo>
                  <a:lnTo>
                    <a:pt x="2355" y="0"/>
                  </a:lnTo>
                  <a:lnTo>
                    <a:pt x="2392" y="5"/>
                  </a:lnTo>
                  <a:cubicBezTo>
                    <a:pt x="2393" y="5"/>
                    <a:pt x="2393" y="5"/>
                    <a:pt x="2394" y="5"/>
                  </a:cubicBezTo>
                  <a:lnTo>
                    <a:pt x="2428" y="15"/>
                  </a:lnTo>
                  <a:cubicBezTo>
                    <a:pt x="2428" y="15"/>
                    <a:pt x="2429" y="15"/>
                    <a:pt x="2429" y="15"/>
                  </a:cubicBezTo>
                  <a:lnTo>
                    <a:pt x="2460" y="32"/>
                  </a:lnTo>
                  <a:cubicBezTo>
                    <a:pt x="2461" y="33"/>
                    <a:pt x="2461" y="33"/>
                    <a:pt x="2462" y="33"/>
                  </a:cubicBezTo>
                  <a:lnTo>
                    <a:pt x="2489" y="56"/>
                  </a:lnTo>
                  <a:cubicBezTo>
                    <a:pt x="2489" y="57"/>
                    <a:pt x="2489" y="57"/>
                    <a:pt x="2490" y="57"/>
                  </a:cubicBezTo>
                  <a:lnTo>
                    <a:pt x="2512" y="83"/>
                  </a:lnTo>
                  <a:cubicBezTo>
                    <a:pt x="2512" y="84"/>
                    <a:pt x="2512" y="84"/>
                    <a:pt x="2512" y="85"/>
                  </a:cubicBezTo>
                  <a:lnTo>
                    <a:pt x="2529" y="116"/>
                  </a:lnTo>
                  <a:cubicBezTo>
                    <a:pt x="2530" y="116"/>
                    <a:pt x="2530" y="117"/>
                    <a:pt x="2530" y="117"/>
                  </a:cubicBezTo>
                  <a:lnTo>
                    <a:pt x="2540" y="151"/>
                  </a:lnTo>
                  <a:cubicBezTo>
                    <a:pt x="2540" y="152"/>
                    <a:pt x="2540" y="152"/>
                    <a:pt x="2540" y="153"/>
                  </a:cubicBezTo>
                  <a:lnTo>
                    <a:pt x="2544" y="190"/>
                  </a:lnTo>
                  <a:lnTo>
                    <a:pt x="2544" y="915"/>
                  </a:lnTo>
                  <a:lnTo>
                    <a:pt x="2540" y="952"/>
                  </a:lnTo>
                  <a:cubicBezTo>
                    <a:pt x="2540" y="953"/>
                    <a:pt x="2540" y="953"/>
                    <a:pt x="2540" y="954"/>
                  </a:cubicBezTo>
                  <a:lnTo>
                    <a:pt x="2530" y="988"/>
                  </a:lnTo>
                  <a:cubicBezTo>
                    <a:pt x="2530" y="988"/>
                    <a:pt x="2530" y="989"/>
                    <a:pt x="2529" y="989"/>
                  </a:cubicBezTo>
                  <a:lnTo>
                    <a:pt x="2512" y="1020"/>
                  </a:lnTo>
                  <a:cubicBezTo>
                    <a:pt x="2512" y="1021"/>
                    <a:pt x="2512" y="1021"/>
                    <a:pt x="2512" y="1022"/>
                  </a:cubicBezTo>
                  <a:lnTo>
                    <a:pt x="2490" y="1049"/>
                  </a:lnTo>
                  <a:cubicBezTo>
                    <a:pt x="2489" y="1049"/>
                    <a:pt x="2489" y="1049"/>
                    <a:pt x="2489" y="1050"/>
                  </a:cubicBezTo>
                  <a:lnTo>
                    <a:pt x="2462" y="1072"/>
                  </a:lnTo>
                  <a:cubicBezTo>
                    <a:pt x="2461" y="1072"/>
                    <a:pt x="2461" y="1072"/>
                    <a:pt x="2460" y="1072"/>
                  </a:cubicBezTo>
                  <a:lnTo>
                    <a:pt x="2429" y="1089"/>
                  </a:lnTo>
                  <a:cubicBezTo>
                    <a:pt x="2429" y="1090"/>
                    <a:pt x="2428" y="1090"/>
                    <a:pt x="2428" y="1090"/>
                  </a:cubicBezTo>
                  <a:lnTo>
                    <a:pt x="2394" y="1100"/>
                  </a:lnTo>
                  <a:cubicBezTo>
                    <a:pt x="2393" y="1100"/>
                    <a:pt x="2393" y="1100"/>
                    <a:pt x="2392" y="1100"/>
                  </a:cubicBezTo>
                  <a:lnTo>
                    <a:pt x="2356" y="1104"/>
                  </a:lnTo>
                  <a:lnTo>
                    <a:pt x="190" y="1104"/>
                  </a:lnTo>
                  <a:lnTo>
                    <a:pt x="153" y="1100"/>
                  </a:lnTo>
                  <a:cubicBezTo>
                    <a:pt x="152" y="1100"/>
                    <a:pt x="152" y="1100"/>
                    <a:pt x="151" y="1100"/>
                  </a:cubicBezTo>
                  <a:lnTo>
                    <a:pt x="117" y="1090"/>
                  </a:lnTo>
                  <a:cubicBezTo>
                    <a:pt x="117" y="1090"/>
                    <a:pt x="116" y="1090"/>
                    <a:pt x="116" y="1089"/>
                  </a:cubicBezTo>
                  <a:lnTo>
                    <a:pt x="85" y="1072"/>
                  </a:lnTo>
                  <a:cubicBezTo>
                    <a:pt x="84" y="1072"/>
                    <a:pt x="84" y="1072"/>
                    <a:pt x="83" y="1072"/>
                  </a:cubicBezTo>
                  <a:lnTo>
                    <a:pt x="57" y="1050"/>
                  </a:lnTo>
                  <a:cubicBezTo>
                    <a:pt x="57" y="1049"/>
                    <a:pt x="57" y="1049"/>
                    <a:pt x="56" y="1049"/>
                  </a:cubicBezTo>
                  <a:lnTo>
                    <a:pt x="33" y="1022"/>
                  </a:lnTo>
                  <a:cubicBezTo>
                    <a:pt x="33" y="1021"/>
                    <a:pt x="33" y="1021"/>
                    <a:pt x="32" y="1020"/>
                  </a:cubicBezTo>
                  <a:lnTo>
                    <a:pt x="15" y="989"/>
                  </a:lnTo>
                  <a:cubicBezTo>
                    <a:pt x="15" y="989"/>
                    <a:pt x="15" y="988"/>
                    <a:pt x="15" y="988"/>
                  </a:cubicBezTo>
                  <a:lnTo>
                    <a:pt x="5" y="954"/>
                  </a:lnTo>
                  <a:cubicBezTo>
                    <a:pt x="5" y="953"/>
                    <a:pt x="5" y="953"/>
                    <a:pt x="5" y="952"/>
                  </a:cubicBezTo>
                  <a:lnTo>
                    <a:pt x="1" y="916"/>
                  </a:lnTo>
                  <a:lnTo>
                    <a:pt x="0" y="190"/>
                  </a:lnTo>
                  <a:close/>
                  <a:moveTo>
                    <a:pt x="16" y="915"/>
                  </a:moveTo>
                  <a:lnTo>
                    <a:pt x="20" y="951"/>
                  </a:lnTo>
                  <a:lnTo>
                    <a:pt x="20" y="949"/>
                  </a:lnTo>
                  <a:lnTo>
                    <a:pt x="30" y="983"/>
                  </a:lnTo>
                  <a:lnTo>
                    <a:pt x="29" y="982"/>
                  </a:lnTo>
                  <a:lnTo>
                    <a:pt x="46" y="1013"/>
                  </a:lnTo>
                  <a:lnTo>
                    <a:pt x="46" y="1011"/>
                  </a:lnTo>
                  <a:lnTo>
                    <a:pt x="69" y="1038"/>
                  </a:lnTo>
                  <a:lnTo>
                    <a:pt x="68" y="1037"/>
                  </a:lnTo>
                  <a:lnTo>
                    <a:pt x="94" y="1059"/>
                  </a:lnTo>
                  <a:lnTo>
                    <a:pt x="92" y="1058"/>
                  </a:lnTo>
                  <a:lnTo>
                    <a:pt x="123" y="1075"/>
                  </a:lnTo>
                  <a:lnTo>
                    <a:pt x="122" y="1075"/>
                  </a:lnTo>
                  <a:lnTo>
                    <a:pt x="156" y="1085"/>
                  </a:lnTo>
                  <a:lnTo>
                    <a:pt x="154" y="1085"/>
                  </a:lnTo>
                  <a:lnTo>
                    <a:pt x="190" y="1088"/>
                  </a:lnTo>
                  <a:lnTo>
                    <a:pt x="2355" y="1089"/>
                  </a:lnTo>
                  <a:lnTo>
                    <a:pt x="2391" y="1085"/>
                  </a:lnTo>
                  <a:lnTo>
                    <a:pt x="2389" y="1085"/>
                  </a:lnTo>
                  <a:lnTo>
                    <a:pt x="2423" y="1075"/>
                  </a:lnTo>
                  <a:lnTo>
                    <a:pt x="2422" y="1075"/>
                  </a:lnTo>
                  <a:lnTo>
                    <a:pt x="2453" y="1058"/>
                  </a:lnTo>
                  <a:lnTo>
                    <a:pt x="2451" y="1059"/>
                  </a:lnTo>
                  <a:lnTo>
                    <a:pt x="2478" y="1037"/>
                  </a:lnTo>
                  <a:lnTo>
                    <a:pt x="2477" y="1038"/>
                  </a:lnTo>
                  <a:lnTo>
                    <a:pt x="2499" y="1011"/>
                  </a:lnTo>
                  <a:lnTo>
                    <a:pt x="2498" y="1013"/>
                  </a:lnTo>
                  <a:lnTo>
                    <a:pt x="2515" y="982"/>
                  </a:lnTo>
                  <a:lnTo>
                    <a:pt x="2515" y="983"/>
                  </a:lnTo>
                  <a:lnTo>
                    <a:pt x="2525" y="949"/>
                  </a:lnTo>
                  <a:lnTo>
                    <a:pt x="2525" y="951"/>
                  </a:lnTo>
                  <a:lnTo>
                    <a:pt x="2528" y="915"/>
                  </a:lnTo>
                  <a:lnTo>
                    <a:pt x="2529" y="191"/>
                  </a:lnTo>
                  <a:lnTo>
                    <a:pt x="2525" y="154"/>
                  </a:lnTo>
                  <a:lnTo>
                    <a:pt x="2525" y="156"/>
                  </a:lnTo>
                  <a:lnTo>
                    <a:pt x="2515" y="122"/>
                  </a:lnTo>
                  <a:lnTo>
                    <a:pt x="2515" y="123"/>
                  </a:lnTo>
                  <a:lnTo>
                    <a:pt x="2498" y="92"/>
                  </a:lnTo>
                  <a:lnTo>
                    <a:pt x="2499" y="94"/>
                  </a:lnTo>
                  <a:lnTo>
                    <a:pt x="2477" y="68"/>
                  </a:lnTo>
                  <a:lnTo>
                    <a:pt x="2478" y="69"/>
                  </a:lnTo>
                  <a:lnTo>
                    <a:pt x="2451" y="46"/>
                  </a:lnTo>
                  <a:lnTo>
                    <a:pt x="2453" y="46"/>
                  </a:lnTo>
                  <a:lnTo>
                    <a:pt x="2422" y="29"/>
                  </a:lnTo>
                  <a:lnTo>
                    <a:pt x="2423" y="30"/>
                  </a:lnTo>
                  <a:lnTo>
                    <a:pt x="2389" y="20"/>
                  </a:lnTo>
                  <a:lnTo>
                    <a:pt x="2391" y="20"/>
                  </a:lnTo>
                  <a:lnTo>
                    <a:pt x="2355" y="16"/>
                  </a:lnTo>
                  <a:lnTo>
                    <a:pt x="191" y="16"/>
                  </a:lnTo>
                  <a:lnTo>
                    <a:pt x="154" y="20"/>
                  </a:lnTo>
                  <a:lnTo>
                    <a:pt x="156" y="20"/>
                  </a:lnTo>
                  <a:lnTo>
                    <a:pt x="122" y="30"/>
                  </a:lnTo>
                  <a:lnTo>
                    <a:pt x="123" y="29"/>
                  </a:lnTo>
                  <a:lnTo>
                    <a:pt x="92" y="46"/>
                  </a:lnTo>
                  <a:lnTo>
                    <a:pt x="94" y="45"/>
                  </a:lnTo>
                  <a:lnTo>
                    <a:pt x="68" y="68"/>
                  </a:lnTo>
                  <a:lnTo>
                    <a:pt x="45" y="94"/>
                  </a:lnTo>
                  <a:lnTo>
                    <a:pt x="46" y="92"/>
                  </a:lnTo>
                  <a:lnTo>
                    <a:pt x="29" y="123"/>
                  </a:lnTo>
                  <a:lnTo>
                    <a:pt x="30" y="122"/>
                  </a:lnTo>
                  <a:lnTo>
                    <a:pt x="20" y="156"/>
                  </a:lnTo>
                  <a:lnTo>
                    <a:pt x="20" y="154"/>
                  </a:lnTo>
                  <a:lnTo>
                    <a:pt x="16" y="190"/>
                  </a:lnTo>
                  <a:lnTo>
                    <a:pt x="16" y="915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28" name="Rectangle 31">
              <a:extLst>
                <a:ext uri="{FF2B5EF4-FFF2-40B4-BE49-F238E27FC236}">
                  <a16:creationId xmlns:a16="http://schemas.microsoft.com/office/drawing/2014/main" id="{7BA397C9-5727-4F58-8785-9CD898F43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5" y="1751"/>
              <a:ext cx="336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Software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9" name="Rectangle 32">
              <a:extLst>
                <a:ext uri="{FF2B5EF4-FFF2-40B4-BE49-F238E27FC236}">
                  <a16:creationId xmlns:a16="http://schemas.microsoft.com/office/drawing/2014/main" id="{5BD09BFA-754E-443E-9C2D-B66C849DA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" y="1856"/>
              <a:ext cx="27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>
                  <a:solidFill>
                    <a:srgbClr val="000000"/>
                  </a:solidFill>
                </a:rPr>
                <a:t>(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" name="Rectangle 33">
              <a:extLst>
                <a:ext uri="{FF2B5EF4-FFF2-40B4-BE49-F238E27FC236}">
                  <a16:creationId xmlns:a16="http://schemas.microsoft.com/office/drawing/2014/main" id="{193B9952-C914-4BBD-9ABE-E2B71B4B2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" y="1856"/>
              <a:ext cx="166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>
                  <a:solidFill>
                    <a:srgbClr val="000000"/>
                  </a:solidFill>
                </a:rPr>
                <a:t>SaaS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1" name="Rectangle 34">
              <a:extLst>
                <a:ext uri="{FF2B5EF4-FFF2-40B4-BE49-F238E27FC236}">
                  <a16:creationId xmlns:a16="http://schemas.microsoft.com/office/drawing/2014/main" id="{97D5B35C-B44F-4C9C-BA50-6382C5742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6" y="1856"/>
              <a:ext cx="27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>
                  <a:solidFill>
                    <a:srgbClr val="000000"/>
                  </a:solidFill>
                </a:rPr>
                <a:t>)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CFC045C4-72A0-4E82-BFC9-8D6A0DE6B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" y="2197"/>
              <a:ext cx="2593" cy="357"/>
            </a:xfrm>
            <a:custGeom>
              <a:avLst/>
              <a:gdLst>
                <a:gd name="T0" fmla="*/ 0 w 2593"/>
                <a:gd name="T1" fmla="*/ 0 h 357"/>
                <a:gd name="T2" fmla="*/ 385 w 2593"/>
                <a:gd name="T3" fmla="*/ 357 h 357"/>
                <a:gd name="T4" fmla="*/ 2208 w 2593"/>
                <a:gd name="T5" fmla="*/ 357 h 357"/>
                <a:gd name="T6" fmla="*/ 2593 w 2593"/>
                <a:gd name="T7" fmla="*/ 0 h 357"/>
                <a:gd name="T8" fmla="*/ 0 w 2593"/>
                <a:gd name="T9" fmla="*/ 0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93" h="357">
                  <a:moveTo>
                    <a:pt x="0" y="0"/>
                  </a:moveTo>
                  <a:lnTo>
                    <a:pt x="385" y="357"/>
                  </a:lnTo>
                  <a:lnTo>
                    <a:pt x="2208" y="357"/>
                  </a:lnTo>
                  <a:lnTo>
                    <a:pt x="25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CD043670-B241-42D2-9D8F-00076EAACA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6" y="2194"/>
              <a:ext cx="2598" cy="363"/>
            </a:xfrm>
            <a:custGeom>
              <a:avLst/>
              <a:gdLst>
                <a:gd name="T0" fmla="*/ 8 w 8721"/>
                <a:gd name="T1" fmla="*/ 16 h 1216"/>
                <a:gd name="T2" fmla="*/ 14 w 8721"/>
                <a:gd name="T3" fmla="*/ 3 h 1216"/>
                <a:gd name="T4" fmla="*/ 1305 w 8721"/>
                <a:gd name="T5" fmla="*/ 1203 h 1216"/>
                <a:gd name="T6" fmla="*/ 1300 w 8721"/>
                <a:gd name="T7" fmla="*/ 1200 h 1216"/>
                <a:gd name="T8" fmla="*/ 7421 w 8721"/>
                <a:gd name="T9" fmla="*/ 1200 h 1216"/>
                <a:gd name="T10" fmla="*/ 7416 w 8721"/>
                <a:gd name="T11" fmla="*/ 1203 h 1216"/>
                <a:gd name="T12" fmla="*/ 8707 w 8721"/>
                <a:gd name="T13" fmla="*/ 3 h 1216"/>
                <a:gd name="T14" fmla="*/ 8712 w 8721"/>
                <a:gd name="T15" fmla="*/ 16 h 1216"/>
                <a:gd name="T16" fmla="*/ 8 w 8721"/>
                <a:gd name="T17" fmla="*/ 16 h 1216"/>
                <a:gd name="T18" fmla="*/ 8712 w 8721"/>
                <a:gd name="T19" fmla="*/ 0 h 1216"/>
                <a:gd name="T20" fmla="*/ 8720 w 8721"/>
                <a:gd name="T21" fmla="*/ 6 h 1216"/>
                <a:gd name="T22" fmla="*/ 8718 w 8721"/>
                <a:gd name="T23" fmla="*/ 14 h 1216"/>
                <a:gd name="T24" fmla="*/ 7427 w 8721"/>
                <a:gd name="T25" fmla="*/ 1214 h 1216"/>
                <a:gd name="T26" fmla="*/ 7421 w 8721"/>
                <a:gd name="T27" fmla="*/ 1216 h 1216"/>
                <a:gd name="T28" fmla="*/ 1300 w 8721"/>
                <a:gd name="T29" fmla="*/ 1216 h 1216"/>
                <a:gd name="T30" fmla="*/ 1294 w 8721"/>
                <a:gd name="T31" fmla="*/ 1214 h 1216"/>
                <a:gd name="T32" fmla="*/ 3 w 8721"/>
                <a:gd name="T33" fmla="*/ 14 h 1216"/>
                <a:gd name="T34" fmla="*/ 1 w 8721"/>
                <a:gd name="T35" fmla="*/ 6 h 1216"/>
                <a:gd name="T36" fmla="*/ 8 w 8721"/>
                <a:gd name="T37" fmla="*/ 0 h 1216"/>
                <a:gd name="T38" fmla="*/ 8712 w 8721"/>
                <a:gd name="T39" fmla="*/ 0 h 1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721" h="1216">
                  <a:moveTo>
                    <a:pt x="8" y="16"/>
                  </a:moveTo>
                  <a:lnTo>
                    <a:pt x="14" y="3"/>
                  </a:lnTo>
                  <a:lnTo>
                    <a:pt x="1305" y="1203"/>
                  </a:lnTo>
                  <a:lnTo>
                    <a:pt x="1300" y="1200"/>
                  </a:lnTo>
                  <a:lnTo>
                    <a:pt x="7421" y="1200"/>
                  </a:lnTo>
                  <a:lnTo>
                    <a:pt x="7416" y="1203"/>
                  </a:lnTo>
                  <a:lnTo>
                    <a:pt x="8707" y="3"/>
                  </a:lnTo>
                  <a:lnTo>
                    <a:pt x="8712" y="16"/>
                  </a:lnTo>
                  <a:lnTo>
                    <a:pt x="8" y="16"/>
                  </a:lnTo>
                  <a:close/>
                  <a:moveTo>
                    <a:pt x="8712" y="0"/>
                  </a:moveTo>
                  <a:cubicBezTo>
                    <a:pt x="8716" y="0"/>
                    <a:pt x="8719" y="2"/>
                    <a:pt x="8720" y="6"/>
                  </a:cubicBezTo>
                  <a:cubicBezTo>
                    <a:pt x="8721" y="9"/>
                    <a:pt x="8720" y="12"/>
                    <a:pt x="8718" y="14"/>
                  </a:cubicBezTo>
                  <a:lnTo>
                    <a:pt x="7427" y="1214"/>
                  </a:lnTo>
                  <a:cubicBezTo>
                    <a:pt x="7425" y="1216"/>
                    <a:pt x="7423" y="1216"/>
                    <a:pt x="7421" y="1216"/>
                  </a:cubicBezTo>
                  <a:lnTo>
                    <a:pt x="1300" y="1216"/>
                  </a:lnTo>
                  <a:cubicBezTo>
                    <a:pt x="1298" y="1216"/>
                    <a:pt x="1296" y="1216"/>
                    <a:pt x="1294" y="1214"/>
                  </a:cubicBezTo>
                  <a:lnTo>
                    <a:pt x="3" y="14"/>
                  </a:lnTo>
                  <a:cubicBezTo>
                    <a:pt x="1" y="12"/>
                    <a:pt x="0" y="9"/>
                    <a:pt x="1" y="6"/>
                  </a:cubicBezTo>
                  <a:cubicBezTo>
                    <a:pt x="2" y="2"/>
                    <a:pt x="5" y="0"/>
                    <a:pt x="8" y="0"/>
                  </a:cubicBezTo>
                  <a:lnTo>
                    <a:pt x="8712" y="0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34" name="Rectangle 37">
              <a:extLst>
                <a:ext uri="{FF2B5EF4-FFF2-40B4-BE49-F238E27FC236}">
                  <a16:creationId xmlns:a16="http://schemas.microsoft.com/office/drawing/2014/main" id="{BE4A1B8A-5EB0-4CB5-AF82-272D72F4F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5" y="2265"/>
              <a:ext cx="645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 dirty="0">
                  <a:solidFill>
                    <a:srgbClr val="000000"/>
                  </a:solidFill>
                </a:rPr>
                <a:t>Virtual Resources</a:t>
              </a:r>
              <a:endParaRPr lang="ko-KR" altLang="ko-KR" sz="1662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" name="Rectangle 38">
              <a:extLst>
                <a:ext uri="{FF2B5EF4-FFF2-40B4-BE49-F238E27FC236}">
                  <a16:creationId xmlns:a16="http://schemas.microsoft.com/office/drawing/2014/main" id="{8BC55F96-1431-4914-BD1E-4EAEBFE6F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" y="2374"/>
              <a:ext cx="195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923" dirty="0">
                  <a:solidFill>
                    <a:srgbClr val="000000"/>
                  </a:solidFill>
                </a:rPr>
                <a:t>(Control, transport, computing &amp; storage, access resources)</a:t>
              </a:r>
              <a:endParaRPr lang="ko-KR" altLang="ko-KR" sz="1662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" name="Freeform 39">
              <a:extLst>
                <a:ext uri="{FF2B5EF4-FFF2-40B4-BE49-F238E27FC236}">
                  <a16:creationId xmlns:a16="http://schemas.microsoft.com/office/drawing/2014/main" id="{B8149B47-742E-4EF9-9B74-CF97BC527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9" y="1691"/>
              <a:ext cx="758" cy="325"/>
            </a:xfrm>
            <a:custGeom>
              <a:avLst/>
              <a:gdLst>
                <a:gd name="T0" fmla="*/ 0 w 2544"/>
                <a:gd name="T1" fmla="*/ 182 h 1088"/>
                <a:gd name="T2" fmla="*/ 182 w 2544"/>
                <a:gd name="T3" fmla="*/ 0 h 1088"/>
                <a:gd name="T4" fmla="*/ 182 w 2544"/>
                <a:gd name="T5" fmla="*/ 0 h 1088"/>
                <a:gd name="T6" fmla="*/ 182 w 2544"/>
                <a:gd name="T7" fmla="*/ 0 h 1088"/>
                <a:gd name="T8" fmla="*/ 2363 w 2544"/>
                <a:gd name="T9" fmla="*/ 0 h 1088"/>
                <a:gd name="T10" fmla="*/ 2363 w 2544"/>
                <a:gd name="T11" fmla="*/ 0 h 1088"/>
                <a:gd name="T12" fmla="*/ 2544 w 2544"/>
                <a:gd name="T13" fmla="*/ 182 h 1088"/>
                <a:gd name="T14" fmla="*/ 2544 w 2544"/>
                <a:gd name="T15" fmla="*/ 182 h 1088"/>
                <a:gd name="T16" fmla="*/ 2544 w 2544"/>
                <a:gd name="T17" fmla="*/ 182 h 1088"/>
                <a:gd name="T18" fmla="*/ 2544 w 2544"/>
                <a:gd name="T19" fmla="*/ 907 h 1088"/>
                <a:gd name="T20" fmla="*/ 2544 w 2544"/>
                <a:gd name="T21" fmla="*/ 907 h 1088"/>
                <a:gd name="T22" fmla="*/ 2363 w 2544"/>
                <a:gd name="T23" fmla="*/ 1088 h 1088"/>
                <a:gd name="T24" fmla="*/ 2363 w 2544"/>
                <a:gd name="T25" fmla="*/ 1088 h 1088"/>
                <a:gd name="T26" fmla="*/ 2363 w 2544"/>
                <a:gd name="T27" fmla="*/ 1088 h 1088"/>
                <a:gd name="T28" fmla="*/ 182 w 2544"/>
                <a:gd name="T29" fmla="*/ 1088 h 1088"/>
                <a:gd name="T30" fmla="*/ 182 w 2544"/>
                <a:gd name="T31" fmla="*/ 1088 h 1088"/>
                <a:gd name="T32" fmla="*/ 0 w 2544"/>
                <a:gd name="T33" fmla="*/ 907 h 1088"/>
                <a:gd name="T34" fmla="*/ 0 w 2544"/>
                <a:gd name="T35" fmla="*/ 907 h 1088"/>
                <a:gd name="T36" fmla="*/ 0 w 2544"/>
                <a:gd name="T37" fmla="*/ 182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44" h="1088">
                  <a:moveTo>
                    <a:pt x="0" y="182"/>
                  </a:moveTo>
                  <a:cubicBezTo>
                    <a:pt x="0" y="82"/>
                    <a:pt x="82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lnTo>
                    <a:pt x="182" y="0"/>
                  </a:lnTo>
                  <a:lnTo>
                    <a:pt x="2363" y="0"/>
                  </a:lnTo>
                  <a:lnTo>
                    <a:pt x="2363" y="0"/>
                  </a:lnTo>
                  <a:cubicBezTo>
                    <a:pt x="2463" y="0"/>
                    <a:pt x="2544" y="82"/>
                    <a:pt x="2544" y="182"/>
                  </a:cubicBezTo>
                  <a:cubicBezTo>
                    <a:pt x="2544" y="182"/>
                    <a:pt x="2544" y="182"/>
                    <a:pt x="2544" y="182"/>
                  </a:cubicBezTo>
                  <a:lnTo>
                    <a:pt x="2544" y="182"/>
                  </a:lnTo>
                  <a:lnTo>
                    <a:pt x="2544" y="907"/>
                  </a:lnTo>
                  <a:lnTo>
                    <a:pt x="2544" y="907"/>
                  </a:lnTo>
                  <a:cubicBezTo>
                    <a:pt x="2544" y="1007"/>
                    <a:pt x="2463" y="1088"/>
                    <a:pt x="2363" y="1088"/>
                  </a:cubicBezTo>
                  <a:cubicBezTo>
                    <a:pt x="2363" y="1088"/>
                    <a:pt x="2363" y="1088"/>
                    <a:pt x="2363" y="1088"/>
                  </a:cubicBezTo>
                  <a:lnTo>
                    <a:pt x="2363" y="1088"/>
                  </a:lnTo>
                  <a:lnTo>
                    <a:pt x="182" y="1088"/>
                  </a:lnTo>
                  <a:lnTo>
                    <a:pt x="182" y="1088"/>
                  </a:lnTo>
                  <a:cubicBezTo>
                    <a:pt x="82" y="1088"/>
                    <a:pt x="0" y="1007"/>
                    <a:pt x="0" y="907"/>
                  </a:cubicBezTo>
                  <a:cubicBezTo>
                    <a:pt x="0" y="907"/>
                    <a:pt x="0" y="907"/>
                    <a:pt x="0" y="907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37" name="Freeform 40">
              <a:extLst>
                <a:ext uri="{FF2B5EF4-FFF2-40B4-BE49-F238E27FC236}">
                  <a16:creationId xmlns:a16="http://schemas.microsoft.com/office/drawing/2014/main" id="{0CDD6C6C-AD02-424B-B069-3390CAF5B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6" y="1689"/>
              <a:ext cx="763" cy="329"/>
            </a:xfrm>
            <a:custGeom>
              <a:avLst/>
              <a:gdLst>
                <a:gd name="T0" fmla="*/ 5 w 2560"/>
                <a:gd name="T1" fmla="*/ 151 h 1104"/>
                <a:gd name="T2" fmla="*/ 32 w 2560"/>
                <a:gd name="T3" fmla="*/ 85 h 1104"/>
                <a:gd name="T4" fmla="*/ 83 w 2560"/>
                <a:gd name="T5" fmla="*/ 33 h 1104"/>
                <a:gd name="T6" fmla="*/ 117 w 2560"/>
                <a:gd name="T7" fmla="*/ 15 h 1104"/>
                <a:gd name="T8" fmla="*/ 190 w 2560"/>
                <a:gd name="T9" fmla="*/ 1 h 1104"/>
                <a:gd name="T10" fmla="*/ 2410 w 2560"/>
                <a:gd name="T11" fmla="*/ 5 h 1104"/>
                <a:gd name="T12" fmla="*/ 2476 w 2560"/>
                <a:gd name="T13" fmla="*/ 32 h 1104"/>
                <a:gd name="T14" fmla="*/ 2506 w 2560"/>
                <a:gd name="T15" fmla="*/ 57 h 1104"/>
                <a:gd name="T16" fmla="*/ 2545 w 2560"/>
                <a:gd name="T17" fmla="*/ 116 h 1104"/>
                <a:gd name="T18" fmla="*/ 2556 w 2560"/>
                <a:gd name="T19" fmla="*/ 153 h 1104"/>
                <a:gd name="T20" fmla="*/ 2556 w 2560"/>
                <a:gd name="T21" fmla="*/ 952 h 1104"/>
                <a:gd name="T22" fmla="*/ 2545 w 2560"/>
                <a:gd name="T23" fmla="*/ 989 h 1104"/>
                <a:gd name="T24" fmla="*/ 2506 w 2560"/>
                <a:gd name="T25" fmla="*/ 1049 h 1104"/>
                <a:gd name="T26" fmla="*/ 2476 w 2560"/>
                <a:gd name="T27" fmla="*/ 1072 h 1104"/>
                <a:gd name="T28" fmla="*/ 2410 w 2560"/>
                <a:gd name="T29" fmla="*/ 1100 h 1104"/>
                <a:gd name="T30" fmla="*/ 190 w 2560"/>
                <a:gd name="T31" fmla="*/ 1104 h 1104"/>
                <a:gd name="T32" fmla="*/ 117 w 2560"/>
                <a:gd name="T33" fmla="*/ 1090 h 1104"/>
                <a:gd name="T34" fmla="*/ 83 w 2560"/>
                <a:gd name="T35" fmla="*/ 1072 h 1104"/>
                <a:gd name="T36" fmla="*/ 33 w 2560"/>
                <a:gd name="T37" fmla="*/ 1022 h 1104"/>
                <a:gd name="T38" fmla="*/ 15 w 2560"/>
                <a:gd name="T39" fmla="*/ 988 h 1104"/>
                <a:gd name="T40" fmla="*/ 1 w 2560"/>
                <a:gd name="T41" fmla="*/ 916 h 1104"/>
                <a:gd name="T42" fmla="*/ 20 w 2560"/>
                <a:gd name="T43" fmla="*/ 951 h 1104"/>
                <a:gd name="T44" fmla="*/ 29 w 2560"/>
                <a:gd name="T45" fmla="*/ 982 h 1104"/>
                <a:gd name="T46" fmla="*/ 69 w 2560"/>
                <a:gd name="T47" fmla="*/ 1038 h 1104"/>
                <a:gd name="T48" fmla="*/ 92 w 2560"/>
                <a:gd name="T49" fmla="*/ 1058 h 1104"/>
                <a:gd name="T50" fmla="*/ 156 w 2560"/>
                <a:gd name="T51" fmla="*/ 1085 h 1104"/>
                <a:gd name="T52" fmla="*/ 2371 w 2560"/>
                <a:gd name="T53" fmla="*/ 1089 h 1104"/>
                <a:gd name="T54" fmla="*/ 2439 w 2560"/>
                <a:gd name="T55" fmla="*/ 1075 h 1104"/>
                <a:gd name="T56" fmla="*/ 2467 w 2560"/>
                <a:gd name="T57" fmla="*/ 1059 h 1104"/>
                <a:gd name="T58" fmla="*/ 2515 w 2560"/>
                <a:gd name="T59" fmla="*/ 1011 h 1104"/>
                <a:gd name="T60" fmla="*/ 2531 w 2560"/>
                <a:gd name="T61" fmla="*/ 983 h 1104"/>
                <a:gd name="T62" fmla="*/ 2544 w 2560"/>
                <a:gd name="T63" fmla="*/ 915 h 1104"/>
                <a:gd name="T64" fmla="*/ 2541 w 2560"/>
                <a:gd name="T65" fmla="*/ 156 h 1104"/>
                <a:gd name="T66" fmla="*/ 2514 w 2560"/>
                <a:gd name="T67" fmla="*/ 92 h 1104"/>
                <a:gd name="T68" fmla="*/ 2494 w 2560"/>
                <a:gd name="T69" fmla="*/ 69 h 1104"/>
                <a:gd name="T70" fmla="*/ 2438 w 2560"/>
                <a:gd name="T71" fmla="*/ 29 h 1104"/>
                <a:gd name="T72" fmla="*/ 2407 w 2560"/>
                <a:gd name="T73" fmla="*/ 20 h 1104"/>
                <a:gd name="T74" fmla="*/ 154 w 2560"/>
                <a:gd name="T75" fmla="*/ 20 h 1104"/>
                <a:gd name="T76" fmla="*/ 123 w 2560"/>
                <a:gd name="T77" fmla="*/ 29 h 1104"/>
                <a:gd name="T78" fmla="*/ 68 w 2560"/>
                <a:gd name="T79" fmla="*/ 68 h 1104"/>
                <a:gd name="T80" fmla="*/ 29 w 2560"/>
                <a:gd name="T81" fmla="*/ 123 h 1104"/>
                <a:gd name="T82" fmla="*/ 20 w 2560"/>
                <a:gd name="T83" fmla="*/ 154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60" h="1104">
                  <a:moveTo>
                    <a:pt x="0" y="190"/>
                  </a:moveTo>
                  <a:lnTo>
                    <a:pt x="5" y="153"/>
                  </a:lnTo>
                  <a:cubicBezTo>
                    <a:pt x="5" y="152"/>
                    <a:pt x="5" y="152"/>
                    <a:pt x="5" y="151"/>
                  </a:cubicBezTo>
                  <a:lnTo>
                    <a:pt x="15" y="117"/>
                  </a:lnTo>
                  <a:cubicBezTo>
                    <a:pt x="15" y="117"/>
                    <a:pt x="15" y="116"/>
                    <a:pt x="15" y="116"/>
                  </a:cubicBezTo>
                  <a:lnTo>
                    <a:pt x="32" y="85"/>
                  </a:lnTo>
                  <a:cubicBezTo>
                    <a:pt x="33" y="84"/>
                    <a:pt x="33" y="84"/>
                    <a:pt x="33" y="83"/>
                  </a:cubicBezTo>
                  <a:lnTo>
                    <a:pt x="56" y="57"/>
                  </a:lnTo>
                  <a:lnTo>
                    <a:pt x="83" y="33"/>
                  </a:lnTo>
                  <a:cubicBezTo>
                    <a:pt x="84" y="33"/>
                    <a:pt x="84" y="33"/>
                    <a:pt x="85" y="32"/>
                  </a:cubicBezTo>
                  <a:lnTo>
                    <a:pt x="116" y="15"/>
                  </a:lnTo>
                  <a:cubicBezTo>
                    <a:pt x="116" y="15"/>
                    <a:pt x="117" y="15"/>
                    <a:pt x="117" y="15"/>
                  </a:cubicBezTo>
                  <a:lnTo>
                    <a:pt x="151" y="5"/>
                  </a:lnTo>
                  <a:cubicBezTo>
                    <a:pt x="152" y="5"/>
                    <a:pt x="152" y="5"/>
                    <a:pt x="153" y="5"/>
                  </a:cubicBezTo>
                  <a:lnTo>
                    <a:pt x="190" y="1"/>
                  </a:lnTo>
                  <a:lnTo>
                    <a:pt x="2371" y="0"/>
                  </a:lnTo>
                  <a:lnTo>
                    <a:pt x="2408" y="5"/>
                  </a:lnTo>
                  <a:cubicBezTo>
                    <a:pt x="2409" y="5"/>
                    <a:pt x="2409" y="5"/>
                    <a:pt x="2410" y="5"/>
                  </a:cubicBezTo>
                  <a:lnTo>
                    <a:pt x="2444" y="15"/>
                  </a:lnTo>
                  <a:cubicBezTo>
                    <a:pt x="2444" y="15"/>
                    <a:pt x="2445" y="15"/>
                    <a:pt x="2445" y="15"/>
                  </a:cubicBezTo>
                  <a:lnTo>
                    <a:pt x="2476" y="32"/>
                  </a:lnTo>
                  <a:cubicBezTo>
                    <a:pt x="2477" y="33"/>
                    <a:pt x="2477" y="33"/>
                    <a:pt x="2478" y="33"/>
                  </a:cubicBezTo>
                  <a:lnTo>
                    <a:pt x="2505" y="56"/>
                  </a:lnTo>
                  <a:cubicBezTo>
                    <a:pt x="2505" y="57"/>
                    <a:pt x="2505" y="57"/>
                    <a:pt x="2506" y="57"/>
                  </a:cubicBezTo>
                  <a:lnTo>
                    <a:pt x="2528" y="83"/>
                  </a:lnTo>
                  <a:cubicBezTo>
                    <a:pt x="2528" y="84"/>
                    <a:pt x="2528" y="84"/>
                    <a:pt x="2528" y="85"/>
                  </a:cubicBezTo>
                  <a:lnTo>
                    <a:pt x="2545" y="116"/>
                  </a:lnTo>
                  <a:cubicBezTo>
                    <a:pt x="2546" y="116"/>
                    <a:pt x="2546" y="117"/>
                    <a:pt x="2546" y="117"/>
                  </a:cubicBezTo>
                  <a:lnTo>
                    <a:pt x="2556" y="151"/>
                  </a:lnTo>
                  <a:cubicBezTo>
                    <a:pt x="2556" y="152"/>
                    <a:pt x="2556" y="152"/>
                    <a:pt x="2556" y="153"/>
                  </a:cubicBezTo>
                  <a:lnTo>
                    <a:pt x="2560" y="190"/>
                  </a:lnTo>
                  <a:lnTo>
                    <a:pt x="2560" y="915"/>
                  </a:lnTo>
                  <a:lnTo>
                    <a:pt x="2556" y="952"/>
                  </a:lnTo>
                  <a:cubicBezTo>
                    <a:pt x="2556" y="953"/>
                    <a:pt x="2556" y="953"/>
                    <a:pt x="2556" y="954"/>
                  </a:cubicBezTo>
                  <a:lnTo>
                    <a:pt x="2546" y="988"/>
                  </a:lnTo>
                  <a:cubicBezTo>
                    <a:pt x="2546" y="988"/>
                    <a:pt x="2546" y="989"/>
                    <a:pt x="2545" y="989"/>
                  </a:cubicBezTo>
                  <a:lnTo>
                    <a:pt x="2528" y="1020"/>
                  </a:lnTo>
                  <a:cubicBezTo>
                    <a:pt x="2528" y="1021"/>
                    <a:pt x="2528" y="1021"/>
                    <a:pt x="2528" y="1022"/>
                  </a:cubicBezTo>
                  <a:lnTo>
                    <a:pt x="2506" y="1049"/>
                  </a:lnTo>
                  <a:cubicBezTo>
                    <a:pt x="2505" y="1049"/>
                    <a:pt x="2505" y="1049"/>
                    <a:pt x="2505" y="1050"/>
                  </a:cubicBezTo>
                  <a:lnTo>
                    <a:pt x="2478" y="1072"/>
                  </a:lnTo>
                  <a:cubicBezTo>
                    <a:pt x="2477" y="1072"/>
                    <a:pt x="2477" y="1072"/>
                    <a:pt x="2476" y="1072"/>
                  </a:cubicBezTo>
                  <a:lnTo>
                    <a:pt x="2445" y="1089"/>
                  </a:lnTo>
                  <a:cubicBezTo>
                    <a:pt x="2445" y="1090"/>
                    <a:pt x="2444" y="1090"/>
                    <a:pt x="2444" y="1090"/>
                  </a:cubicBezTo>
                  <a:lnTo>
                    <a:pt x="2410" y="1100"/>
                  </a:lnTo>
                  <a:cubicBezTo>
                    <a:pt x="2409" y="1100"/>
                    <a:pt x="2409" y="1100"/>
                    <a:pt x="2408" y="1100"/>
                  </a:cubicBezTo>
                  <a:lnTo>
                    <a:pt x="2372" y="1104"/>
                  </a:lnTo>
                  <a:lnTo>
                    <a:pt x="190" y="1104"/>
                  </a:lnTo>
                  <a:lnTo>
                    <a:pt x="153" y="1100"/>
                  </a:lnTo>
                  <a:cubicBezTo>
                    <a:pt x="152" y="1100"/>
                    <a:pt x="152" y="1100"/>
                    <a:pt x="151" y="1100"/>
                  </a:cubicBezTo>
                  <a:lnTo>
                    <a:pt x="117" y="1090"/>
                  </a:lnTo>
                  <a:cubicBezTo>
                    <a:pt x="117" y="1090"/>
                    <a:pt x="116" y="1090"/>
                    <a:pt x="116" y="1089"/>
                  </a:cubicBezTo>
                  <a:lnTo>
                    <a:pt x="85" y="1072"/>
                  </a:lnTo>
                  <a:cubicBezTo>
                    <a:pt x="84" y="1072"/>
                    <a:pt x="84" y="1072"/>
                    <a:pt x="83" y="1072"/>
                  </a:cubicBezTo>
                  <a:lnTo>
                    <a:pt x="57" y="1050"/>
                  </a:lnTo>
                  <a:cubicBezTo>
                    <a:pt x="57" y="1049"/>
                    <a:pt x="57" y="1049"/>
                    <a:pt x="56" y="1049"/>
                  </a:cubicBezTo>
                  <a:lnTo>
                    <a:pt x="33" y="1022"/>
                  </a:lnTo>
                  <a:cubicBezTo>
                    <a:pt x="33" y="1021"/>
                    <a:pt x="33" y="1021"/>
                    <a:pt x="32" y="1020"/>
                  </a:cubicBezTo>
                  <a:lnTo>
                    <a:pt x="15" y="989"/>
                  </a:lnTo>
                  <a:cubicBezTo>
                    <a:pt x="15" y="989"/>
                    <a:pt x="15" y="988"/>
                    <a:pt x="15" y="988"/>
                  </a:cubicBezTo>
                  <a:lnTo>
                    <a:pt x="5" y="954"/>
                  </a:lnTo>
                  <a:cubicBezTo>
                    <a:pt x="5" y="953"/>
                    <a:pt x="5" y="953"/>
                    <a:pt x="5" y="952"/>
                  </a:cubicBezTo>
                  <a:lnTo>
                    <a:pt x="1" y="916"/>
                  </a:lnTo>
                  <a:lnTo>
                    <a:pt x="0" y="190"/>
                  </a:lnTo>
                  <a:close/>
                  <a:moveTo>
                    <a:pt x="16" y="915"/>
                  </a:moveTo>
                  <a:lnTo>
                    <a:pt x="20" y="951"/>
                  </a:lnTo>
                  <a:lnTo>
                    <a:pt x="20" y="949"/>
                  </a:lnTo>
                  <a:lnTo>
                    <a:pt x="30" y="983"/>
                  </a:lnTo>
                  <a:lnTo>
                    <a:pt x="29" y="982"/>
                  </a:lnTo>
                  <a:lnTo>
                    <a:pt x="46" y="1013"/>
                  </a:lnTo>
                  <a:lnTo>
                    <a:pt x="46" y="1011"/>
                  </a:lnTo>
                  <a:lnTo>
                    <a:pt x="69" y="1038"/>
                  </a:lnTo>
                  <a:lnTo>
                    <a:pt x="68" y="1037"/>
                  </a:lnTo>
                  <a:lnTo>
                    <a:pt x="94" y="1059"/>
                  </a:lnTo>
                  <a:lnTo>
                    <a:pt x="92" y="1058"/>
                  </a:lnTo>
                  <a:lnTo>
                    <a:pt x="123" y="1075"/>
                  </a:lnTo>
                  <a:lnTo>
                    <a:pt x="122" y="1075"/>
                  </a:lnTo>
                  <a:lnTo>
                    <a:pt x="156" y="1085"/>
                  </a:lnTo>
                  <a:lnTo>
                    <a:pt x="154" y="1085"/>
                  </a:lnTo>
                  <a:lnTo>
                    <a:pt x="190" y="1088"/>
                  </a:lnTo>
                  <a:lnTo>
                    <a:pt x="2371" y="1089"/>
                  </a:lnTo>
                  <a:lnTo>
                    <a:pt x="2407" y="1085"/>
                  </a:lnTo>
                  <a:lnTo>
                    <a:pt x="2405" y="1085"/>
                  </a:lnTo>
                  <a:lnTo>
                    <a:pt x="2439" y="1075"/>
                  </a:lnTo>
                  <a:lnTo>
                    <a:pt x="2438" y="1075"/>
                  </a:lnTo>
                  <a:lnTo>
                    <a:pt x="2469" y="1058"/>
                  </a:lnTo>
                  <a:lnTo>
                    <a:pt x="2467" y="1059"/>
                  </a:lnTo>
                  <a:lnTo>
                    <a:pt x="2494" y="1037"/>
                  </a:lnTo>
                  <a:lnTo>
                    <a:pt x="2493" y="1038"/>
                  </a:lnTo>
                  <a:lnTo>
                    <a:pt x="2515" y="1011"/>
                  </a:lnTo>
                  <a:lnTo>
                    <a:pt x="2514" y="1013"/>
                  </a:lnTo>
                  <a:lnTo>
                    <a:pt x="2531" y="982"/>
                  </a:lnTo>
                  <a:lnTo>
                    <a:pt x="2531" y="983"/>
                  </a:lnTo>
                  <a:lnTo>
                    <a:pt x="2541" y="949"/>
                  </a:lnTo>
                  <a:lnTo>
                    <a:pt x="2541" y="951"/>
                  </a:lnTo>
                  <a:lnTo>
                    <a:pt x="2544" y="915"/>
                  </a:lnTo>
                  <a:lnTo>
                    <a:pt x="2545" y="191"/>
                  </a:lnTo>
                  <a:lnTo>
                    <a:pt x="2541" y="154"/>
                  </a:lnTo>
                  <a:lnTo>
                    <a:pt x="2541" y="156"/>
                  </a:lnTo>
                  <a:lnTo>
                    <a:pt x="2531" y="122"/>
                  </a:lnTo>
                  <a:lnTo>
                    <a:pt x="2531" y="123"/>
                  </a:lnTo>
                  <a:lnTo>
                    <a:pt x="2514" y="92"/>
                  </a:lnTo>
                  <a:lnTo>
                    <a:pt x="2515" y="94"/>
                  </a:lnTo>
                  <a:lnTo>
                    <a:pt x="2493" y="68"/>
                  </a:lnTo>
                  <a:lnTo>
                    <a:pt x="2494" y="69"/>
                  </a:lnTo>
                  <a:lnTo>
                    <a:pt x="2467" y="46"/>
                  </a:lnTo>
                  <a:lnTo>
                    <a:pt x="2469" y="46"/>
                  </a:lnTo>
                  <a:lnTo>
                    <a:pt x="2438" y="29"/>
                  </a:lnTo>
                  <a:lnTo>
                    <a:pt x="2439" y="30"/>
                  </a:lnTo>
                  <a:lnTo>
                    <a:pt x="2405" y="20"/>
                  </a:lnTo>
                  <a:lnTo>
                    <a:pt x="2407" y="20"/>
                  </a:lnTo>
                  <a:lnTo>
                    <a:pt x="2371" y="16"/>
                  </a:lnTo>
                  <a:lnTo>
                    <a:pt x="191" y="16"/>
                  </a:lnTo>
                  <a:lnTo>
                    <a:pt x="154" y="20"/>
                  </a:lnTo>
                  <a:lnTo>
                    <a:pt x="156" y="20"/>
                  </a:lnTo>
                  <a:lnTo>
                    <a:pt x="122" y="30"/>
                  </a:lnTo>
                  <a:lnTo>
                    <a:pt x="123" y="29"/>
                  </a:lnTo>
                  <a:lnTo>
                    <a:pt x="92" y="46"/>
                  </a:lnTo>
                  <a:lnTo>
                    <a:pt x="94" y="45"/>
                  </a:lnTo>
                  <a:lnTo>
                    <a:pt x="68" y="68"/>
                  </a:lnTo>
                  <a:lnTo>
                    <a:pt x="45" y="94"/>
                  </a:lnTo>
                  <a:lnTo>
                    <a:pt x="46" y="92"/>
                  </a:lnTo>
                  <a:lnTo>
                    <a:pt x="29" y="123"/>
                  </a:lnTo>
                  <a:lnTo>
                    <a:pt x="30" y="122"/>
                  </a:lnTo>
                  <a:lnTo>
                    <a:pt x="20" y="156"/>
                  </a:lnTo>
                  <a:lnTo>
                    <a:pt x="20" y="154"/>
                  </a:lnTo>
                  <a:lnTo>
                    <a:pt x="16" y="190"/>
                  </a:lnTo>
                  <a:lnTo>
                    <a:pt x="16" y="915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38" name="Rectangle 41">
              <a:extLst>
                <a:ext uri="{FF2B5EF4-FFF2-40B4-BE49-F238E27FC236}">
                  <a16:creationId xmlns:a16="http://schemas.microsoft.com/office/drawing/2014/main" id="{CDB48D2E-F3C5-457F-B647-2E306131E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4" y="1751"/>
              <a:ext cx="3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Platform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" name="Rectangle 42">
              <a:extLst>
                <a:ext uri="{FF2B5EF4-FFF2-40B4-BE49-F238E27FC236}">
                  <a16:creationId xmlns:a16="http://schemas.microsoft.com/office/drawing/2014/main" id="{F354B81C-06DE-4165-B42A-3840DD115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1856"/>
              <a:ext cx="27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>
                  <a:solidFill>
                    <a:srgbClr val="000000"/>
                  </a:solidFill>
                </a:rPr>
                <a:t>(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" name="Rectangle 43">
              <a:extLst>
                <a:ext uri="{FF2B5EF4-FFF2-40B4-BE49-F238E27FC236}">
                  <a16:creationId xmlns:a16="http://schemas.microsoft.com/office/drawing/2014/main" id="{1A30B731-62F5-4363-8039-AB329B612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0" y="1856"/>
              <a:ext cx="172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>
                  <a:solidFill>
                    <a:srgbClr val="000000"/>
                  </a:solidFill>
                </a:rPr>
                <a:t>PaaS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" name="Rectangle 44">
              <a:extLst>
                <a:ext uri="{FF2B5EF4-FFF2-40B4-BE49-F238E27FC236}">
                  <a16:creationId xmlns:a16="http://schemas.microsoft.com/office/drawing/2014/main" id="{509EA0A2-A8A4-4469-A9E0-7ACC85FB5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1" y="1856"/>
              <a:ext cx="27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>
                  <a:solidFill>
                    <a:srgbClr val="000000"/>
                  </a:solidFill>
                </a:rPr>
                <a:t>)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" name="Freeform 45">
              <a:extLst>
                <a:ext uri="{FF2B5EF4-FFF2-40B4-BE49-F238E27FC236}">
                  <a16:creationId xmlns:a16="http://schemas.microsoft.com/office/drawing/2014/main" id="{1C8AFC51-7AE7-49DD-B215-58C6C64B3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" y="1691"/>
              <a:ext cx="753" cy="325"/>
            </a:xfrm>
            <a:custGeom>
              <a:avLst/>
              <a:gdLst>
                <a:gd name="T0" fmla="*/ 0 w 2528"/>
                <a:gd name="T1" fmla="*/ 182 h 1088"/>
                <a:gd name="T2" fmla="*/ 182 w 2528"/>
                <a:gd name="T3" fmla="*/ 0 h 1088"/>
                <a:gd name="T4" fmla="*/ 182 w 2528"/>
                <a:gd name="T5" fmla="*/ 0 h 1088"/>
                <a:gd name="T6" fmla="*/ 182 w 2528"/>
                <a:gd name="T7" fmla="*/ 0 h 1088"/>
                <a:gd name="T8" fmla="*/ 2347 w 2528"/>
                <a:gd name="T9" fmla="*/ 0 h 1088"/>
                <a:gd name="T10" fmla="*/ 2347 w 2528"/>
                <a:gd name="T11" fmla="*/ 0 h 1088"/>
                <a:gd name="T12" fmla="*/ 2528 w 2528"/>
                <a:gd name="T13" fmla="*/ 182 h 1088"/>
                <a:gd name="T14" fmla="*/ 2528 w 2528"/>
                <a:gd name="T15" fmla="*/ 182 h 1088"/>
                <a:gd name="T16" fmla="*/ 2528 w 2528"/>
                <a:gd name="T17" fmla="*/ 182 h 1088"/>
                <a:gd name="T18" fmla="*/ 2528 w 2528"/>
                <a:gd name="T19" fmla="*/ 907 h 1088"/>
                <a:gd name="T20" fmla="*/ 2528 w 2528"/>
                <a:gd name="T21" fmla="*/ 907 h 1088"/>
                <a:gd name="T22" fmla="*/ 2347 w 2528"/>
                <a:gd name="T23" fmla="*/ 1088 h 1088"/>
                <a:gd name="T24" fmla="*/ 2347 w 2528"/>
                <a:gd name="T25" fmla="*/ 1088 h 1088"/>
                <a:gd name="T26" fmla="*/ 2347 w 2528"/>
                <a:gd name="T27" fmla="*/ 1088 h 1088"/>
                <a:gd name="T28" fmla="*/ 182 w 2528"/>
                <a:gd name="T29" fmla="*/ 1088 h 1088"/>
                <a:gd name="T30" fmla="*/ 182 w 2528"/>
                <a:gd name="T31" fmla="*/ 1088 h 1088"/>
                <a:gd name="T32" fmla="*/ 0 w 2528"/>
                <a:gd name="T33" fmla="*/ 907 h 1088"/>
                <a:gd name="T34" fmla="*/ 0 w 2528"/>
                <a:gd name="T35" fmla="*/ 907 h 1088"/>
                <a:gd name="T36" fmla="*/ 0 w 2528"/>
                <a:gd name="T37" fmla="*/ 182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8" h="1088">
                  <a:moveTo>
                    <a:pt x="0" y="182"/>
                  </a:moveTo>
                  <a:cubicBezTo>
                    <a:pt x="0" y="82"/>
                    <a:pt x="82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lnTo>
                    <a:pt x="182" y="0"/>
                  </a:lnTo>
                  <a:lnTo>
                    <a:pt x="2347" y="0"/>
                  </a:lnTo>
                  <a:lnTo>
                    <a:pt x="2347" y="0"/>
                  </a:lnTo>
                  <a:cubicBezTo>
                    <a:pt x="2447" y="0"/>
                    <a:pt x="2528" y="82"/>
                    <a:pt x="2528" y="182"/>
                  </a:cubicBezTo>
                  <a:cubicBezTo>
                    <a:pt x="2528" y="182"/>
                    <a:pt x="2528" y="182"/>
                    <a:pt x="2528" y="182"/>
                  </a:cubicBezTo>
                  <a:lnTo>
                    <a:pt x="2528" y="182"/>
                  </a:lnTo>
                  <a:lnTo>
                    <a:pt x="2528" y="907"/>
                  </a:lnTo>
                  <a:lnTo>
                    <a:pt x="2528" y="907"/>
                  </a:lnTo>
                  <a:cubicBezTo>
                    <a:pt x="2528" y="1007"/>
                    <a:pt x="2447" y="1088"/>
                    <a:pt x="2347" y="1088"/>
                  </a:cubicBezTo>
                  <a:cubicBezTo>
                    <a:pt x="2347" y="1088"/>
                    <a:pt x="2347" y="1088"/>
                    <a:pt x="2347" y="1088"/>
                  </a:cubicBezTo>
                  <a:lnTo>
                    <a:pt x="2347" y="1088"/>
                  </a:lnTo>
                  <a:lnTo>
                    <a:pt x="182" y="1088"/>
                  </a:lnTo>
                  <a:lnTo>
                    <a:pt x="182" y="1088"/>
                  </a:lnTo>
                  <a:cubicBezTo>
                    <a:pt x="82" y="1088"/>
                    <a:pt x="0" y="1007"/>
                    <a:pt x="0" y="907"/>
                  </a:cubicBezTo>
                  <a:cubicBezTo>
                    <a:pt x="0" y="907"/>
                    <a:pt x="0" y="907"/>
                    <a:pt x="0" y="907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43" name="Freeform 46">
              <a:extLst>
                <a:ext uri="{FF2B5EF4-FFF2-40B4-BE49-F238E27FC236}">
                  <a16:creationId xmlns:a16="http://schemas.microsoft.com/office/drawing/2014/main" id="{AFDFA65A-7A6B-4B8E-A302-D185A0A2D9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4" y="1689"/>
              <a:ext cx="758" cy="329"/>
            </a:xfrm>
            <a:custGeom>
              <a:avLst/>
              <a:gdLst>
                <a:gd name="T0" fmla="*/ 5 w 2544"/>
                <a:gd name="T1" fmla="*/ 151 h 1104"/>
                <a:gd name="T2" fmla="*/ 32 w 2544"/>
                <a:gd name="T3" fmla="*/ 85 h 1104"/>
                <a:gd name="T4" fmla="*/ 83 w 2544"/>
                <a:gd name="T5" fmla="*/ 33 h 1104"/>
                <a:gd name="T6" fmla="*/ 117 w 2544"/>
                <a:gd name="T7" fmla="*/ 15 h 1104"/>
                <a:gd name="T8" fmla="*/ 190 w 2544"/>
                <a:gd name="T9" fmla="*/ 1 h 1104"/>
                <a:gd name="T10" fmla="*/ 2394 w 2544"/>
                <a:gd name="T11" fmla="*/ 5 h 1104"/>
                <a:gd name="T12" fmla="*/ 2460 w 2544"/>
                <a:gd name="T13" fmla="*/ 32 h 1104"/>
                <a:gd name="T14" fmla="*/ 2490 w 2544"/>
                <a:gd name="T15" fmla="*/ 57 h 1104"/>
                <a:gd name="T16" fmla="*/ 2529 w 2544"/>
                <a:gd name="T17" fmla="*/ 116 h 1104"/>
                <a:gd name="T18" fmla="*/ 2540 w 2544"/>
                <a:gd name="T19" fmla="*/ 153 h 1104"/>
                <a:gd name="T20" fmla="*/ 2540 w 2544"/>
                <a:gd name="T21" fmla="*/ 952 h 1104"/>
                <a:gd name="T22" fmla="*/ 2529 w 2544"/>
                <a:gd name="T23" fmla="*/ 989 h 1104"/>
                <a:gd name="T24" fmla="*/ 2490 w 2544"/>
                <a:gd name="T25" fmla="*/ 1049 h 1104"/>
                <a:gd name="T26" fmla="*/ 2460 w 2544"/>
                <a:gd name="T27" fmla="*/ 1072 h 1104"/>
                <a:gd name="T28" fmla="*/ 2394 w 2544"/>
                <a:gd name="T29" fmla="*/ 1100 h 1104"/>
                <a:gd name="T30" fmla="*/ 190 w 2544"/>
                <a:gd name="T31" fmla="*/ 1104 h 1104"/>
                <a:gd name="T32" fmla="*/ 117 w 2544"/>
                <a:gd name="T33" fmla="*/ 1090 h 1104"/>
                <a:gd name="T34" fmla="*/ 83 w 2544"/>
                <a:gd name="T35" fmla="*/ 1072 h 1104"/>
                <a:gd name="T36" fmla="*/ 33 w 2544"/>
                <a:gd name="T37" fmla="*/ 1022 h 1104"/>
                <a:gd name="T38" fmla="*/ 15 w 2544"/>
                <a:gd name="T39" fmla="*/ 988 h 1104"/>
                <a:gd name="T40" fmla="*/ 1 w 2544"/>
                <a:gd name="T41" fmla="*/ 916 h 1104"/>
                <a:gd name="T42" fmla="*/ 20 w 2544"/>
                <a:gd name="T43" fmla="*/ 951 h 1104"/>
                <a:gd name="T44" fmla="*/ 29 w 2544"/>
                <a:gd name="T45" fmla="*/ 982 h 1104"/>
                <a:gd name="T46" fmla="*/ 69 w 2544"/>
                <a:gd name="T47" fmla="*/ 1038 h 1104"/>
                <a:gd name="T48" fmla="*/ 92 w 2544"/>
                <a:gd name="T49" fmla="*/ 1058 h 1104"/>
                <a:gd name="T50" fmla="*/ 156 w 2544"/>
                <a:gd name="T51" fmla="*/ 1085 h 1104"/>
                <a:gd name="T52" fmla="*/ 2355 w 2544"/>
                <a:gd name="T53" fmla="*/ 1089 h 1104"/>
                <a:gd name="T54" fmla="*/ 2423 w 2544"/>
                <a:gd name="T55" fmla="*/ 1075 h 1104"/>
                <a:gd name="T56" fmla="*/ 2451 w 2544"/>
                <a:gd name="T57" fmla="*/ 1059 h 1104"/>
                <a:gd name="T58" fmla="*/ 2499 w 2544"/>
                <a:gd name="T59" fmla="*/ 1011 h 1104"/>
                <a:gd name="T60" fmla="*/ 2515 w 2544"/>
                <a:gd name="T61" fmla="*/ 983 h 1104"/>
                <a:gd name="T62" fmla="*/ 2528 w 2544"/>
                <a:gd name="T63" fmla="*/ 915 h 1104"/>
                <a:gd name="T64" fmla="*/ 2525 w 2544"/>
                <a:gd name="T65" fmla="*/ 156 h 1104"/>
                <a:gd name="T66" fmla="*/ 2498 w 2544"/>
                <a:gd name="T67" fmla="*/ 92 h 1104"/>
                <a:gd name="T68" fmla="*/ 2478 w 2544"/>
                <a:gd name="T69" fmla="*/ 69 h 1104"/>
                <a:gd name="T70" fmla="*/ 2422 w 2544"/>
                <a:gd name="T71" fmla="*/ 29 h 1104"/>
                <a:gd name="T72" fmla="*/ 2391 w 2544"/>
                <a:gd name="T73" fmla="*/ 20 h 1104"/>
                <a:gd name="T74" fmla="*/ 154 w 2544"/>
                <a:gd name="T75" fmla="*/ 20 h 1104"/>
                <a:gd name="T76" fmla="*/ 123 w 2544"/>
                <a:gd name="T77" fmla="*/ 29 h 1104"/>
                <a:gd name="T78" fmla="*/ 68 w 2544"/>
                <a:gd name="T79" fmla="*/ 68 h 1104"/>
                <a:gd name="T80" fmla="*/ 29 w 2544"/>
                <a:gd name="T81" fmla="*/ 123 h 1104"/>
                <a:gd name="T82" fmla="*/ 20 w 2544"/>
                <a:gd name="T83" fmla="*/ 154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44" h="1104">
                  <a:moveTo>
                    <a:pt x="0" y="190"/>
                  </a:moveTo>
                  <a:lnTo>
                    <a:pt x="5" y="153"/>
                  </a:lnTo>
                  <a:cubicBezTo>
                    <a:pt x="5" y="152"/>
                    <a:pt x="5" y="152"/>
                    <a:pt x="5" y="151"/>
                  </a:cubicBezTo>
                  <a:lnTo>
                    <a:pt x="15" y="117"/>
                  </a:lnTo>
                  <a:cubicBezTo>
                    <a:pt x="15" y="117"/>
                    <a:pt x="15" y="116"/>
                    <a:pt x="15" y="116"/>
                  </a:cubicBezTo>
                  <a:lnTo>
                    <a:pt x="32" y="85"/>
                  </a:lnTo>
                  <a:cubicBezTo>
                    <a:pt x="33" y="84"/>
                    <a:pt x="33" y="84"/>
                    <a:pt x="33" y="83"/>
                  </a:cubicBezTo>
                  <a:lnTo>
                    <a:pt x="56" y="57"/>
                  </a:lnTo>
                  <a:lnTo>
                    <a:pt x="83" y="33"/>
                  </a:lnTo>
                  <a:cubicBezTo>
                    <a:pt x="84" y="33"/>
                    <a:pt x="84" y="33"/>
                    <a:pt x="85" y="32"/>
                  </a:cubicBezTo>
                  <a:lnTo>
                    <a:pt x="116" y="15"/>
                  </a:lnTo>
                  <a:cubicBezTo>
                    <a:pt x="116" y="15"/>
                    <a:pt x="117" y="15"/>
                    <a:pt x="117" y="15"/>
                  </a:cubicBezTo>
                  <a:lnTo>
                    <a:pt x="151" y="5"/>
                  </a:lnTo>
                  <a:cubicBezTo>
                    <a:pt x="152" y="5"/>
                    <a:pt x="152" y="5"/>
                    <a:pt x="153" y="5"/>
                  </a:cubicBezTo>
                  <a:lnTo>
                    <a:pt x="190" y="1"/>
                  </a:lnTo>
                  <a:lnTo>
                    <a:pt x="2355" y="0"/>
                  </a:lnTo>
                  <a:lnTo>
                    <a:pt x="2392" y="5"/>
                  </a:lnTo>
                  <a:cubicBezTo>
                    <a:pt x="2393" y="5"/>
                    <a:pt x="2393" y="5"/>
                    <a:pt x="2394" y="5"/>
                  </a:cubicBezTo>
                  <a:lnTo>
                    <a:pt x="2428" y="15"/>
                  </a:lnTo>
                  <a:cubicBezTo>
                    <a:pt x="2428" y="15"/>
                    <a:pt x="2429" y="15"/>
                    <a:pt x="2429" y="15"/>
                  </a:cubicBezTo>
                  <a:lnTo>
                    <a:pt x="2460" y="32"/>
                  </a:lnTo>
                  <a:cubicBezTo>
                    <a:pt x="2461" y="33"/>
                    <a:pt x="2461" y="33"/>
                    <a:pt x="2462" y="33"/>
                  </a:cubicBezTo>
                  <a:lnTo>
                    <a:pt x="2489" y="56"/>
                  </a:lnTo>
                  <a:cubicBezTo>
                    <a:pt x="2489" y="57"/>
                    <a:pt x="2489" y="57"/>
                    <a:pt x="2490" y="57"/>
                  </a:cubicBezTo>
                  <a:lnTo>
                    <a:pt x="2512" y="83"/>
                  </a:lnTo>
                  <a:cubicBezTo>
                    <a:pt x="2512" y="84"/>
                    <a:pt x="2512" y="84"/>
                    <a:pt x="2512" y="85"/>
                  </a:cubicBezTo>
                  <a:lnTo>
                    <a:pt x="2529" y="116"/>
                  </a:lnTo>
                  <a:cubicBezTo>
                    <a:pt x="2530" y="116"/>
                    <a:pt x="2530" y="117"/>
                    <a:pt x="2530" y="117"/>
                  </a:cubicBezTo>
                  <a:lnTo>
                    <a:pt x="2540" y="151"/>
                  </a:lnTo>
                  <a:cubicBezTo>
                    <a:pt x="2540" y="152"/>
                    <a:pt x="2540" y="152"/>
                    <a:pt x="2540" y="153"/>
                  </a:cubicBezTo>
                  <a:lnTo>
                    <a:pt x="2544" y="190"/>
                  </a:lnTo>
                  <a:lnTo>
                    <a:pt x="2544" y="915"/>
                  </a:lnTo>
                  <a:lnTo>
                    <a:pt x="2540" y="952"/>
                  </a:lnTo>
                  <a:cubicBezTo>
                    <a:pt x="2540" y="953"/>
                    <a:pt x="2540" y="953"/>
                    <a:pt x="2540" y="954"/>
                  </a:cubicBezTo>
                  <a:lnTo>
                    <a:pt x="2530" y="988"/>
                  </a:lnTo>
                  <a:cubicBezTo>
                    <a:pt x="2530" y="988"/>
                    <a:pt x="2530" y="989"/>
                    <a:pt x="2529" y="989"/>
                  </a:cubicBezTo>
                  <a:lnTo>
                    <a:pt x="2512" y="1020"/>
                  </a:lnTo>
                  <a:cubicBezTo>
                    <a:pt x="2512" y="1021"/>
                    <a:pt x="2512" y="1021"/>
                    <a:pt x="2512" y="1022"/>
                  </a:cubicBezTo>
                  <a:lnTo>
                    <a:pt x="2490" y="1049"/>
                  </a:lnTo>
                  <a:cubicBezTo>
                    <a:pt x="2489" y="1049"/>
                    <a:pt x="2489" y="1049"/>
                    <a:pt x="2489" y="1050"/>
                  </a:cubicBezTo>
                  <a:lnTo>
                    <a:pt x="2462" y="1072"/>
                  </a:lnTo>
                  <a:cubicBezTo>
                    <a:pt x="2461" y="1072"/>
                    <a:pt x="2461" y="1072"/>
                    <a:pt x="2460" y="1072"/>
                  </a:cubicBezTo>
                  <a:lnTo>
                    <a:pt x="2429" y="1089"/>
                  </a:lnTo>
                  <a:cubicBezTo>
                    <a:pt x="2429" y="1090"/>
                    <a:pt x="2428" y="1090"/>
                    <a:pt x="2428" y="1090"/>
                  </a:cubicBezTo>
                  <a:lnTo>
                    <a:pt x="2394" y="1100"/>
                  </a:lnTo>
                  <a:cubicBezTo>
                    <a:pt x="2393" y="1100"/>
                    <a:pt x="2393" y="1100"/>
                    <a:pt x="2392" y="1100"/>
                  </a:cubicBezTo>
                  <a:lnTo>
                    <a:pt x="2356" y="1104"/>
                  </a:lnTo>
                  <a:lnTo>
                    <a:pt x="190" y="1104"/>
                  </a:lnTo>
                  <a:lnTo>
                    <a:pt x="153" y="1100"/>
                  </a:lnTo>
                  <a:cubicBezTo>
                    <a:pt x="152" y="1100"/>
                    <a:pt x="152" y="1100"/>
                    <a:pt x="151" y="1100"/>
                  </a:cubicBezTo>
                  <a:lnTo>
                    <a:pt x="117" y="1090"/>
                  </a:lnTo>
                  <a:cubicBezTo>
                    <a:pt x="117" y="1090"/>
                    <a:pt x="116" y="1090"/>
                    <a:pt x="116" y="1089"/>
                  </a:cubicBezTo>
                  <a:lnTo>
                    <a:pt x="85" y="1072"/>
                  </a:lnTo>
                  <a:cubicBezTo>
                    <a:pt x="84" y="1072"/>
                    <a:pt x="84" y="1072"/>
                    <a:pt x="83" y="1072"/>
                  </a:cubicBezTo>
                  <a:lnTo>
                    <a:pt x="57" y="1050"/>
                  </a:lnTo>
                  <a:cubicBezTo>
                    <a:pt x="57" y="1049"/>
                    <a:pt x="57" y="1049"/>
                    <a:pt x="56" y="1049"/>
                  </a:cubicBezTo>
                  <a:lnTo>
                    <a:pt x="33" y="1022"/>
                  </a:lnTo>
                  <a:cubicBezTo>
                    <a:pt x="33" y="1021"/>
                    <a:pt x="33" y="1021"/>
                    <a:pt x="32" y="1020"/>
                  </a:cubicBezTo>
                  <a:lnTo>
                    <a:pt x="15" y="989"/>
                  </a:lnTo>
                  <a:cubicBezTo>
                    <a:pt x="15" y="989"/>
                    <a:pt x="15" y="988"/>
                    <a:pt x="15" y="988"/>
                  </a:cubicBezTo>
                  <a:lnTo>
                    <a:pt x="5" y="954"/>
                  </a:lnTo>
                  <a:cubicBezTo>
                    <a:pt x="5" y="953"/>
                    <a:pt x="5" y="953"/>
                    <a:pt x="5" y="952"/>
                  </a:cubicBezTo>
                  <a:lnTo>
                    <a:pt x="1" y="916"/>
                  </a:lnTo>
                  <a:lnTo>
                    <a:pt x="0" y="190"/>
                  </a:lnTo>
                  <a:close/>
                  <a:moveTo>
                    <a:pt x="16" y="915"/>
                  </a:moveTo>
                  <a:lnTo>
                    <a:pt x="20" y="951"/>
                  </a:lnTo>
                  <a:lnTo>
                    <a:pt x="20" y="949"/>
                  </a:lnTo>
                  <a:lnTo>
                    <a:pt x="30" y="983"/>
                  </a:lnTo>
                  <a:lnTo>
                    <a:pt x="29" y="982"/>
                  </a:lnTo>
                  <a:lnTo>
                    <a:pt x="46" y="1013"/>
                  </a:lnTo>
                  <a:lnTo>
                    <a:pt x="46" y="1011"/>
                  </a:lnTo>
                  <a:lnTo>
                    <a:pt x="69" y="1038"/>
                  </a:lnTo>
                  <a:lnTo>
                    <a:pt x="68" y="1037"/>
                  </a:lnTo>
                  <a:lnTo>
                    <a:pt x="94" y="1059"/>
                  </a:lnTo>
                  <a:lnTo>
                    <a:pt x="92" y="1058"/>
                  </a:lnTo>
                  <a:lnTo>
                    <a:pt x="123" y="1075"/>
                  </a:lnTo>
                  <a:lnTo>
                    <a:pt x="122" y="1075"/>
                  </a:lnTo>
                  <a:lnTo>
                    <a:pt x="156" y="1085"/>
                  </a:lnTo>
                  <a:lnTo>
                    <a:pt x="154" y="1085"/>
                  </a:lnTo>
                  <a:lnTo>
                    <a:pt x="190" y="1088"/>
                  </a:lnTo>
                  <a:lnTo>
                    <a:pt x="2355" y="1089"/>
                  </a:lnTo>
                  <a:lnTo>
                    <a:pt x="2391" y="1085"/>
                  </a:lnTo>
                  <a:lnTo>
                    <a:pt x="2389" y="1085"/>
                  </a:lnTo>
                  <a:lnTo>
                    <a:pt x="2423" y="1075"/>
                  </a:lnTo>
                  <a:lnTo>
                    <a:pt x="2422" y="1075"/>
                  </a:lnTo>
                  <a:lnTo>
                    <a:pt x="2453" y="1058"/>
                  </a:lnTo>
                  <a:lnTo>
                    <a:pt x="2451" y="1059"/>
                  </a:lnTo>
                  <a:lnTo>
                    <a:pt x="2478" y="1037"/>
                  </a:lnTo>
                  <a:lnTo>
                    <a:pt x="2477" y="1038"/>
                  </a:lnTo>
                  <a:lnTo>
                    <a:pt x="2499" y="1011"/>
                  </a:lnTo>
                  <a:lnTo>
                    <a:pt x="2498" y="1013"/>
                  </a:lnTo>
                  <a:lnTo>
                    <a:pt x="2515" y="982"/>
                  </a:lnTo>
                  <a:lnTo>
                    <a:pt x="2515" y="983"/>
                  </a:lnTo>
                  <a:lnTo>
                    <a:pt x="2525" y="949"/>
                  </a:lnTo>
                  <a:lnTo>
                    <a:pt x="2525" y="951"/>
                  </a:lnTo>
                  <a:lnTo>
                    <a:pt x="2528" y="915"/>
                  </a:lnTo>
                  <a:lnTo>
                    <a:pt x="2529" y="191"/>
                  </a:lnTo>
                  <a:lnTo>
                    <a:pt x="2525" y="154"/>
                  </a:lnTo>
                  <a:lnTo>
                    <a:pt x="2525" y="156"/>
                  </a:lnTo>
                  <a:lnTo>
                    <a:pt x="2515" y="122"/>
                  </a:lnTo>
                  <a:lnTo>
                    <a:pt x="2515" y="123"/>
                  </a:lnTo>
                  <a:lnTo>
                    <a:pt x="2498" y="92"/>
                  </a:lnTo>
                  <a:lnTo>
                    <a:pt x="2499" y="94"/>
                  </a:lnTo>
                  <a:lnTo>
                    <a:pt x="2477" y="68"/>
                  </a:lnTo>
                  <a:lnTo>
                    <a:pt x="2478" y="69"/>
                  </a:lnTo>
                  <a:lnTo>
                    <a:pt x="2451" y="46"/>
                  </a:lnTo>
                  <a:lnTo>
                    <a:pt x="2453" y="46"/>
                  </a:lnTo>
                  <a:lnTo>
                    <a:pt x="2422" y="29"/>
                  </a:lnTo>
                  <a:lnTo>
                    <a:pt x="2423" y="30"/>
                  </a:lnTo>
                  <a:lnTo>
                    <a:pt x="2389" y="20"/>
                  </a:lnTo>
                  <a:lnTo>
                    <a:pt x="2391" y="20"/>
                  </a:lnTo>
                  <a:lnTo>
                    <a:pt x="2355" y="16"/>
                  </a:lnTo>
                  <a:lnTo>
                    <a:pt x="191" y="16"/>
                  </a:lnTo>
                  <a:lnTo>
                    <a:pt x="154" y="20"/>
                  </a:lnTo>
                  <a:lnTo>
                    <a:pt x="156" y="20"/>
                  </a:lnTo>
                  <a:lnTo>
                    <a:pt x="122" y="30"/>
                  </a:lnTo>
                  <a:lnTo>
                    <a:pt x="123" y="29"/>
                  </a:lnTo>
                  <a:lnTo>
                    <a:pt x="92" y="46"/>
                  </a:lnTo>
                  <a:lnTo>
                    <a:pt x="94" y="45"/>
                  </a:lnTo>
                  <a:lnTo>
                    <a:pt x="68" y="68"/>
                  </a:lnTo>
                  <a:lnTo>
                    <a:pt x="45" y="94"/>
                  </a:lnTo>
                  <a:lnTo>
                    <a:pt x="46" y="92"/>
                  </a:lnTo>
                  <a:lnTo>
                    <a:pt x="29" y="123"/>
                  </a:lnTo>
                  <a:lnTo>
                    <a:pt x="30" y="122"/>
                  </a:lnTo>
                  <a:lnTo>
                    <a:pt x="20" y="156"/>
                  </a:lnTo>
                  <a:lnTo>
                    <a:pt x="20" y="154"/>
                  </a:lnTo>
                  <a:lnTo>
                    <a:pt x="16" y="190"/>
                  </a:lnTo>
                  <a:lnTo>
                    <a:pt x="16" y="915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44" name="Rectangle 47">
              <a:extLst>
                <a:ext uri="{FF2B5EF4-FFF2-40B4-BE49-F238E27FC236}">
                  <a16:creationId xmlns:a16="http://schemas.microsoft.com/office/drawing/2014/main" id="{0B2E9660-97BD-4578-9B99-DC56A4214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4" y="1751"/>
              <a:ext cx="51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Infrastructure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" name="Rectangle 48">
              <a:extLst>
                <a:ext uri="{FF2B5EF4-FFF2-40B4-BE49-F238E27FC236}">
                  <a16:creationId xmlns:a16="http://schemas.microsoft.com/office/drawing/2014/main" id="{6624AEF3-9030-4757-992C-D3451CD87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" y="1856"/>
              <a:ext cx="27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>
                  <a:solidFill>
                    <a:srgbClr val="000000"/>
                  </a:solidFill>
                </a:rPr>
                <a:t>(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" name="Rectangle 49">
              <a:extLst>
                <a:ext uri="{FF2B5EF4-FFF2-40B4-BE49-F238E27FC236}">
                  <a16:creationId xmlns:a16="http://schemas.microsoft.com/office/drawing/2014/main" id="{FCC5FAB4-E3AA-43BD-8CA9-CA3C862CF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856"/>
              <a:ext cx="148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>
                  <a:solidFill>
                    <a:srgbClr val="000000"/>
                  </a:solidFill>
                </a:rPr>
                <a:t>IaaS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7" name="Rectangle 50">
              <a:extLst>
                <a:ext uri="{FF2B5EF4-FFF2-40B4-BE49-F238E27FC236}">
                  <a16:creationId xmlns:a16="http://schemas.microsoft.com/office/drawing/2014/main" id="{AF0083DB-9C80-4A36-86A7-1F188C8A2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6" y="1856"/>
              <a:ext cx="27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>
                  <a:solidFill>
                    <a:srgbClr val="000000"/>
                  </a:solidFill>
                </a:rPr>
                <a:t>)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8" name="Rectangle 51">
              <a:extLst>
                <a:ext uri="{FF2B5EF4-FFF2-40B4-BE49-F238E27FC236}">
                  <a16:creationId xmlns:a16="http://schemas.microsoft.com/office/drawing/2014/main" id="{25D8033B-6085-4C62-8048-7F01B44DD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3151"/>
              <a:ext cx="24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Smart 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9" name="Rectangle 52">
              <a:extLst>
                <a:ext uri="{FF2B5EF4-FFF2-40B4-BE49-F238E27FC236}">
                  <a16:creationId xmlns:a16="http://schemas.microsoft.com/office/drawing/2014/main" id="{A9A2E233-90EA-47A7-BB13-80C6ABDB1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5" y="3255"/>
              <a:ext cx="479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Environment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0" name="Rectangle 53">
              <a:extLst>
                <a:ext uri="{FF2B5EF4-FFF2-40B4-BE49-F238E27FC236}">
                  <a16:creationId xmlns:a16="http://schemas.microsoft.com/office/drawing/2014/main" id="{1267CCAA-EF4C-434B-9673-C249F3310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962"/>
              <a:ext cx="24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Smart 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1" name="Rectangle 54">
              <a:extLst>
                <a:ext uri="{FF2B5EF4-FFF2-40B4-BE49-F238E27FC236}">
                  <a16:creationId xmlns:a16="http://schemas.microsoft.com/office/drawing/2014/main" id="{62364D72-C1E7-45CD-8D27-CBF5D6E36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" y="1067"/>
              <a:ext cx="299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Services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2" name="Rectangle 55">
              <a:extLst>
                <a:ext uri="{FF2B5EF4-FFF2-40B4-BE49-F238E27FC236}">
                  <a16:creationId xmlns:a16="http://schemas.microsoft.com/office/drawing/2014/main" id="{FC7037CE-D0A1-459E-9734-E729108E6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623"/>
              <a:ext cx="28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Service 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3" name="Rectangle 56">
              <a:extLst>
                <a:ext uri="{FF2B5EF4-FFF2-40B4-BE49-F238E27FC236}">
                  <a16:creationId xmlns:a16="http://schemas.microsoft.com/office/drawing/2014/main" id="{5D7B7951-C75C-4525-B9C6-39E49FD64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" y="1728"/>
              <a:ext cx="475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 dirty="0">
                  <a:solidFill>
                    <a:srgbClr val="000000"/>
                  </a:solidFill>
                </a:rPr>
                <a:t>Provisioning </a:t>
              </a:r>
              <a:endParaRPr lang="ko-KR" altLang="ko-KR" sz="1662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4" name="Rectangle 57">
              <a:extLst>
                <a:ext uri="{FF2B5EF4-FFF2-40B4-BE49-F238E27FC236}">
                  <a16:creationId xmlns:a16="http://schemas.microsoft.com/office/drawing/2014/main" id="{71CC87C9-9D26-4736-B423-981F79A3C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" y="1837"/>
              <a:ext cx="82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&amp; 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5" name="Rectangle 58">
              <a:extLst>
                <a:ext uri="{FF2B5EF4-FFF2-40B4-BE49-F238E27FC236}">
                  <a16:creationId xmlns:a16="http://schemas.microsoft.com/office/drawing/2014/main" id="{440732B4-1563-4B8B-9A23-D6BBECCFE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942"/>
              <a:ext cx="496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>
                  <a:solidFill>
                    <a:srgbClr val="000000"/>
                  </a:solidFill>
                </a:rPr>
                <a:t>Management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" name="Rectangle 59">
              <a:extLst>
                <a:ext uri="{FF2B5EF4-FFF2-40B4-BE49-F238E27FC236}">
                  <a16:creationId xmlns:a16="http://schemas.microsoft.com/office/drawing/2014/main" id="{CB6FBF0D-6747-45AE-BB5A-7085043B7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2128"/>
              <a:ext cx="53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923">
                  <a:solidFill>
                    <a:srgbClr val="000000"/>
                  </a:solidFill>
                </a:rPr>
                <a:t>(Security, OAM, 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" name="Rectangle 60">
              <a:extLst>
                <a:ext uri="{FF2B5EF4-FFF2-40B4-BE49-F238E27FC236}">
                  <a16:creationId xmlns:a16="http://schemas.microsoft.com/office/drawing/2014/main" id="{4F6AC9D4-C8D8-4F0D-AE9C-9C47403B7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218"/>
              <a:ext cx="606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923">
                  <a:solidFill>
                    <a:srgbClr val="000000"/>
                  </a:solidFill>
                </a:rPr>
                <a:t>Self Management)</a:t>
              </a:r>
              <a:endParaRPr lang="ko-KR" altLang="ko-KR" sz="1662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" name="Freeform 61">
              <a:extLst>
                <a:ext uri="{FF2B5EF4-FFF2-40B4-BE49-F238E27FC236}">
                  <a16:creationId xmlns:a16="http://schemas.microsoft.com/office/drawing/2014/main" id="{0C021F8C-D957-48F9-B61C-D16E47E69F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7" y="2700"/>
              <a:ext cx="3892" cy="40"/>
            </a:xfrm>
            <a:custGeom>
              <a:avLst/>
              <a:gdLst>
                <a:gd name="T0" fmla="*/ 33 w 3892"/>
                <a:gd name="T1" fmla="*/ 35 h 40"/>
                <a:gd name="T2" fmla="*/ 100 w 3892"/>
                <a:gd name="T3" fmla="*/ 35 h 40"/>
                <a:gd name="T4" fmla="*/ 167 w 3892"/>
                <a:gd name="T5" fmla="*/ 34 h 40"/>
                <a:gd name="T6" fmla="*/ 234 w 3892"/>
                <a:gd name="T7" fmla="*/ 33 h 40"/>
                <a:gd name="T8" fmla="*/ 300 w 3892"/>
                <a:gd name="T9" fmla="*/ 33 h 40"/>
                <a:gd name="T10" fmla="*/ 367 w 3892"/>
                <a:gd name="T11" fmla="*/ 32 h 40"/>
                <a:gd name="T12" fmla="*/ 434 w 3892"/>
                <a:gd name="T13" fmla="*/ 32 h 40"/>
                <a:gd name="T14" fmla="*/ 501 w 3892"/>
                <a:gd name="T15" fmla="*/ 31 h 40"/>
                <a:gd name="T16" fmla="*/ 568 w 3892"/>
                <a:gd name="T17" fmla="*/ 31 h 40"/>
                <a:gd name="T18" fmla="*/ 634 w 3892"/>
                <a:gd name="T19" fmla="*/ 30 h 40"/>
                <a:gd name="T20" fmla="*/ 701 w 3892"/>
                <a:gd name="T21" fmla="*/ 29 h 40"/>
                <a:gd name="T22" fmla="*/ 768 w 3892"/>
                <a:gd name="T23" fmla="*/ 29 h 40"/>
                <a:gd name="T24" fmla="*/ 835 w 3892"/>
                <a:gd name="T25" fmla="*/ 28 h 40"/>
                <a:gd name="T26" fmla="*/ 902 w 3892"/>
                <a:gd name="T27" fmla="*/ 27 h 40"/>
                <a:gd name="T28" fmla="*/ 969 w 3892"/>
                <a:gd name="T29" fmla="*/ 27 h 40"/>
                <a:gd name="T30" fmla="*/ 1035 w 3892"/>
                <a:gd name="T31" fmla="*/ 26 h 40"/>
                <a:gd name="T32" fmla="*/ 1102 w 3892"/>
                <a:gd name="T33" fmla="*/ 25 h 40"/>
                <a:gd name="T34" fmla="*/ 1169 w 3892"/>
                <a:gd name="T35" fmla="*/ 25 h 40"/>
                <a:gd name="T36" fmla="*/ 1235 w 3892"/>
                <a:gd name="T37" fmla="*/ 24 h 40"/>
                <a:gd name="T38" fmla="*/ 1303 w 3892"/>
                <a:gd name="T39" fmla="*/ 24 h 40"/>
                <a:gd name="T40" fmla="*/ 1369 w 3892"/>
                <a:gd name="T41" fmla="*/ 23 h 40"/>
                <a:gd name="T42" fmla="*/ 1436 w 3892"/>
                <a:gd name="T43" fmla="*/ 22 h 40"/>
                <a:gd name="T44" fmla="*/ 1503 w 3892"/>
                <a:gd name="T45" fmla="*/ 22 h 40"/>
                <a:gd name="T46" fmla="*/ 1569 w 3892"/>
                <a:gd name="T47" fmla="*/ 21 h 40"/>
                <a:gd name="T48" fmla="*/ 1636 w 3892"/>
                <a:gd name="T49" fmla="*/ 21 h 40"/>
                <a:gd name="T50" fmla="*/ 1703 w 3892"/>
                <a:gd name="T51" fmla="*/ 20 h 40"/>
                <a:gd name="T52" fmla="*/ 1770 w 3892"/>
                <a:gd name="T53" fmla="*/ 19 h 40"/>
                <a:gd name="T54" fmla="*/ 1837 w 3892"/>
                <a:gd name="T55" fmla="*/ 19 h 40"/>
                <a:gd name="T56" fmla="*/ 1904 w 3892"/>
                <a:gd name="T57" fmla="*/ 18 h 40"/>
                <a:gd name="T58" fmla="*/ 1970 w 3892"/>
                <a:gd name="T59" fmla="*/ 17 h 40"/>
                <a:gd name="T60" fmla="*/ 2037 w 3892"/>
                <a:gd name="T61" fmla="*/ 17 h 40"/>
                <a:gd name="T62" fmla="*/ 2104 w 3892"/>
                <a:gd name="T63" fmla="*/ 16 h 40"/>
                <a:gd name="T64" fmla="*/ 2171 w 3892"/>
                <a:gd name="T65" fmla="*/ 16 h 40"/>
                <a:gd name="T66" fmla="*/ 2238 w 3892"/>
                <a:gd name="T67" fmla="*/ 15 h 40"/>
                <a:gd name="T68" fmla="*/ 2304 w 3892"/>
                <a:gd name="T69" fmla="*/ 14 h 40"/>
                <a:gd name="T70" fmla="*/ 2371 w 3892"/>
                <a:gd name="T71" fmla="*/ 14 h 40"/>
                <a:gd name="T72" fmla="*/ 2438 w 3892"/>
                <a:gd name="T73" fmla="*/ 13 h 40"/>
                <a:gd name="T74" fmla="*/ 2505 w 3892"/>
                <a:gd name="T75" fmla="*/ 13 h 40"/>
                <a:gd name="T76" fmla="*/ 2572 w 3892"/>
                <a:gd name="T77" fmla="*/ 12 h 40"/>
                <a:gd name="T78" fmla="*/ 2638 w 3892"/>
                <a:gd name="T79" fmla="*/ 11 h 40"/>
                <a:gd name="T80" fmla="*/ 2705 w 3892"/>
                <a:gd name="T81" fmla="*/ 11 h 40"/>
                <a:gd name="T82" fmla="*/ 2772 w 3892"/>
                <a:gd name="T83" fmla="*/ 10 h 40"/>
                <a:gd name="T84" fmla="*/ 2839 w 3892"/>
                <a:gd name="T85" fmla="*/ 9 h 40"/>
                <a:gd name="T86" fmla="*/ 2906 w 3892"/>
                <a:gd name="T87" fmla="*/ 9 h 40"/>
                <a:gd name="T88" fmla="*/ 2972 w 3892"/>
                <a:gd name="T89" fmla="*/ 8 h 40"/>
                <a:gd name="T90" fmla="*/ 3039 w 3892"/>
                <a:gd name="T91" fmla="*/ 8 h 40"/>
                <a:gd name="T92" fmla="*/ 3106 w 3892"/>
                <a:gd name="T93" fmla="*/ 7 h 40"/>
                <a:gd name="T94" fmla="*/ 3173 w 3892"/>
                <a:gd name="T95" fmla="*/ 6 h 40"/>
                <a:gd name="T96" fmla="*/ 3239 w 3892"/>
                <a:gd name="T97" fmla="*/ 6 h 40"/>
                <a:gd name="T98" fmla="*/ 3306 w 3892"/>
                <a:gd name="T99" fmla="*/ 5 h 40"/>
                <a:gd name="T100" fmla="*/ 3373 w 3892"/>
                <a:gd name="T101" fmla="*/ 5 h 40"/>
                <a:gd name="T102" fmla="*/ 3440 w 3892"/>
                <a:gd name="T103" fmla="*/ 4 h 40"/>
                <a:gd name="T104" fmla="*/ 3507 w 3892"/>
                <a:gd name="T105" fmla="*/ 3 h 40"/>
                <a:gd name="T106" fmla="*/ 3573 w 3892"/>
                <a:gd name="T107" fmla="*/ 3 h 40"/>
                <a:gd name="T108" fmla="*/ 3640 w 3892"/>
                <a:gd name="T109" fmla="*/ 2 h 40"/>
                <a:gd name="T110" fmla="*/ 3707 w 3892"/>
                <a:gd name="T111" fmla="*/ 1 h 40"/>
                <a:gd name="T112" fmla="*/ 3774 w 3892"/>
                <a:gd name="T113" fmla="*/ 1 h 40"/>
                <a:gd name="T114" fmla="*/ 3841 w 3892"/>
                <a:gd name="T1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892" h="40">
                  <a:moveTo>
                    <a:pt x="0" y="36"/>
                  </a:moveTo>
                  <a:lnTo>
                    <a:pt x="19" y="36"/>
                  </a:lnTo>
                  <a:lnTo>
                    <a:pt x="19" y="40"/>
                  </a:lnTo>
                  <a:lnTo>
                    <a:pt x="0" y="40"/>
                  </a:lnTo>
                  <a:lnTo>
                    <a:pt x="0" y="36"/>
                  </a:lnTo>
                  <a:close/>
                  <a:moveTo>
                    <a:pt x="33" y="35"/>
                  </a:moveTo>
                  <a:lnTo>
                    <a:pt x="53" y="35"/>
                  </a:lnTo>
                  <a:lnTo>
                    <a:pt x="53" y="40"/>
                  </a:lnTo>
                  <a:lnTo>
                    <a:pt x="33" y="40"/>
                  </a:lnTo>
                  <a:lnTo>
                    <a:pt x="33" y="35"/>
                  </a:lnTo>
                  <a:close/>
                  <a:moveTo>
                    <a:pt x="67" y="35"/>
                  </a:moveTo>
                  <a:lnTo>
                    <a:pt x="86" y="35"/>
                  </a:lnTo>
                  <a:lnTo>
                    <a:pt x="86" y="40"/>
                  </a:lnTo>
                  <a:lnTo>
                    <a:pt x="67" y="40"/>
                  </a:lnTo>
                  <a:lnTo>
                    <a:pt x="67" y="35"/>
                  </a:lnTo>
                  <a:close/>
                  <a:moveTo>
                    <a:pt x="100" y="35"/>
                  </a:moveTo>
                  <a:lnTo>
                    <a:pt x="119" y="35"/>
                  </a:lnTo>
                  <a:lnTo>
                    <a:pt x="119" y="39"/>
                  </a:lnTo>
                  <a:lnTo>
                    <a:pt x="100" y="39"/>
                  </a:lnTo>
                  <a:lnTo>
                    <a:pt x="100" y="35"/>
                  </a:lnTo>
                  <a:close/>
                  <a:moveTo>
                    <a:pt x="134" y="34"/>
                  </a:moveTo>
                  <a:lnTo>
                    <a:pt x="153" y="34"/>
                  </a:lnTo>
                  <a:lnTo>
                    <a:pt x="153" y="39"/>
                  </a:lnTo>
                  <a:lnTo>
                    <a:pt x="134" y="39"/>
                  </a:lnTo>
                  <a:lnTo>
                    <a:pt x="134" y="34"/>
                  </a:lnTo>
                  <a:close/>
                  <a:moveTo>
                    <a:pt x="167" y="34"/>
                  </a:moveTo>
                  <a:lnTo>
                    <a:pt x="186" y="34"/>
                  </a:lnTo>
                  <a:lnTo>
                    <a:pt x="186" y="39"/>
                  </a:lnTo>
                  <a:lnTo>
                    <a:pt x="167" y="39"/>
                  </a:lnTo>
                  <a:lnTo>
                    <a:pt x="167" y="34"/>
                  </a:lnTo>
                  <a:close/>
                  <a:moveTo>
                    <a:pt x="200" y="34"/>
                  </a:moveTo>
                  <a:lnTo>
                    <a:pt x="219" y="34"/>
                  </a:lnTo>
                  <a:lnTo>
                    <a:pt x="219" y="39"/>
                  </a:lnTo>
                  <a:lnTo>
                    <a:pt x="200" y="39"/>
                  </a:lnTo>
                  <a:lnTo>
                    <a:pt x="200" y="34"/>
                  </a:lnTo>
                  <a:close/>
                  <a:moveTo>
                    <a:pt x="234" y="33"/>
                  </a:moveTo>
                  <a:lnTo>
                    <a:pt x="253" y="33"/>
                  </a:lnTo>
                  <a:lnTo>
                    <a:pt x="253" y="38"/>
                  </a:lnTo>
                  <a:lnTo>
                    <a:pt x="234" y="38"/>
                  </a:lnTo>
                  <a:lnTo>
                    <a:pt x="234" y="33"/>
                  </a:lnTo>
                  <a:close/>
                  <a:moveTo>
                    <a:pt x="267" y="33"/>
                  </a:moveTo>
                  <a:lnTo>
                    <a:pt x="286" y="33"/>
                  </a:lnTo>
                  <a:lnTo>
                    <a:pt x="286" y="38"/>
                  </a:lnTo>
                  <a:lnTo>
                    <a:pt x="267" y="38"/>
                  </a:lnTo>
                  <a:lnTo>
                    <a:pt x="267" y="33"/>
                  </a:lnTo>
                  <a:close/>
                  <a:moveTo>
                    <a:pt x="300" y="33"/>
                  </a:moveTo>
                  <a:lnTo>
                    <a:pt x="319" y="33"/>
                  </a:lnTo>
                  <a:lnTo>
                    <a:pt x="320" y="37"/>
                  </a:lnTo>
                  <a:lnTo>
                    <a:pt x="301" y="38"/>
                  </a:lnTo>
                  <a:lnTo>
                    <a:pt x="300" y="33"/>
                  </a:lnTo>
                  <a:close/>
                  <a:moveTo>
                    <a:pt x="334" y="33"/>
                  </a:moveTo>
                  <a:lnTo>
                    <a:pt x="353" y="32"/>
                  </a:lnTo>
                  <a:lnTo>
                    <a:pt x="353" y="37"/>
                  </a:lnTo>
                  <a:lnTo>
                    <a:pt x="334" y="37"/>
                  </a:lnTo>
                  <a:lnTo>
                    <a:pt x="334" y="33"/>
                  </a:lnTo>
                  <a:close/>
                  <a:moveTo>
                    <a:pt x="367" y="32"/>
                  </a:moveTo>
                  <a:lnTo>
                    <a:pt x="386" y="32"/>
                  </a:lnTo>
                  <a:lnTo>
                    <a:pt x="386" y="37"/>
                  </a:lnTo>
                  <a:lnTo>
                    <a:pt x="367" y="37"/>
                  </a:lnTo>
                  <a:lnTo>
                    <a:pt x="367" y="32"/>
                  </a:lnTo>
                  <a:close/>
                  <a:moveTo>
                    <a:pt x="401" y="32"/>
                  </a:moveTo>
                  <a:lnTo>
                    <a:pt x="420" y="32"/>
                  </a:lnTo>
                  <a:lnTo>
                    <a:pt x="420" y="36"/>
                  </a:lnTo>
                  <a:lnTo>
                    <a:pt x="401" y="37"/>
                  </a:lnTo>
                  <a:lnTo>
                    <a:pt x="401" y="32"/>
                  </a:lnTo>
                  <a:close/>
                  <a:moveTo>
                    <a:pt x="434" y="32"/>
                  </a:moveTo>
                  <a:lnTo>
                    <a:pt x="453" y="31"/>
                  </a:lnTo>
                  <a:lnTo>
                    <a:pt x="453" y="36"/>
                  </a:lnTo>
                  <a:lnTo>
                    <a:pt x="434" y="36"/>
                  </a:lnTo>
                  <a:lnTo>
                    <a:pt x="434" y="32"/>
                  </a:lnTo>
                  <a:close/>
                  <a:moveTo>
                    <a:pt x="468" y="31"/>
                  </a:moveTo>
                  <a:lnTo>
                    <a:pt x="487" y="31"/>
                  </a:lnTo>
                  <a:lnTo>
                    <a:pt x="487" y="36"/>
                  </a:lnTo>
                  <a:lnTo>
                    <a:pt x="468" y="36"/>
                  </a:lnTo>
                  <a:lnTo>
                    <a:pt x="468" y="31"/>
                  </a:lnTo>
                  <a:close/>
                  <a:moveTo>
                    <a:pt x="501" y="31"/>
                  </a:moveTo>
                  <a:lnTo>
                    <a:pt x="520" y="31"/>
                  </a:lnTo>
                  <a:lnTo>
                    <a:pt x="520" y="36"/>
                  </a:lnTo>
                  <a:lnTo>
                    <a:pt x="501" y="36"/>
                  </a:lnTo>
                  <a:lnTo>
                    <a:pt x="501" y="31"/>
                  </a:lnTo>
                  <a:close/>
                  <a:moveTo>
                    <a:pt x="534" y="31"/>
                  </a:moveTo>
                  <a:lnTo>
                    <a:pt x="553" y="31"/>
                  </a:lnTo>
                  <a:lnTo>
                    <a:pt x="553" y="35"/>
                  </a:lnTo>
                  <a:lnTo>
                    <a:pt x="534" y="36"/>
                  </a:lnTo>
                  <a:lnTo>
                    <a:pt x="534" y="31"/>
                  </a:lnTo>
                  <a:close/>
                  <a:moveTo>
                    <a:pt x="568" y="31"/>
                  </a:moveTo>
                  <a:lnTo>
                    <a:pt x="587" y="30"/>
                  </a:lnTo>
                  <a:lnTo>
                    <a:pt x="587" y="35"/>
                  </a:lnTo>
                  <a:lnTo>
                    <a:pt x="568" y="35"/>
                  </a:lnTo>
                  <a:lnTo>
                    <a:pt x="568" y="31"/>
                  </a:lnTo>
                  <a:close/>
                  <a:moveTo>
                    <a:pt x="601" y="30"/>
                  </a:moveTo>
                  <a:lnTo>
                    <a:pt x="620" y="30"/>
                  </a:lnTo>
                  <a:lnTo>
                    <a:pt x="620" y="35"/>
                  </a:lnTo>
                  <a:lnTo>
                    <a:pt x="601" y="35"/>
                  </a:lnTo>
                  <a:lnTo>
                    <a:pt x="601" y="30"/>
                  </a:lnTo>
                  <a:close/>
                  <a:moveTo>
                    <a:pt x="634" y="30"/>
                  </a:moveTo>
                  <a:lnTo>
                    <a:pt x="653" y="30"/>
                  </a:lnTo>
                  <a:lnTo>
                    <a:pt x="654" y="34"/>
                  </a:lnTo>
                  <a:lnTo>
                    <a:pt x="635" y="35"/>
                  </a:lnTo>
                  <a:lnTo>
                    <a:pt x="634" y="30"/>
                  </a:lnTo>
                  <a:close/>
                  <a:moveTo>
                    <a:pt x="668" y="30"/>
                  </a:moveTo>
                  <a:lnTo>
                    <a:pt x="687" y="29"/>
                  </a:lnTo>
                  <a:lnTo>
                    <a:pt x="687" y="34"/>
                  </a:lnTo>
                  <a:lnTo>
                    <a:pt x="668" y="34"/>
                  </a:lnTo>
                  <a:lnTo>
                    <a:pt x="668" y="30"/>
                  </a:lnTo>
                  <a:close/>
                  <a:moveTo>
                    <a:pt x="701" y="29"/>
                  </a:moveTo>
                  <a:lnTo>
                    <a:pt x="720" y="29"/>
                  </a:lnTo>
                  <a:lnTo>
                    <a:pt x="720" y="34"/>
                  </a:lnTo>
                  <a:lnTo>
                    <a:pt x="701" y="34"/>
                  </a:lnTo>
                  <a:lnTo>
                    <a:pt x="701" y="29"/>
                  </a:lnTo>
                  <a:close/>
                  <a:moveTo>
                    <a:pt x="735" y="29"/>
                  </a:moveTo>
                  <a:lnTo>
                    <a:pt x="754" y="29"/>
                  </a:lnTo>
                  <a:lnTo>
                    <a:pt x="754" y="33"/>
                  </a:lnTo>
                  <a:lnTo>
                    <a:pt x="735" y="34"/>
                  </a:lnTo>
                  <a:lnTo>
                    <a:pt x="735" y="29"/>
                  </a:lnTo>
                  <a:close/>
                  <a:moveTo>
                    <a:pt x="768" y="29"/>
                  </a:moveTo>
                  <a:lnTo>
                    <a:pt x="787" y="28"/>
                  </a:lnTo>
                  <a:lnTo>
                    <a:pt x="787" y="33"/>
                  </a:lnTo>
                  <a:lnTo>
                    <a:pt x="768" y="33"/>
                  </a:lnTo>
                  <a:lnTo>
                    <a:pt x="768" y="29"/>
                  </a:lnTo>
                  <a:close/>
                  <a:moveTo>
                    <a:pt x="801" y="28"/>
                  </a:moveTo>
                  <a:lnTo>
                    <a:pt x="821" y="28"/>
                  </a:lnTo>
                  <a:lnTo>
                    <a:pt x="821" y="33"/>
                  </a:lnTo>
                  <a:lnTo>
                    <a:pt x="801" y="33"/>
                  </a:lnTo>
                  <a:lnTo>
                    <a:pt x="801" y="28"/>
                  </a:lnTo>
                  <a:close/>
                  <a:moveTo>
                    <a:pt x="835" y="28"/>
                  </a:moveTo>
                  <a:lnTo>
                    <a:pt x="854" y="28"/>
                  </a:lnTo>
                  <a:lnTo>
                    <a:pt x="854" y="33"/>
                  </a:lnTo>
                  <a:lnTo>
                    <a:pt x="835" y="33"/>
                  </a:lnTo>
                  <a:lnTo>
                    <a:pt x="835" y="28"/>
                  </a:lnTo>
                  <a:close/>
                  <a:moveTo>
                    <a:pt x="868" y="28"/>
                  </a:moveTo>
                  <a:lnTo>
                    <a:pt x="887" y="28"/>
                  </a:lnTo>
                  <a:lnTo>
                    <a:pt x="887" y="32"/>
                  </a:lnTo>
                  <a:lnTo>
                    <a:pt x="868" y="32"/>
                  </a:lnTo>
                  <a:lnTo>
                    <a:pt x="868" y="28"/>
                  </a:lnTo>
                  <a:close/>
                  <a:moveTo>
                    <a:pt x="902" y="27"/>
                  </a:moveTo>
                  <a:lnTo>
                    <a:pt x="921" y="27"/>
                  </a:lnTo>
                  <a:lnTo>
                    <a:pt x="921" y="32"/>
                  </a:lnTo>
                  <a:lnTo>
                    <a:pt x="902" y="32"/>
                  </a:lnTo>
                  <a:lnTo>
                    <a:pt x="902" y="27"/>
                  </a:lnTo>
                  <a:close/>
                  <a:moveTo>
                    <a:pt x="935" y="27"/>
                  </a:moveTo>
                  <a:lnTo>
                    <a:pt x="954" y="27"/>
                  </a:lnTo>
                  <a:lnTo>
                    <a:pt x="954" y="32"/>
                  </a:lnTo>
                  <a:lnTo>
                    <a:pt x="935" y="32"/>
                  </a:lnTo>
                  <a:lnTo>
                    <a:pt x="935" y="27"/>
                  </a:lnTo>
                  <a:close/>
                  <a:moveTo>
                    <a:pt x="969" y="27"/>
                  </a:moveTo>
                  <a:lnTo>
                    <a:pt x="988" y="27"/>
                  </a:lnTo>
                  <a:lnTo>
                    <a:pt x="988" y="31"/>
                  </a:lnTo>
                  <a:lnTo>
                    <a:pt x="969" y="31"/>
                  </a:lnTo>
                  <a:lnTo>
                    <a:pt x="969" y="27"/>
                  </a:lnTo>
                  <a:close/>
                  <a:moveTo>
                    <a:pt x="1002" y="26"/>
                  </a:moveTo>
                  <a:lnTo>
                    <a:pt x="1021" y="26"/>
                  </a:lnTo>
                  <a:lnTo>
                    <a:pt x="1021" y="31"/>
                  </a:lnTo>
                  <a:lnTo>
                    <a:pt x="1002" y="31"/>
                  </a:lnTo>
                  <a:lnTo>
                    <a:pt x="1002" y="26"/>
                  </a:lnTo>
                  <a:close/>
                  <a:moveTo>
                    <a:pt x="1035" y="26"/>
                  </a:moveTo>
                  <a:lnTo>
                    <a:pt x="1054" y="26"/>
                  </a:lnTo>
                  <a:lnTo>
                    <a:pt x="1054" y="31"/>
                  </a:lnTo>
                  <a:lnTo>
                    <a:pt x="1035" y="31"/>
                  </a:lnTo>
                  <a:lnTo>
                    <a:pt x="1035" y="26"/>
                  </a:lnTo>
                  <a:close/>
                  <a:moveTo>
                    <a:pt x="1069" y="26"/>
                  </a:moveTo>
                  <a:lnTo>
                    <a:pt x="1088" y="26"/>
                  </a:lnTo>
                  <a:lnTo>
                    <a:pt x="1088" y="31"/>
                  </a:lnTo>
                  <a:lnTo>
                    <a:pt x="1069" y="31"/>
                  </a:lnTo>
                  <a:lnTo>
                    <a:pt x="1069" y="26"/>
                  </a:lnTo>
                  <a:close/>
                  <a:moveTo>
                    <a:pt x="1102" y="25"/>
                  </a:moveTo>
                  <a:lnTo>
                    <a:pt x="1121" y="25"/>
                  </a:lnTo>
                  <a:lnTo>
                    <a:pt x="1121" y="30"/>
                  </a:lnTo>
                  <a:lnTo>
                    <a:pt x="1102" y="30"/>
                  </a:lnTo>
                  <a:lnTo>
                    <a:pt x="1102" y="25"/>
                  </a:lnTo>
                  <a:close/>
                  <a:moveTo>
                    <a:pt x="1135" y="25"/>
                  </a:moveTo>
                  <a:lnTo>
                    <a:pt x="1154" y="25"/>
                  </a:lnTo>
                  <a:lnTo>
                    <a:pt x="1154" y="30"/>
                  </a:lnTo>
                  <a:lnTo>
                    <a:pt x="1135" y="30"/>
                  </a:lnTo>
                  <a:lnTo>
                    <a:pt x="1135" y="25"/>
                  </a:lnTo>
                  <a:close/>
                  <a:moveTo>
                    <a:pt x="1169" y="25"/>
                  </a:moveTo>
                  <a:lnTo>
                    <a:pt x="1188" y="25"/>
                  </a:lnTo>
                  <a:lnTo>
                    <a:pt x="1188" y="29"/>
                  </a:lnTo>
                  <a:lnTo>
                    <a:pt x="1169" y="30"/>
                  </a:lnTo>
                  <a:lnTo>
                    <a:pt x="1169" y="25"/>
                  </a:lnTo>
                  <a:close/>
                  <a:moveTo>
                    <a:pt x="1202" y="25"/>
                  </a:moveTo>
                  <a:lnTo>
                    <a:pt x="1221" y="24"/>
                  </a:lnTo>
                  <a:lnTo>
                    <a:pt x="1221" y="29"/>
                  </a:lnTo>
                  <a:lnTo>
                    <a:pt x="1202" y="29"/>
                  </a:lnTo>
                  <a:lnTo>
                    <a:pt x="1202" y="25"/>
                  </a:lnTo>
                  <a:close/>
                  <a:moveTo>
                    <a:pt x="1235" y="24"/>
                  </a:moveTo>
                  <a:lnTo>
                    <a:pt x="1255" y="24"/>
                  </a:lnTo>
                  <a:lnTo>
                    <a:pt x="1255" y="29"/>
                  </a:lnTo>
                  <a:lnTo>
                    <a:pt x="1236" y="29"/>
                  </a:lnTo>
                  <a:lnTo>
                    <a:pt x="1235" y="24"/>
                  </a:lnTo>
                  <a:close/>
                  <a:moveTo>
                    <a:pt x="1269" y="24"/>
                  </a:moveTo>
                  <a:lnTo>
                    <a:pt x="1288" y="24"/>
                  </a:lnTo>
                  <a:lnTo>
                    <a:pt x="1288" y="28"/>
                  </a:lnTo>
                  <a:lnTo>
                    <a:pt x="1269" y="29"/>
                  </a:lnTo>
                  <a:lnTo>
                    <a:pt x="1269" y="24"/>
                  </a:lnTo>
                  <a:close/>
                  <a:moveTo>
                    <a:pt x="1303" y="24"/>
                  </a:moveTo>
                  <a:lnTo>
                    <a:pt x="1322" y="23"/>
                  </a:lnTo>
                  <a:lnTo>
                    <a:pt x="1322" y="28"/>
                  </a:lnTo>
                  <a:lnTo>
                    <a:pt x="1303" y="28"/>
                  </a:lnTo>
                  <a:lnTo>
                    <a:pt x="1303" y="24"/>
                  </a:lnTo>
                  <a:close/>
                  <a:moveTo>
                    <a:pt x="1336" y="23"/>
                  </a:moveTo>
                  <a:lnTo>
                    <a:pt x="1355" y="23"/>
                  </a:lnTo>
                  <a:lnTo>
                    <a:pt x="1355" y="28"/>
                  </a:lnTo>
                  <a:lnTo>
                    <a:pt x="1336" y="28"/>
                  </a:lnTo>
                  <a:lnTo>
                    <a:pt x="1336" y="23"/>
                  </a:lnTo>
                  <a:close/>
                  <a:moveTo>
                    <a:pt x="1369" y="23"/>
                  </a:moveTo>
                  <a:lnTo>
                    <a:pt x="1388" y="23"/>
                  </a:lnTo>
                  <a:lnTo>
                    <a:pt x="1388" y="28"/>
                  </a:lnTo>
                  <a:lnTo>
                    <a:pt x="1369" y="28"/>
                  </a:lnTo>
                  <a:lnTo>
                    <a:pt x="1369" y="23"/>
                  </a:lnTo>
                  <a:close/>
                  <a:moveTo>
                    <a:pt x="1403" y="23"/>
                  </a:moveTo>
                  <a:lnTo>
                    <a:pt x="1422" y="22"/>
                  </a:lnTo>
                  <a:lnTo>
                    <a:pt x="1422" y="27"/>
                  </a:lnTo>
                  <a:lnTo>
                    <a:pt x="1403" y="28"/>
                  </a:lnTo>
                  <a:lnTo>
                    <a:pt x="1403" y="23"/>
                  </a:lnTo>
                  <a:close/>
                  <a:moveTo>
                    <a:pt x="1436" y="22"/>
                  </a:moveTo>
                  <a:lnTo>
                    <a:pt x="1455" y="22"/>
                  </a:lnTo>
                  <a:lnTo>
                    <a:pt x="1455" y="27"/>
                  </a:lnTo>
                  <a:lnTo>
                    <a:pt x="1436" y="27"/>
                  </a:lnTo>
                  <a:lnTo>
                    <a:pt x="1436" y="22"/>
                  </a:lnTo>
                  <a:close/>
                  <a:moveTo>
                    <a:pt x="1469" y="22"/>
                  </a:moveTo>
                  <a:lnTo>
                    <a:pt x="1488" y="22"/>
                  </a:lnTo>
                  <a:lnTo>
                    <a:pt x="1488" y="27"/>
                  </a:lnTo>
                  <a:lnTo>
                    <a:pt x="1469" y="27"/>
                  </a:lnTo>
                  <a:lnTo>
                    <a:pt x="1469" y="22"/>
                  </a:lnTo>
                  <a:close/>
                  <a:moveTo>
                    <a:pt x="1503" y="22"/>
                  </a:moveTo>
                  <a:lnTo>
                    <a:pt x="1522" y="22"/>
                  </a:lnTo>
                  <a:lnTo>
                    <a:pt x="1522" y="26"/>
                  </a:lnTo>
                  <a:lnTo>
                    <a:pt x="1503" y="27"/>
                  </a:lnTo>
                  <a:lnTo>
                    <a:pt x="1503" y="22"/>
                  </a:lnTo>
                  <a:close/>
                  <a:moveTo>
                    <a:pt x="1536" y="22"/>
                  </a:moveTo>
                  <a:lnTo>
                    <a:pt x="1555" y="21"/>
                  </a:lnTo>
                  <a:lnTo>
                    <a:pt x="1555" y="26"/>
                  </a:lnTo>
                  <a:lnTo>
                    <a:pt x="1536" y="26"/>
                  </a:lnTo>
                  <a:lnTo>
                    <a:pt x="1536" y="22"/>
                  </a:lnTo>
                  <a:close/>
                  <a:moveTo>
                    <a:pt x="1569" y="21"/>
                  </a:moveTo>
                  <a:lnTo>
                    <a:pt x="1589" y="21"/>
                  </a:lnTo>
                  <a:lnTo>
                    <a:pt x="1589" y="26"/>
                  </a:lnTo>
                  <a:lnTo>
                    <a:pt x="1570" y="26"/>
                  </a:lnTo>
                  <a:lnTo>
                    <a:pt x="1569" y="21"/>
                  </a:lnTo>
                  <a:close/>
                  <a:moveTo>
                    <a:pt x="1603" y="21"/>
                  </a:moveTo>
                  <a:lnTo>
                    <a:pt x="1622" y="21"/>
                  </a:lnTo>
                  <a:lnTo>
                    <a:pt x="1622" y="25"/>
                  </a:lnTo>
                  <a:lnTo>
                    <a:pt x="1603" y="26"/>
                  </a:lnTo>
                  <a:lnTo>
                    <a:pt x="1603" y="21"/>
                  </a:lnTo>
                  <a:close/>
                  <a:moveTo>
                    <a:pt x="1636" y="21"/>
                  </a:moveTo>
                  <a:lnTo>
                    <a:pt x="1656" y="20"/>
                  </a:lnTo>
                  <a:lnTo>
                    <a:pt x="1656" y="25"/>
                  </a:lnTo>
                  <a:lnTo>
                    <a:pt x="1636" y="25"/>
                  </a:lnTo>
                  <a:lnTo>
                    <a:pt x="1636" y="21"/>
                  </a:lnTo>
                  <a:close/>
                  <a:moveTo>
                    <a:pt x="1670" y="20"/>
                  </a:moveTo>
                  <a:lnTo>
                    <a:pt x="1689" y="20"/>
                  </a:lnTo>
                  <a:lnTo>
                    <a:pt x="1689" y="25"/>
                  </a:lnTo>
                  <a:lnTo>
                    <a:pt x="1670" y="25"/>
                  </a:lnTo>
                  <a:lnTo>
                    <a:pt x="1670" y="20"/>
                  </a:lnTo>
                  <a:close/>
                  <a:moveTo>
                    <a:pt x="1703" y="20"/>
                  </a:moveTo>
                  <a:lnTo>
                    <a:pt x="1722" y="20"/>
                  </a:lnTo>
                  <a:lnTo>
                    <a:pt x="1722" y="25"/>
                  </a:lnTo>
                  <a:lnTo>
                    <a:pt x="1703" y="25"/>
                  </a:lnTo>
                  <a:lnTo>
                    <a:pt x="1703" y="20"/>
                  </a:lnTo>
                  <a:close/>
                  <a:moveTo>
                    <a:pt x="1737" y="19"/>
                  </a:moveTo>
                  <a:lnTo>
                    <a:pt x="1756" y="19"/>
                  </a:lnTo>
                  <a:lnTo>
                    <a:pt x="1756" y="24"/>
                  </a:lnTo>
                  <a:lnTo>
                    <a:pt x="1737" y="24"/>
                  </a:lnTo>
                  <a:lnTo>
                    <a:pt x="1737" y="19"/>
                  </a:lnTo>
                  <a:close/>
                  <a:moveTo>
                    <a:pt x="1770" y="19"/>
                  </a:moveTo>
                  <a:lnTo>
                    <a:pt x="1789" y="19"/>
                  </a:lnTo>
                  <a:lnTo>
                    <a:pt x="1789" y="24"/>
                  </a:lnTo>
                  <a:lnTo>
                    <a:pt x="1770" y="24"/>
                  </a:lnTo>
                  <a:lnTo>
                    <a:pt x="1770" y="19"/>
                  </a:lnTo>
                  <a:close/>
                  <a:moveTo>
                    <a:pt x="1803" y="19"/>
                  </a:moveTo>
                  <a:lnTo>
                    <a:pt x="1822" y="19"/>
                  </a:lnTo>
                  <a:lnTo>
                    <a:pt x="1822" y="24"/>
                  </a:lnTo>
                  <a:lnTo>
                    <a:pt x="1803" y="24"/>
                  </a:lnTo>
                  <a:lnTo>
                    <a:pt x="1803" y="19"/>
                  </a:lnTo>
                  <a:close/>
                  <a:moveTo>
                    <a:pt x="1837" y="19"/>
                  </a:moveTo>
                  <a:lnTo>
                    <a:pt x="1856" y="19"/>
                  </a:lnTo>
                  <a:lnTo>
                    <a:pt x="1856" y="23"/>
                  </a:lnTo>
                  <a:lnTo>
                    <a:pt x="1837" y="23"/>
                  </a:lnTo>
                  <a:lnTo>
                    <a:pt x="1837" y="19"/>
                  </a:lnTo>
                  <a:close/>
                  <a:moveTo>
                    <a:pt x="1870" y="18"/>
                  </a:moveTo>
                  <a:lnTo>
                    <a:pt x="1889" y="18"/>
                  </a:lnTo>
                  <a:lnTo>
                    <a:pt x="1889" y="23"/>
                  </a:lnTo>
                  <a:lnTo>
                    <a:pt x="1870" y="23"/>
                  </a:lnTo>
                  <a:lnTo>
                    <a:pt x="1870" y="18"/>
                  </a:lnTo>
                  <a:close/>
                  <a:moveTo>
                    <a:pt x="1904" y="18"/>
                  </a:moveTo>
                  <a:lnTo>
                    <a:pt x="1923" y="18"/>
                  </a:lnTo>
                  <a:lnTo>
                    <a:pt x="1923" y="23"/>
                  </a:lnTo>
                  <a:lnTo>
                    <a:pt x="1904" y="23"/>
                  </a:lnTo>
                  <a:lnTo>
                    <a:pt x="1904" y="18"/>
                  </a:lnTo>
                  <a:close/>
                  <a:moveTo>
                    <a:pt x="1937" y="18"/>
                  </a:moveTo>
                  <a:lnTo>
                    <a:pt x="1956" y="18"/>
                  </a:lnTo>
                  <a:lnTo>
                    <a:pt x="1956" y="22"/>
                  </a:lnTo>
                  <a:lnTo>
                    <a:pt x="1937" y="22"/>
                  </a:lnTo>
                  <a:lnTo>
                    <a:pt x="1937" y="18"/>
                  </a:lnTo>
                  <a:close/>
                  <a:moveTo>
                    <a:pt x="1970" y="17"/>
                  </a:moveTo>
                  <a:lnTo>
                    <a:pt x="1989" y="17"/>
                  </a:lnTo>
                  <a:lnTo>
                    <a:pt x="1989" y="22"/>
                  </a:lnTo>
                  <a:lnTo>
                    <a:pt x="1970" y="22"/>
                  </a:lnTo>
                  <a:lnTo>
                    <a:pt x="1970" y="17"/>
                  </a:lnTo>
                  <a:close/>
                  <a:moveTo>
                    <a:pt x="2004" y="17"/>
                  </a:moveTo>
                  <a:lnTo>
                    <a:pt x="2023" y="17"/>
                  </a:lnTo>
                  <a:lnTo>
                    <a:pt x="2023" y="22"/>
                  </a:lnTo>
                  <a:lnTo>
                    <a:pt x="2004" y="22"/>
                  </a:lnTo>
                  <a:lnTo>
                    <a:pt x="2004" y="17"/>
                  </a:lnTo>
                  <a:close/>
                  <a:moveTo>
                    <a:pt x="2037" y="17"/>
                  </a:moveTo>
                  <a:lnTo>
                    <a:pt x="2056" y="17"/>
                  </a:lnTo>
                  <a:lnTo>
                    <a:pt x="2056" y="21"/>
                  </a:lnTo>
                  <a:lnTo>
                    <a:pt x="2037" y="22"/>
                  </a:lnTo>
                  <a:lnTo>
                    <a:pt x="2037" y="17"/>
                  </a:lnTo>
                  <a:close/>
                  <a:moveTo>
                    <a:pt x="2071" y="17"/>
                  </a:moveTo>
                  <a:lnTo>
                    <a:pt x="2090" y="16"/>
                  </a:lnTo>
                  <a:lnTo>
                    <a:pt x="2090" y="21"/>
                  </a:lnTo>
                  <a:lnTo>
                    <a:pt x="2071" y="21"/>
                  </a:lnTo>
                  <a:lnTo>
                    <a:pt x="2071" y="17"/>
                  </a:lnTo>
                  <a:close/>
                  <a:moveTo>
                    <a:pt x="2104" y="16"/>
                  </a:moveTo>
                  <a:lnTo>
                    <a:pt x="2123" y="16"/>
                  </a:lnTo>
                  <a:lnTo>
                    <a:pt x="2123" y="21"/>
                  </a:lnTo>
                  <a:lnTo>
                    <a:pt x="2104" y="21"/>
                  </a:lnTo>
                  <a:lnTo>
                    <a:pt x="2104" y="16"/>
                  </a:lnTo>
                  <a:close/>
                  <a:moveTo>
                    <a:pt x="2137" y="16"/>
                  </a:moveTo>
                  <a:lnTo>
                    <a:pt x="2156" y="16"/>
                  </a:lnTo>
                  <a:lnTo>
                    <a:pt x="2156" y="20"/>
                  </a:lnTo>
                  <a:lnTo>
                    <a:pt x="2137" y="21"/>
                  </a:lnTo>
                  <a:lnTo>
                    <a:pt x="2137" y="16"/>
                  </a:lnTo>
                  <a:close/>
                  <a:moveTo>
                    <a:pt x="2171" y="16"/>
                  </a:moveTo>
                  <a:lnTo>
                    <a:pt x="2190" y="15"/>
                  </a:lnTo>
                  <a:lnTo>
                    <a:pt x="2190" y="20"/>
                  </a:lnTo>
                  <a:lnTo>
                    <a:pt x="2171" y="20"/>
                  </a:lnTo>
                  <a:lnTo>
                    <a:pt x="2171" y="16"/>
                  </a:lnTo>
                  <a:close/>
                  <a:moveTo>
                    <a:pt x="2204" y="15"/>
                  </a:moveTo>
                  <a:lnTo>
                    <a:pt x="2223" y="15"/>
                  </a:lnTo>
                  <a:lnTo>
                    <a:pt x="2223" y="20"/>
                  </a:lnTo>
                  <a:lnTo>
                    <a:pt x="2204" y="20"/>
                  </a:lnTo>
                  <a:lnTo>
                    <a:pt x="2204" y="15"/>
                  </a:lnTo>
                  <a:close/>
                  <a:moveTo>
                    <a:pt x="2238" y="15"/>
                  </a:moveTo>
                  <a:lnTo>
                    <a:pt x="2257" y="15"/>
                  </a:lnTo>
                  <a:lnTo>
                    <a:pt x="2257" y="19"/>
                  </a:lnTo>
                  <a:lnTo>
                    <a:pt x="2238" y="20"/>
                  </a:lnTo>
                  <a:lnTo>
                    <a:pt x="2238" y="15"/>
                  </a:lnTo>
                  <a:close/>
                  <a:moveTo>
                    <a:pt x="2271" y="15"/>
                  </a:moveTo>
                  <a:lnTo>
                    <a:pt x="2290" y="14"/>
                  </a:lnTo>
                  <a:lnTo>
                    <a:pt x="2290" y="19"/>
                  </a:lnTo>
                  <a:lnTo>
                    <a:pt x="2271" y="19"/>
                  </a:lnTo>
                  <a:lnTo>
                    <a:pt x="2271" y="15"/>
                  </a:lnTo>
                  <a:close/>
                  <a:moveTo>
                    <a:pt x="2304" y="14"/>
                  </a:moveTo>
                  <a:lnTo>
                    <a:pt x="2323" y="14"/>
                  </a:lnTo>
                  <a:lnTo>
                    <a:pt x="2323" y="19"/>
                  </a:lnTo>
                  <a:lnTo>
                    <a:pt x="2304" y="19"/>
                  </a:lnTo>
                  <a:lnTo>
                    <a:pt x="2304" y="14"/>
                  </a:lnTo>
                  <a:close/>
                  <a:moveTo>
                    <a:pt x="2338" y="14"/>
                  </a:moveTo>
                  <a:lnTo>
                    <a:pt x="2357" y="14"/>
                  </a:lnTo>
                  <a:lnTo>
                    <a:pt x="2357" y="19"/>
                  </a:lnTo>
                  <a:lnTo>
                    <a:pt x="2338" y="19"/>
                  </a:lnTo>
                  <a:lnTo>
                    <a:pt x="2338" y="14"/>
                  </a:lnTo>
                  <a:close/>
                  <a:moveTo>
                    <a:pt x="2371" y="14"/>
                  </a:moveTo>
                  <a:lnTo>
                    <a:pt x="2390" y="14"/>
                  </a:lnTo>
                  <a:lnTo>
                    <a:pt x="2390" y="18"/>
                  </a:lnTo>
                  <a:lnTo>
                    <a:pt x="2371" y="19"/>
                  </a:lnTo>
                  <a:lnTo>
                    <a:pt x="2371" y="14"/>
                  </a:lnTo>
                  <a:close/>
                  <a:moveTo>
                    <a:pt x="2404" y="14"/>
                  </a:moveTo>
                  <a:lnTo>
                    <a:pt x="2424" y="13"/>
                  </a:lnTo>
                  <a:lnTo>
                    <a:pt x="2424" y="18"/>
                  </a:lnTo>
                  <a:lnTo>
                    <a:pt x="2404" y="18"/>
                  </a:lnTo>
                  <a:lnTo>
                    <a:pt x="2404" y="14"/>
                  </a:lnTo>
                  <a:close/>
                  <a:moveTo>
                    <a:pt x="2438" y="13"/>
                  </a:moveTo>
                  <a:lnTo>
                    <a:pt x="2457" y="13"/>
                  </a:lnTo>
                  <a:lnTo>
                    <a:pt x="2457" y="18"/>
                  </a:lnTo>
                  <a:lnTo>
                    <a:pt x="2438" y="18"/>
                  </a:lnTo>
                  <a:lnTo>
                    <a:pt x="2438" y="13"/>
                  </a:lnTo>
                  <a:close/>
                  <a:moveTo>
                    <a:pt x="2471" y="13"/>
                  </a:moveTo>
                  <a:lnTo>
                    <a:pt x="2490" y="13"/>
                  </a:lnTo>
                  <a:lnTo>
                    <a:pt x="2491" y="17"/>
                  </a:lnTo>
                  <a:lnTo>
                    <a:pt x="2471" y="18"/>
                  </a:lnTo>
                  <a:lnTo>
                    <a:pt x="2471" y="13"/>
                  </a:lnTo>
                  <a:close/>
                  <a:moveTo>
                    <a:pt x="2505" y="13"/>
                  </a:moveTo>
                  <a:lnTo>
                    <a:pt x="2524" y="12"/>
                  </a:lnTo>
                  <a:lnTo>
                    <a:pt x="2524" y="17"/>
                  </a:lnTo>
                  <a:lnTo>
                    <a:pt x="2505" y="17"/>
                  </a:lnTo>
                  <a:lnTo>
                    <a:pt x="2505" y="13"/>
                  </a:lnTo>
                  <a:close/>
                  <a:moveTo>
                    <a:pt x="2538" y="12"/>
                  </a:moveTo>
                  <a:lnTo>
                    <a:pt x="2557" y="12"/>
                  </a:lnTo>
                  <a:lnTo>
                    <a:pt x="2557" y="17"/>
                  </a:lnTo>
                  <a:lnTo>
                    <a:pt x="2538" y="17"/>
                  </a:lnTo>
                  <a:lnTo>
                    <a:pt x="2538" y="12"/>
                  </a:lnTo>
                  <a:close/>
                  <a:moveTo>
                    <a:pt x="2572" y="12"/>
                  </a:moveTo>
                  <a:lnTo>
                    <a:pt x="2591" y="12"/>
                  </a:lnTo>
                  <a:lnTo>
                    <a:pt x="2591" y="17"/>
                  </a:lnTo>
                  <a:lnTo>
                    <a:pt x="2572" y="17"/>
                  </a:lnTo>
                  <a:lnTo>
                    <a:pt x="2572" y="12"/>
                  </a:lnTo>
                  <a:close/>
                  <a:moveTo>
                    <a:pt x="2605" y="11"/>
                  </a:moveTo>
                  <a:lnTo>
                    <a:pt x="2624" y="11"/>
                  </a:lnTo>
                  <a:lnTo>
                    <a:pt x="2624" y="16"/>
                  </a:lnTo>
                  <a:lnTo>
                    <a:pt x="2605" y="16"/>
                  </a:lnTo>
                  <a:lnTo>
                    <a:pt x="2605" y="11"/>
                  </a:lnTo>
                  <a:close/>
                  <a:moveTo>
                    <a:pt x="2638" y="11"/>
                  </a:moveTo>
                  <a:lnTo>
                    <a:pt x="2657" y="11"/>
                  </a:lnTo>
                  <a:lnTo>
                    <a:pt x="2657" y="16"/>
                  </a:lnTo>
                  <a:lnTo>
                    <a:pt x="2638" y="16"/>
                  </a:lnTo>
                  <a:lnTo>
                    <a:pt x="2638" y="11"/>
                  </a:lnTo>
                  <a:close/>
                  <a:moveTo>
                    <a:pt x="2672" y="11"/>
                  </a:moveTo>
                  <a:lnTo>
                    <a:pt x="2691" y="11"/>
                  </a:lnTo>
                  <a:lnTo>
                    <a:pt x="2691" y="16"/>
                  </a:lnTo>
                  <a:lnTo>
                    <a:pt x="2672" y="16"/>
                  </a:lnTo>
                  <a:lnTo>
                    <a:pt x="2672" y="11"/>
                  </a:lnTo>
                  <a:close/>
                  <a:moveTo>
                    <a:pt x="2705" y="11"/>
                  </a:moveTo>
                  <a:lnTo>
                    <a:pt x="2724" y="11"/>
                  </a:lnTo>
                  <a:lnTo>
                    <a:pt x="2724" y="15"/>
                  </a:lnTo>
                  <a:lnTo>
                    <a:pt x="2705" y="15"/>
                  </a:lnTo>
                  <a:lnTo>
                    <a:pt x="2705" y="11"/>
                  </a:lnTo>
                  <a:close/>
                  <a:moveTo>
                    <a:pt x="2738" y="10"/>
                  </a:moveTo>
                  <a:lnTo>
                    <a:pt x="2757" y="10"/>
                  </a:lnTo>
                  <a:lnTo>
                    <a:pt x="2757" y="15"/>
                  </a:lnTo>
                  <a:lnTo>
                    <a:pt x="2738" y="15"/>
                  </a:lnTo>
                  <a:lnTo>
                    <a:pt x="2738" y="10"/>
                  </a:lnTo>
                  <a:close/>
                  <a:moveTo>
                    <a:pt x="2772" y="10"/>
                  </a:moveTo>
                  <a:lnTo>
                    <a:pt x="2791" y="10"/>
                  </a:lnTo>
                  <a:lnTo>
                    <a:pt x="2791" y="15"/>
                  </a:lnTo>
                  <a:lnTo>
                    <a:pt x="2772" y="15"/>
                  </a:lnTo>
                  <a:lnTo>
                    <a:pt x="2772" y="10"/>
                  </a:lnTo>
                  <a:close/>
                  <a:moveTo>
                    <a:pt x="2805" y="10"/>
                  </a:moveTo>
                  <a:lnTo>
                    <a:pt x="2824" y="10"/>
                  </a:lnTo>
                  <a:lnTo>
                    <a:pt x="2825" y="14"/>
                  </a:lnTo>
                  <a:lnTo>
                    <a:pt x="2805" y="14"/>
                  </a:lnTo>
                  <a:lnTo>
                    <a:pt x="2805" y="10"/>
                  </a:lnTo>
                  <a:close/>
                  <a:moveTo>
                    <a:pt x="2839" y="9"/>
                  </a:moveTo>
                  <a:lnTo>
                    <a:pt x="2858" y="9"/>
                  </a:lnTo>
                  <a:lnTo>
                    <a:pt x="2858" y="14"/>
                  </a:lnTo>
                  <a:lnTo>
                    <a:pt x="2839" y="14"/>
                  </a:lnTo>
                  <a:lnTo>
                    <a:pt x="2839" y="9"/>
                  </a:lnTo>
                  <a:close/>
                  <a:moveTo>
                    <a:pt x="2872" y="9"/>
                  </a:moveTo>
                  <a:lnTo>
                    <a:pt x="2891" y="9"/>
                  </a:lnTo>
                  <a:lnTo>
                    <a:pt x="2891" y="14"/>
                  </a:lnTo>
                  <a:lnTo>
                    <a:pt x="2872" y="14"/>
                  </a:lnTo>
                  <a:lnTo>
                    <a:pt x="2872" y="9"/>
                  </a:lnTo>
                  <a:close/>
                  <a:moveTo>
                    <a:pt x="2906" y="9"/>
                  </a:moveTo>
                  <a:lnTo>
                    <a:pt x="2925" y="8"/>
                  </a:lnTo>
                  <a:lnTo>
                    <a:pt x="2925" y="14"/>
                  </a:lnTo>
                  <a:lnTo>
                    <a:pt x="2906" y="14"/>
                  </a:lnTo>
                  <a:lnTo>
                    <a:pt x="2906" y="9"/>
                  </a:lnTo>
                  <a:close/>
                  <a:moveTo>
                    <a:pt x="2939" y="8"/>
                  </a:moveTo>
                  <a:lnTo>
                    <a:pt x="2958" y="8"/>
                  </a:lnTo>
                  <a:lnTo>
                    <a:pt x="2958" y="13"/>
                  </a:lnTo>
                  <a:lnTo>
                    <a:pt x="2939" y="13"/>
                  </a:lnTo>
                  <a:lnTo>
                    <a:pt x="2939" y="8"/>
                  </a:lnTo>
                  <a:close/>
                  <a:moveTo>
                    <a:pt x="2972" y="8"/>
                  </a:moveTo>
                  <a:lnTo>
                    <a:pt x="2991" y="8"/>
                  </a:lnTo>
                  <a:lnTo>
                    <a:pt x="2991" y="13"/>
                  </a:lnTo>
                  <a:lnTo>
                    <a:pt x="2972" y="13"/>
                  </a:lnTo>
                  <a:lnTo>
                    <a:pt x="2972" y="8"/>
                  </a:lnTo>
                  <a:close/>
                  <a:moveTo>
                    <a:pt x="3006" y="8"/>
                  </a:moveTo>
                  <a:lnTo>
                    <a:pt x="3025" y="8"/>
                  </a:lnTo>
                  <a:lnTo>
                    <a:pt x="3025" y="12"/>
                  </a:lnTo>
                  <a:lnTo>
                    <a:pt x="3006" y="13"/>
                  </a:lnTo>
                  <a:lnTo>
                    <a:pt x="3006" y="8"/>
                  </a:lnTo>
                  <a:close/>
                  <a:moveTo>
                    <a:pt x="3039" y="8"/>
                  </a:moveTo>
                  <a:lnTo>
                    <a:pt x="3058" y="7"/>
                  </a:lnTo>
                  <a:lnTo>
                    <a:pt x="3058" y="12"/>
                  </a:lnTo>
                  <a:lnTo>
                    <a:pt x="3039" y="12"/>
                  </a:lnTo>
                  <a:lnTo>
                    <a:pt x="3039" y="8"/>
                  </a:lnTo>
                  <a:close/>
                  <a:moveTo>
                    <a:pt x="3072" y="7"/>
                  </a:moveTo>
                  <a:lnTo>
                    <a:pt x="3091" y="7"/>
                  </a:lnTo>
                  <a:lnTo>
                    <a:pt x="3092" y="12"/>
                  </a:lnTo>
                  <a:lnTo>
                    <a:pt x="3072" y="12"/>
                  </a:lnTo>
                  <a:lnTo>
                    <a:pt x="3072" y="7"/>
                  </a:lnTo>
                  <a:close/>
                  <a:moveTo>
                    <a:pt x="3106" y="7"/>
                  </a:moveTo>
                  <a:lnTo>
                    <a:pt x="3125" y="7"/>
                  </a:lnTo>
                  <a:lnTo>
                    <a:pt x="3125" y="11"/>
                  </a:lnTo>
                  <a:lnTo>
                    <a:pt x="3106" y="12"/>
                  </a:lnTo>
                  <a:lnTo>
                    <a:pt x="3106" y="7"/>
                  </a:lnTo>
                  <a:close/>
                  <a:moveTo>
                    <a:pt x="3139" y="7"/>
                  </a:moveTo>
                  <a:lnTo>
                    <a:pt x="3158" y="6"/>
                  </a:lnTo>
                  <a:lnTo>
                    <a:pt x="3158" y="11"/>
                  </a:lnTo>
                  <a:lnTo>
                    <a:pt x="3139" y="11"/>
                  </a:lnTo>
                  <a:lnTo>
                    <a:pt x="3139" y="7"/>
                  </a:lnTo>
                  <a:close/>
                  <a:moveTo>
                    <a:pt x="3173" y="6"/>
                  </a:moveTo>
                  <a:lnTo>
                    <a:pt x="3192" y="6"/>
                  </a:lnTo>
                  <a:lnTo>
                    <a:pt x="3192" y="11"/>
                  </a:lnTo>
                  <a:lnTo>
                    <a:pt x="3173" y="11"/>
                  </a:lnTo>
                  <a:lnTo>
                    <a:pt x="3173" y="6"/>
                  </a:lnTo>
                  <a:close/>
                  <a:moveTo>
                    <a:pt x="3206" y="6"/>
                  </a:moveTo>
                  <a:lnTo>
                    <a:pt x="3225" y="6"/>
                  </a:lnTo>
                  <a:lnTo>
                    <a:pt x="3225" y="11"/>
                  </a:lnTo>
                  <a:lnTo>
                    <a:pt x="3206" y="11"/>
                  </a:lnTo>
                  <a:lnTo>
                    <a:pt x="3206" y="6"/>
                  </a:lnTo>
                  <a:close/>
                  <a:moveTo>
                    <a:pt x="3239" y="6"/>
                  </a:moveTo>
                  <a:lnTo>
                    <a:pt x="3259" y="5"/>
                  </a:lnTo>
                  <a:lnTo>
                    <a:pt x="3259" y="10"/>
                  </a:lnTo>
                  <a:lnTo>
                    <a:pt x="3239" y="11"/>
                  </a:lnTo>
                  <a:lnTo>
                    <a:pt x="3239" y="6"/>
                  </a:lnTo>
                  <a:close/>
                  <a:moveTo>
                    <a:pt x="3273" y="5"/>
                  </a:moveTo>
                  <a:lnTo>
                    <a:pt x="3292" y="5"/>
                  </a:lnTo>
                  <a:lnTo>
                    <a:pt x="3292" y="10"/>
                  </a:lnTo>
                  <a:lnTo>
                    <a:pt x="3273" y="10"/>
                  </a:lnTo>
                  <a:lnTo>
                    <a:pt x="3273" y="5"/>
                  </a:lnTo>
                  <a:close/>
                  <a:moveTo>
                    <a:pt x="3306" y="5"/>
                  </a:moveTo>
                  <a:lnTo>
                    <a:pt x="3325" y="5"/>
                  </a:lnTo>
                  <a:lnTo>
                    <a:pt x="3325" y="10"/>
                  </a:lnTo>
                  <a:lnTo>
                    <a:pt x="3306" y="10"/>
                  </a:lnTo>
                  <a:lnTo>
                    <a:pt x="3306" y="5"/>
                  </a:lnTo>
                  <a:close/>
                  <a:moveTo>
                    <a:pt x="3340" y="5"/>
                  </a:moveTo>
                  <a:lnTo>
                    <a:pt x="3359" y="5"/>
                  </a:lnTo>
                  <a:lnTo>
                    <a:pt x="3359" y="9"/>
                  </a:lnTo>
                  <a:lnTo>
                    <a:pt x="3340" y="10"/>
                  </a:lnTo>
                  <a:lnTo>
                    <a:pt x="3340" y="5"/>
                  </a:lnTo>
                  <a:close/>
                  <a:moveTo>
                    <a:pt x="3373" y="5"/>
                  </a:moveTo>
                  <a:lnTo>
                    <a:pt x="3392" y="4"/>
                  </a:lnTo>
                  <a:lnTo>
                    <a:pt x="3392" y="9"/>
                  </a:lnTo>
                  <a:lnTo>
                    <a:pt x="3373" y="9"/>
                  </a:lnTo>
                  <a:lnTo>
                    <a:pt x="3373" y="5"/>
                  </a:lnTo>
                  <a:close/>
                  <a:moveTo>
                    <a:pt x="3406" y="4"/>
                  </a:moveTo>
                  <a:lnTo>
                    <a:pt x="3425" y="4"/>
                  </a:lnTo>
                  <a:lnTo>
                    <a:pt x="3426" y="9"/>
                  </a:lnTo>
                  <a:lnTo>
                    <a:pt x="3407" y="9"/>
                  </a:lnTo>
                  <a:lnTo>
                    <a:pt x="3406" y="4"/>
                  </a:lnTo>
                  <a:close/>
                  <a:moveTo>
                    <a:pt x="3440" y="4"/>
                  </a:moveTo>
                  <a:lnTo>
                    <a:pt x="3459" y="4"/>
                  </a:lnTo>
                  <a:lnTo>
                    <a:pt x="3459" y="8"/>
                  </a:lnTo>
                  <a:lnTo>
                    <a:pt x="3440" y="8"/>
                  </a:lnTo>
                  <a:lnTo>
                    <a:pt x="3440" y="4"/>
                  </a:lnTo>
                  <a:close/>
                  <a:moveTo>
                    <a:pt x="3473" y="3"/>
                  </a:moveTo>
                  <a:lnTo>
                    <a:pt x="3492" y="3"/>
                  </a:lnTo>
                  <a:lnTo>
                    <a:pt x="3492" y="8"/>
                  </a:lnTo>
                  <a:lnTo>
                    <a:pt x="3473" y="8"/>
                  </a:lnTo>
                  <a:lnTo>
                    <a:pt x="3473" y="3"/>
                  </a:lnTo>
                  <a:close/>
                  <a:moveTo>
                    <a:pt x="3507" y="3"/>
                  </a:moveTo>
                  <a:lnTo>
                    <a:pt x="3526" y="3"/>
                  </a:lnTo>
                  <a:lnTo>
                    <a:pt x="3526" y="8"/>
                  </a:lnTo>
                  <a:lnTo>
                    <a:pt x="3507" y="8"/>
                  </a:lnTo>
                  <a:lnTo>
                    <a:pt x="3507" y="3"/>
                  </a:lnTo>
                  <a:close/>
                  <a:moveTo>
                    <a:pt x="3540" y="3"/>
                  </a:moveTo>
                  <a:lnTo>
                    <a:pt x="3559" y="3"/>
                  </a:lnTo>
                  <a:lnTo>
                    <a:pt x="3559" y="8"/>
                  </a:lnTo>
                  <a:lnTo>
                    <a:pt x="3540" y="8"/>
                  </a:lnTo>
                  <a:lnTo>
                    <a:pt x="3540" y="3"/>
                  </a:lnTo>
                  <a:close/>
                  <a:moveTo>
                    <a:pt x="3573" y="3"/>
                  </a:moveTo>
                  <a:lnTo>
                    <a:pt x="3593" y="3"/>
                  </a:lnTo>
                  <a:lnTo>
                    <a:pt x="3593" y="7"/>
                  </a:lnTo>
                  <a:lnTo>
                    <a:pt x="3573" y="7"/>
                  </a:lnTo>
                  <a:lnTo>
                    <a:pt x="3573" y="3"/>
                  </a:lnTo>
                  <a:close/>
                  <a:moveTo>
                    <a:pt x="3607" y="2"/>
                  </a:moveTo>
                  <a:lnTo>
                    <a:pt x="3626" y="2"/>
                  </a:lnTo>
                  <a:lnTo>
                    <a:pt x="3626" y="7"/>
                  </a:lnTo>
                  <a:lnTo>
                    <a:pt x="3607" y="7"/>
                  </a:lnTo>
                  <a:lnTo>
                    <a:pt x="3607" y="2"/>
                  </a:lnTo>
                  <a:close/>
                  <a:moveTo>
                    <a:pt x="3640" y="2"/>
                  </a:moveTo>
                  <a:lnTo>
                    <a:pt x="3659" y="2"/>
                  </a:lnTo>
                  <a:lnTo>
                    <a:pt x="3659" y="7"/>
                  </a:lnTo>
                  <a:lnTo>
                    <a:pt x="3640" y="7"/>
                  </a:lnTo>
                  <a:lnTo>
                    <a:pt x="3640" y="2"/>
                  </a:lnTo>
                  <a:close/>
                  <a:moveTo>
                    <a:pt x="3674" y="2"/>
                  </a:moveTo>
                  <a:lnTo>
                    <a:pt x="3693" y="2"/>
                  </a:lnTo>
                  <a:lnTo>
                    <a:pt x="3693" y="6"/>
                  </a:lnTo>
                  <a:lnTo>
                    <a:pt x="3674" y="6"/>
                  </a:lnTo>
                  <a:lnTo>
                    <a:pt x="3674" y="2"/>
                  </a:lnTo>
                  <a:close/>
                  <a:moveTo>
                    <a:pt x="3707" y="1"/>
                  </a:moveTo>
                  <a:lnTo>
                    <a:pt x="3726" y="1"/>
                  </a:lnTo>
                  <a:lnTo>
                    <a:pt x="3726" y="6"/>
                  </a:lnTo>
                  <a:lnTo>
                    <a:pt x="3707" y="6"/>
                  </a:lnTo>
                  <a:lnTo>
                    <a:pt x="3707" y="1"/>
                  </a:lnTo>
                  <a:close/>
                  <a:moveTo>
                    <a:pt x="3740" y="1"/>
                  </a:moveTo>
                  <a:lnTo>
                    <a:pt x="3760" y="1"/>
                  </a:lnTo>
                  <a:lnTo>
                    <a:pt x="3760" y="6"/>
                  </a:lnTo>
                  <a:lnTo>
                    <a:pt x="3741" y="6"/>
                  </a:lnTo>
                  <a:lnTo>
                    <a:pt x="3740" y="1"/>
                  </a:lnTo>
                  <a:close/>
                  <a:moveTo>
                    <a:pt x="3774" y="1"/>
                  </a:moveTo>
                  <a:lnTo>
                    <a:pt x="3793" y="1"/>
                  </a:lnTo>
                  <a:lnTo>
                    <a:pt x="3793" y="5"/>
                  </a:lnTo>
                  <a:lnTo>
                    <a:pt x="3774" y="5"/>
                  </a:lnTo>
                  <a:lnTo>
                    <a:pt x="3774" y="1"/>
                  </a:lnTo>
                  <a:close/>
                  <a:moveTo>
                    <a:pt x="3807" y="0"/>
                  </a:moveTo>
                  <a:lnTo>
                    <a:pt x="3826" y="0"/>
                  </a:lnTo>
                  <a:lnTo>
                    <a:pt x="3826" y="5"/>
                  </a:lnTo>
                  <a:lnTo>
                    <a:pt x="3807" y="5"/>
                  </a:lnTo>
                  <a:lnTo>
                    <a:pt x="3807" y="0"/>
                  </a:lnTo>
                  <a:close/>
                  <a:moveTo>
                    <a:pt x="3841" y="0"/>
                  </a:moveTo>
                  <a:lnTo>
                    <a:pt x="3860" y="0"/>
                  </a:lnTo>
                  <a:lnTo>
                    <a:pt x="3860" y="5"/>
                  </a:lnTo>
                  <a:lnTo>
                    <a:pt x="3841" y="5"/>
                  </a:lnTo>
                  <a:lnTo>
                    <a:pt x="3841" y="0"/>
                  </a:lnTo>
                  <a:close/>
                  <a:moveTo>
                    <a:pt x="3874" y="0"/>
                  </a:moveTo>
                  <a:lnTo>
                    <a:pt x="3892" y="0"/>
                  </a:lnTo>
                  <a:lnTo>
                    <a:pt x="3892" y="4"/>
                  </a:lnTo>
                  <a:lnTo>
                    <a:pt x="3874" y="5"/>
                  </a:lnTo>
                  <a:lnTo>
                    <a:pt x="3874" y="0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59" name="Freeform 62">
              <a:extLst>
                <a:ext uri="{FF2B5EF4-FFF2-40B4-BE49-F238E27FC236}">
                  <a16:creationId xmlns:a16="http://schemas.microsoft.com/office/drawing/2014/main" id="{DF3662F2-4CDF-454C-B335-373F0C6309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7" y="1293"/>
              <a:ext cx="3892" cy="41"/>
            </a:xfrm>
            <a:custGeom>
              <a:avLst/>
              <a:gdLst>
                <a:gd name="T0" fmla="*/ 33 w 3892"/>
                <a:gd name="T1" fmla="*/ 36 h 41"/>
                <a:gd name="T2" fmla="*/ 100 w 3892"/>
                <a:gd name="T3" fmla="*/ 36 h 41"/>
                <a:gd name="T4" fmla="*/ 167 w 3892"/>
                <a:gd name="T5" fmla="*/ 35 h 41"/>
                <a:gd name="T6" fmla="*/ 234 w 3892"/>
                <a:gd name="T7" fmla="*/ 34 h 41"/>
                <a:gd name="T8" fmla="*/ 300 w 3892"/>
                <a:gd name="T9" fmla="*/ 34 h 41"/>
                <a:gd name="T10" fmla="*/ 367 w 3892"/>
                <a:gd name="T11" fmla="*/ 33 h 41"/>
                <a:gd name="T12" fmla="*/ 434 w 3892"/>
                <a:gd name="T13" fmla="*/ 33 h 41"/>
                <a:gd name="T14" fmla="*/ 501 w 3892"/>
                <a:gd name="T15" fmla="*/ 32 h 41"/>
                <a:gd name="T16" fmla="*/ 568 w 3892"/>
                <a:gd name="T17" fmla="*/ 31 h 41"/>
                <a:gd name="T18" fmla="*/ 634 w 3892"/>
                <a:gd name="T19" fmla="*/ 31 h 41"/>
                <a:gd name="T20" fmla="*/ 701 w 3892"/>
                <a:gd name="T21" fmla="*/ 30 h 41"/>
                <a:gd name="T22" fmla="*/ 768 w 3892"/>
                <a:gd name="T23" fmla="*/ 30 h 41"/>
                <a:gd name="T24" fmla="*/ 835 w 3892"/>
                <a:gd name="T25" fmla="*/ 29 h 41"/>
                <a:gd name="T26" fmla="*/ 902 w 3892"/>
                <a:gd name="T27" fmla="*/ 28 h 41"/>
                <a:gd name="T28" fmla="*/ 969 w 3892"/>
                <a:gd name="T29" fmla="*/ 28 h 41"/>
                <a:gd name="T30" fmla="*/ 1035 w 3892"/>
                <a:gd name="T31" fmla="*/ 27 h 41"/>
                <a:gd name="T32" fmla="*/ 1102 w 3892"/>
                <a:gd name="T33" fmla="*/ 26 h 41"/>
                <a:gd name="T34" fmla="*/ 1169 w 3892"/>
                <a:gd name="T35" fmla="*/ 26 h 41"/>
                <a:gd name="T36" fmla="*/ 1235 w 3892"/>
                <a:gd name="T37" fmla="*/ 25 h 41"/>
                <a:gd name="T38" fmla="*/ 1303 w 3892"/>
                <a:gd name="T39" fmla="*/ 25 h 41"/>
                <a:gd name="T40" fmla="*/ 1369 w 3892"/>
                <a:gd name="T41" fmla="*/ 24 h 41"/>
                <a:gd name="T42" fmla="*/ 1436 w 3892"/>
                <a:gd name="T43" fmla="*/ 23 h 41"/>
                <a:gd name="T44" fmla="*/ 1503 w 3892"/>
                <a:gd name="T45" fmla="*/ 23 h 41"/>
                <a:gd name="T46" fmla="*/ 1569 w 3892"/>
                <a:gd name="T47" fmla="*/ 22 h 41"/>
                <a:gd name="T48" fmla="*/ 1636 w 3892"/>
                <a:gd name="T49" fmla="*/ 22 h 41"/>
                <a:gd name="T50" fmla="*/ 1703 w 3892"/>
                <a:gd name="T51" fmla="*/ 21 h 41"/>
                <a:gd name="T52" fmla="*/ 1770 w 3892"/>
                <a:gd name="T53" fmla="*/ 20 h 41"/>
                <a:gd name="T54" fmla="*/ 1837 w 3892"/>
                <a:gd name="T55" fmla="*/ 19 h 41"/>
                <a:gd name="T56" fmla="*/ 1904 w 3892"/>
                <a:gd name="T57" fmla="*/ 19 h 41"/>
                <a:gd name="T58" fmla="*/ 1970 w 3892"/>
                <a:gd name="T59" fmla="*/ 18 h 41"/>
                <a:gd name="T60" fmla="*/ 2037 w 3892"/>
                <a:gd name="T61" fmla="*/ 18 h 41"/>
                <a:gd name="T62" fmla="*/ 2104 w 3892"/>
                <a:gd name="T63" fmla="*/ 17 h 41"/>
                <a:gd name="T64" fmla="*/ 2171 w 3892"/>
                <a:gd name="T65" fmla="*/ 17 h 41"/>
                <a:gd name="T66" fmla="*/ 2238 w 3892"/>
                <a:gd name="T67" fmla="*/ 16 h 41"/>
                <a:gd name="T68" fmla="*/ 2304 w 3892"/>
                <a:gd name="T69" fmla="*/ 15 h 41"/>
                <a:gd name="T70" fmla="*/ 2371 w 3892"/>
                <a:gd name="T71" fmla="*/ 15 h 41"/>
                <a:gd name="T72" fmla="*/ 2438 w 3892"/>
                <a:gd name="T73" fmla="*/ 14 h 41"/>
                <a:gd name="T74" fmla="*/ 2505 w 3892"/>
                <a:gd name="T75" fmla="*/ 14 h 41"/>
                <a:gd name="T76" fmla="*/ 2572 w 3892"/>
                <a:gd name="T77" fmla="*/ 13 h 41"/>
                <a:gd name="T78" fmla="*/ 2638 w 3892"/>
                <a:gd name="T79" fmla="*/ 12 h 41"/>
                <a:gd name="T80" fmla="*/ 2705 w 3892"/>
                <a:gd name="T81" fmla="*/ 11 h 41"/>
                <a:gd name="T82" fmla="*/ 2772 w 3892"/>
                <a:gd name="T83" fmla="*/ 11 h 41"/>
                <a:gd name="T84" fmla="*/ 2839 w 3892"/>
                <a:gd name="T85" fmla="*/ 10 h 41"/>
                <a:gd name="T86" fmla="*/ 2906 w 3892"/>
                <a:gd name="T87" fmla="*/ 10 h 41"/>
                <a:gd name="T88" fmla="*/ 2972 w 3892"/>
                <a:gd name="T89" fmla="*/ 9 h 41"/>
                <a:gd name="T90" fmla="*/ 3039 w 3892"/>
                <a:gd name="T91" fmla="*/ 8 h 41"/>
                <a:gd name="T92" fmla="*/ 3106 w 3892"/>
                <a:gd name="T93" fmla="*/ 8 h 41"/>
                <a:gd name="T94" fmla="*/ 3173 w 3892"/>
                <a:gd name="T95" fmla="*/ 7 h 41"/>
                <a:gd name="T96" fmla="*/ 3239 w 3892"/>
                <a:gd name="T97" fmla="*/ 7 h 41"/>
                <a:gd name="T98" fmla="*/ 3306 w 3892"/>
                <a:gd name="T99" fmla="*/ 6 h 41"/>
                <a:gd name="T100" fmla="*/ 3373 w 3892"/>
                <a:gd name="T101" fmla="*/ 5 h 41"/>
                <a:gd name="T102" fmla="*/ 3440 w 3892"/>
                <a:gd name="T103" fmla="*/ 5 h 41"/>
                <a:gd name="T104" fmla="*/ 3507 w 3892"/>
                <a:gd name="T105" fmla="*/ 4 h 41"/>
                <a:gd name="T106" fmla="*/ 3573 w 3892"/>
                <a:gd name="T107" fmla="*/ 3 h 41"/>
                <a:gd name="T108" fmla="*/ 3640 w 3892"/>
                <a:gd name="T109" fmla="*/ 3 h 41"/>
                <a:gd name="T110" fmla="*/ 3707 w 3892"/>
                <a:gd name="T111" fmla="*/ 2 h 41"/>
                <a:gd name="T112" fmla="*/ 3774 w 3892"/>
                <a:gd name="T113" fmla="*/ 2 h 41"/>
                <a:gd name="T114" fmla="*/ 3841 w 3892"/>
                <a:gd name="T115" fmla="*/ 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892" h="41">
                  <a:moveTo>
                    <a:pt x="0" y="36"/>
                  </a:moveTo>
                  <a:lnTo>
                    <a:pt x="19" y="36"/>
                  </a:lnTo>
                  <a:lnTo>
                    <a:pt x="19" y="41"/>
                  </a:lnTo>
                  <a:lnTo>
                    <a:pt x="0" y="41"/>
                  </a:lnTo>
                  <a:lnTo>
                    <a:pt x="0" y="36"/>
                  </a:lnTo>
                  <a:close/>
                  <a:moveTo>
                    <a:pt x="33" y="36"/>
                  </a:moveTo>
                  <a:lnTo>
                    <a:pt x="53" y="36"/>
                  </a:lnTo>
                  <a:lnTo>
                    <a:pt x="53" y="41"/>
                  </a:lnTo>
                  <a:lnTo>
                    <a:pt x="33" y="41"/>
                  </a:lnTo>
                  <a:lnTo>
                    <a:pt x="33" y="36"/>
                  </a:lnTo>
                  <a:close/>
                  <a:moveTo>
                    <a:pt x="67" y="36"/>
                  </a:moveTo>
                  <a:lnTo>
                    <a:pt x="86" y="36"/>
                  </a:lnTo>
                  <a:lnTo>
                    <a:pt x="86" y="41"/>
                  </a:lnTo>
                  <a:lnTo>
                    <a:pt x="67" y="41"/>
                  </a:lnTo>
                  <a:lnTo>
                    <a:pt x="67" y="36"/>
                  </a:lnTo>
                  <a:close/>
                  <a:moveTo>
                    <a:pt x="100" y="36"/>
                  </a:moveTo>
                  <a:lnTo>
                    <a:pt x="119" y="36"/>
                  </a:lnTo>
                  <a:lnTo>
                    <a:pt x="119" y="40"/>
                  </a:lnTo>
                  <a:lnTo>
                    <a:pt x="100" y="40"/>
                  </a:lnTo>
                  <a:lnTo>
                    <a:pt x="100" y="36"/>
                  </a:lnTo>
                  <a:close/>
                  <a:moveTo>
                    <a:pt x="134" y="35"/>
                  </a:moveTo>
                  <a:lnTo>
                    <a:pt x="153" y="35"/>
                  </a:lnTo>
                  <a:lnTo>
                    <a:pt x="153" y="40"/>
                  </a:lnTo>
                  <a:lnTo>
                    <a:pt x="134" y="40"/>
                  </a:lnTo>
                  <a:lnTo>
                    <a:pt x="134" y="35"/>
                  </a:lnTo>
                  <a:close/>
                  <a:moveTo>
                    <a:pt x="167" y="35"/>
                  </a:moveTo>
                  <a:lnTo>
                    <a:pt x="186" y="35"/>
                  </a:lnTo>
                  <a:lnTo>
                    <a:pt x="186" y="40"/>
                  </a:lnTo>
                  <a:lnTo>
                    <a:pt x="167" y="40"/>
                  </a:lnTo>
                  <a:lnTo>
                    <a:pt x="167" y="35"/>
                  </a:lnTo>
                  <a:close/>
                  <a:moveTo>
                    <a:pt x="200" y="35"/>
                  </a:moveTo>
                  <a:lnTo>
                    <a:pt x="219" y="35"/>
                  </a:lnTo>
                  <a:lnTo>
                    <a:pt x="219" y="39"/>
                  </a:lnTo>
                  <a:lnTo>
                    <a:pt x="200" y="39"/>
                  </a:lnTo>
                  <a:lnTo>
                    <a:pt x="200" y="35"/>
                  </a:lnTo>
                  <a:close/>
                  <a:moveTo>
                    <a:pt x="234" y="34"/>
                  </a:moveTo>
                  <a:lnTo>
                    <a:pt x="253" y="34"/>
                  </a:lnTo>
                  <a:lnTo>
                    <a:pt x="253" y="39"/>
                  </a:lnTo>
                  <a:lnTo>
                    <a:pt x="234" y="39"/>
                  </a:lnTo>
                  <a:lnTo>
                    <a:pt x="234" y="34"/>
                  </a:lnTo>
                  <a:close/>
                  <a:moveTo>
                    <a:pt x="267" y="34"/>
                  </a:moveTo>
                  <a:lnTo>
                    <a:pt x="286" y="34"/>
                  </a:lnTo>
                  <a:lnTo>
                    <a:pt x="286" y="39"/>
                  </a:lnTo>
                  <a:lnTo>
                    <a:pt x="267" y="39"/>
                  </a:lnTo>
                  <a:lnTo>
                    <a:pt x="267" y="34"/>
                  </a:lnTo>
                  <a:close/>
                  <a:moveTo>
                    <a:pt x="300" y="34"/>
                  </a:moveTo>
                  <a:lnTo>
                    <a:pt x="319" y="33"/>
                  </a:lnTo>
                  <a:lnTo>
                    <a:pt x="320" y="38"/>
                  </a:lnTo>
                  <a:lnTo>
                    <a:pt x="301" y="39"/>
                  </a:lnTo>
                  <a:lnTo>
                    <a:pt x="300" y="34"/>
                  </a:lnTo>
                  <a:close/>
                  <a:moveTo>
                    <a:pt x="334" y="33"/>
                  </a:moveTo>
                  <a:lnTo>
                    <a:pt x="353" y="33"/>
                  </a:lnTo>
                  <a:lnTo>
                    <a:pt x="353" y="38"/>
                  </a:lnTo>
                  <a:lnTo>
                    <a:pt x="334" y="38"/>
                  </a:lnTo>
                  <a:lnTo>
                    <a:pt x="334" y="33"/>
                  </a:lnTo>
                  <a:close/>
                  <a:moveTo>
                    <a:pt x="367" y="33"/>
                  </a:moveTo>
                  <a:lnTo>
                    <a:pt x="386" y="33"/>
                  </a:lnTo>
                  <a:lnTo>
                    <a:pt x="386" y="38"/>
                  </a:lnTo>
                  <a:lnTo>
                    <a:pt x="367" y="38"/>
                  </a:lnTo>
                  <a:lnTo>
                    <a:pt x="367" y="33"/>
                  </a:lnTo>
                  <a:close/>
                  <a:moveTo>
                    <a:pt x="401" y="33"/>
                  </a:moveTo>
                  <a:lnTo>
                    <a:pt x="420" y="33"/>
                  </a:lnTo>
                  <a:lnTo>
                    <a:pt x="420" y="37"/>
                  </a:lnTo>
                  <a:lnTo>
                    <a:pt x="401" y="38"/>
                  </a:lnTo>
                  <a:lnTo>
                    <a:pt x="401" y="33"/>
                  </a:lnTo>
                  <a:close/>
                  <a:moveTo>
                    <a:pt x="434" y="33"/>
                  </a:moveTo>
                  <a:lnTo>
                    <a:pt x="453" y="32"/>
                  </a:lnTo>
                  <a:lnTo>
                    <a:pt x="453" y="37"/>
                  </a:lnTo>
                  <a:lnTo>
                    <a:pt x="434" y="37"/>
                  </a:lnTo>
                  <a:lnTo>
                    <a:pt x="434" y="33"/>
                  </a:lnTo>
                  <a:close/>
                  <a:moveTo>
                    <a:pt x="468" y="32"/>
                  </a:moveTo>
                  <a:lnTo>
                    <a:pt x="487" y="32"/>
                  </a:lnTo>
                  <a:lnTo>
                    <a:pt x="487" y="37"/>
                  </a:lnTo>
                  <a:lnTo>
                    <a:pt x="468" y="37"/>
                  </a:lnTo>
                  <a:lnTo>
                    <a:pt x="468" y="32"/>
                  </a:lnTo>
                  <a:close/>
                  <a:moveTo>
                    <a:pt x="501" y="32"/>
                  </a:moveTo>
                  <a:lnTo>
                    <a:pt x="520" y="32"/>
                  </a:lnTo>
                  <a:lnTo>
                    <a:pt x="520" y="36"/>
                  </a:lnTo>
                  <a:lnTo>
                    <a:pt x="501" y="37"/>
                  </a:lnTo>
                  <a:lnTo>
                    <a:pt x="501" y="32"/>
                  </a:lnTo>
                  <a:close/>
                  <a:moveTo>
                    <a:pt x="534" y="32"/>
                  </a:moveTo>
                  <a:lnTo>
                    <a:pt x="553" y="31"/>
                  </a:lnTo>
                  <a:lnTo>
                    <a:pt x="553" y="36"/>
                  </a:lnTo>
                  <a:lnTo>
                    <a:pt x="534" y="36"/>
                  </a:lnTo>
                  <a:lnTo>
                    <a:pt x="534" y="32"/>
                  </a:lnTo>
                  <a:close/>
                  <a:moveTo>
                    <a:pt x="568" y="31"/>
                  </a:moveTo>
                  <a:lnTo>
                    <a:pt x="587" y="31"/>
                  </a:lnTo>
                  <a:lnTo>
                    <a:pt x="587" y="36"/>
                  </a:lnTo>
                  <a:lnTo>
                    <a:pt x="568" y="36"/>
                  </a:lnTo>
                  <a:lnTo>
                    <a:pt x="568" y="31"/>
                  </a:lnTo>
                  <a:close/>
                  <a:moveTo>
                    <a:pt x="601" y="31"/>
                  </a:moveTo>
                  <a:lnTo>
                    <a:pt x="620" y="31"/>
                  </a:lnTo>
                  <a:lnTo>
                    <a:pt x="620" y="36"/>
                  </a:lnTo>
                  <a:lnTo>
                    <a:pt x="601" y="36"/>
                  </a:lnTo>
                  <a:lnTo>
                    <a:pt x="601" y="31"/>
                  </a:lnTo>
                  <a:close/>
                  <a:moveTo>
                    <a:pt x="634" y="31"/>
                  </a:moveTo>
                  <a:lnTo>
                    <a:pt x="653" y="31"/>
                  </a:lnTo>
                  <a:lnTo>
                    <a:pt x="654" y="35"/>
                  </a:lnTo>
                  <a:lnTo>
                    <a:pt x="635" y="36"/>
                  </a:lnTo>
                  <a:lnTo>
                    <a:pt x="634" y="31"/>
                  </a:lnTo>
                  <a:close/>
                  <a:moveTo>
                    <a:pt x="668" y="31"/>
                  </a:moveTo>
                  <a:lnTo>
                    <a:pt x="687" y="30"/>
                  </a:lnTo>
                  <a:lnTo>
                    <a:pt x="687" y="35"/>
                  </a:lnTo>
                  <a:lnTo>
                    <a:pt x="668" y="35"/>
                  </a:lnTo>
                  <a:lnTo>
                    <a:pt x="668" y="31"/>
                  </a:lnTo>
                  <a:close/>
                  <a:moveTo>
                    <a:pt x="701" y="30"/>
                  </a:moveTo>
                  <a:lnTo>
                    <a:pt x="720" y="30"/>
                  </a:lnTo>
                  <a:lnTo>
                    <a:pt x="720" y="35"/>
                  </a:lnTo>
                  <a:lnTo>
                    <a:pt x="701" y="35"/>
                  </a:lnTo>
                  <a:lnTo>
                    <a:pt x="701" y="30"/>
                  </a:lnTo>
                  <a:close/>
                  <a:moveTo>
                    <a:pt x="735" y="30"/>
                  </a:moveTo>
                  <a:lnTo>
                    <a:pt x="754" y="30"/>
                  </a:lnTo>
                  <a:lnTo>
                    <a:pt x="754" y="34"/>
                  </a:lnTo>
                  <a:lnTo>
                    <a:pt x="735" y="35"/>
                  </a:lnTo>
                  <a:lnTo>
                    <a:pt x="735" y="30"/>
                  </a:lnTo>
                  <a:close/>
                  <a:moveTo>
                    <a:pt x="768" y="30"/>
                  </a:moveTo>
                  <a:lnTo>
                    <a:pt x="787" y="29"/>
                  </a:lnTo>
                  <a:lnTo>
                    <a:pt x="787" y="34"/>
                  </a:lnTo>
                  <a:lnTo>
                    <a:pt x="768" y="34"/>
                  </a:lnTo>
                  <a:lnTo>
                    <a:pt x="768" y="30"/>
                  </a:lnTo>
                  <a:close/>
                  <a:moveTo>
                    <a:pt x="801" y="29"/>
                  </a:moveTo>
                  <a:lnTo>
                    <a:pt x="821" y="29"/>
                  </a:lnTo>
                  <a:lnTo>
                    <a:pt x="821" y="34"/>
                  </a:lnTo>
                  <a:lnTo>
                    <a:pt x="801" y="34"/>
                  </a:lnTo>
                  <a:lnTo>
                    <a:pt x="801" y="29"/>
                  </a:lnTo>
                  <a:close/>
                  <a:moveTo>
                    <a:pt x="835" y="29"/>
                  </a:moveTo>
                  <a:lnTo>
                    <a:pt x="854" y="29"/>
                  </a:lnTo>
                  <a:lnTo>
                    <a:pt x="854" y="33"/>
                  </a:lnTo>
                  <a:lnTo>
                    <a:pt x="835" y="33"/>
                  </a:lnTo>
                  <a:lnTo>
                    <a:pt x="835" y="29"/>
                  </a:lnTo>
                  <a:close/>
                  <a:moveTo>
                    <a:pt x="868" y="28"/>
                  </a:moveTo>
                  <a:lnTo>
                    <a:pt x="887" y="28"/>
                  </a:lnTo>
                  <a:lnTo>
                    <a:pt x="887" y="33"/>
                  </a:lnTo>
                  <a:lnTo>
                    <a:pt x="868" y="33"/>
                  </a:lnTo>
                  <a:lnTo>
                    <a:pt x="868" y="28"/>
                  </a:lnTo>
                  <a:close/>
                  <a:moveTo>
                    <a:pt x="902" y="28"/>
                  </a:moveTo>
                  <a:lnTo>
                    <a:pt x="921" y="28"/>
                  </a:lnTo>
                  <a:lnTo>
                    <a:pt x="921" y="33"/>
                  </a:lnTo>
                  <a:lnTo>
                    <a:pt x="902" y="33"/>
                  </a:lnTo>
                  <a:lnTo>
                    <a:pt x="902" y="28"/>
                  </a:lnTo>
                  <a:close/>
                  <a:moveTo>
                    <a:pt x="935" y="28"/>
                  </a:moveTo>
                  <a:lnTo>
                    <a:pt x="954" y="28"/>
                  </a:lnTo>
                  <a:lnTo>
                    <a:pt x="954" y="33"/>
                  </a:lnTo>
                  <a:lnTo>
                    <a:pt x="935" y="33"/>
                  </a:lnTo>
                  <a:lnTo>
                    <a:pt x="935" y="28"/>
                  </a:lnTo>
                  <a:close/>
                  <a:moveTo>
                    <a:pt x="969" y="28"/>
                  </a:moveTo>
                  <a:lnTo>
                    <a:pt x="988" y="28"/>
                  </a:lnTo>
                  <a:lnTo>
                    <a:pt x="988" y="32"/>
                  </a:lnTo>
                  <a:lnTo>
                    <a:pt x="969" y="32"/>
                  </a:lnTo>
                  <a:lnTo>
                    <a:pt x="969" y="28"/>
                  </a:lnTo>
                  <a:close/>
                  <a:moveTo>
                    <a:pt x="1002" y="27"/>
                  </a:moveTo>
                  <a:lnTo>
                    <a:pt x="1021" y="27"/>
                  </a:lnTo>
                  <a:lnTo>
                    <a:pt x="1021" y="32"/>
                  </a:lnTo>
                  <a:lnTo>
                    <a:pt x="1002" y="32"/>
                  </a:lnTo>
                  <a:lnTo>
                    <a:pt x="1002" y="27"/>
                  </a:lnTo>
                  <a:close/>
                  <a:moveTo>
                    <a:pt x="1035" y="27"/>
                  </a:moveTo>
                  <a:lnTo>
                    <a:pt x="1054" y="27"/>
                  </a:lnTo>
                  <a:lnTo>
                    <a:pt x="1054" y="32"/>
                  </a:lnTo>
                  <a:lnTo>
                    <a:pt x="1035" y="32"/>
                  </a:lnTo>
                  <a:lnTo>
                    <a:pt x="1035" y="27"/>
                  </a:lnTo>
                  <a:close/>
                  <a:moveTo>
                    <a:pt x="1069" y="27"/>
                  </a:moveTo>
                  <a:lnTo>
                    <a:pt x="1088" y="27"/>
                  </a:lnTo>
                  <a:lnTo>
                    <a:pt x="1088" y="31"/>
                  </a:lnTo>
                  <a:lnTo>
                    <a:pt x="1069" y="31"/>
                  </a:lnTo>
                  <a:lnTo>
                    <a:pt x="1069" y="27"/>
                  </a:lnTo>
                  <a:close/>
                  <a:moveTo>
                    <a:pt x="1102" y="26"/>
                  </a:moveTo>
                  <a:lnTo>
                    <a:pt x="1121" y="26"/>
                  </a:lnTo>
                  <a:lnTo>
                    <a:pt x="1121" y="31"/>
                  </a:lnTo>
                  <a:lnTo>
                    <a:pt x="1102" y="31"/>
                  </a:lnTo>
                  <a:lnTo>
                    <a:pt x="1102" y="26"/>
                  </a:lnTo>
                  <a:close/>
                  <a:moveTo>
                    <a:pt x="1135" y="26"/>
                  </a:moveTo>
                  <a:lnTo>
                    <a:pt x="1154" y="26"/>
                  </a:lnTo>
                  <a:lnTo>
                    <a:pt x="1154" y="31"/>
                  </a:lnTo>
                  <a:lnTo>
                    <a:pt x="1135" y="31"/>
                  </a:lnTo>
                  <a:lnTo>
                    <a:pt x="1135" y="26"/>
                  </a:lnTo>
                  <a:close/>
                  <a:moveTo>
                    <a:pt x="1169" y="26"/>
                  </a:moveTo>
                  <a:lnTo>
                    <a:pt x="1188" y="25"/>
                  </a:lnTo>
                  <a:lnTo>
                    <a:pt x="1188" y="31"/>
                  </a:lnTo>
                  <a:lnTo>
                    <a:pt x="1169" y="31"/>
                  </a:lnTo>
                  <a:lnTo>
                    <a:pt x="1169" y="26"/>
                  </a:lnTo>
                  <a:close/>
                  <a:moveTo>
                    <a:pt x="1202" y="25"/>
                  </a:moveTo>
                  <a:lnTo>
                    <a:pt x="1221" y="25"/>
                  </a:lnTo>
                  <a:lnTo>
                    <a:pt x="1221" y="30"/>
                  </a:lnTo>
                  <a:lnTo>
                    <a:pt x="1202" y="30"/>
                  </a:lnTo>
                  <a:lnTo>
                    <a:pt x="1202" y="25"/>
                  </a:lnTo>
                  <a:close/>
                  <a:moveTo>
                    <a:pt x="1235" y="25"/>
                  </a:moveTo>
                  <a:lnTo>
                    <a:pt x="1255" y="25"/>
                  </a:lnTo>
                  <a:lnTo>
                    <a:pt x="1255" y="30"/>
                  </a:lnTo>
                  <a:lnTo>
                    <a:pt x="1236" y="30"/>
                  </a:lnTo>
                  <a:lnTo>
                    <a:pt x="1235" y="25"/>
                  </a:lnTo>
                  <a:close/>
                  <a:moveTo>
                    <a:pt x="1269" y="25"/>
                  </a:moveTo>
                  <a:lnTo>
                    <a:pt x="1288" y="25"/>
                  </a:lnTo>
                  <a:lnTo>
                    <a:pt x="1288" y="29"/>
                  </a:lnTo>
                  <a:lnTo>
                    <a:pt x="1269" y="30"/>
                  </a:lnTo>
                  <a:lnTo>
                    <a:pt x="1269" y="25"/>
                  </a:lnTo>
                  <a:close/>
                  <a:moveTo>
                    <a:pt x="1303" y="25"/>
                  </a:moveTo>
                  <a:lnTo>
                    <a:pt x="1322" y="24"/>
                  </a:lnTo>
                  <a:lnTo>
                    <a:pt x="1322" y="29"/>
                  </a:lnTo>
                  <a:lnTo>
                    <a:pt x="1303" y="29"/>
                  </a:lnTo>
                  <a:lnTo>
                    <a:pt x="1303" y="25"/>
                  </a:lnTo>
                  <a:close/>
                  <a:moveTo>
                    <a:pt x="1336" y="24"/>
                  </a:moveTo>
                  <a:lnTo>
                    <a:pt x="1355" y="24"/>
                  </a:lnTo>
                  <a:lnTo>
                    <a:pt x="1355" y="29"/>
                  </a:lnTo>
                  <a:lnTo>
                    <a:pt x="1336" y="29"/>
                  </a:lnTo>
                  <a:lnTo>
                    <a:pt x="1336" y="24"/>
                  </a:lnTo>
                  <a:close/>
                  <a:moveTo>
                    <a:pt x="1369" y="24"/>
                  </a:moveTo>
                  <a:lnTo>
                    <a:pt x="1388" y="24"/>
                  </a:lnTo>
                  <a:lnTo>
                    <a:pt x="1388" y="28"/>
                  </a:lnTo>
                  <a:lnTo>
                    <a:pt x="1369" y="29"/>
                  </a:lnTo>
                  <a:lnTo>
                    <a:pt x="1369" y="24"/>
                  </a:lnTo>
                  <a:close/>
                  <a:moveTo>
                    <a:pt x="1403" y="24"/>
                  </a:moveTo>
                  <a:lnTo>
                    <a:pt x="1422" y="23"/>
                  </a:lnTo>
                  <a:lnTo>
                    <a:pt x="1422" y="28"/>
                  </a:lnTo>
                  <a:lnTo>
                    <a:pt x="1403" y="28"/>
                  </a:lnTo>
                  <a:lnTo>
                    <a:pt x="1403" y="24"/>
                  </a:lnTo>
                  <a:close/>
                  <a:moveTo>
                    <a:pt x="1436" y="23"/>
                  </a:moveTo>
                  <a:lnTo>
                    <a:pt x="1455" y="23"/>
                  </a:lnTo>
                  <a:lnTo>
                    <a:pt x="1455" y="28"/>
                  </a:lnTo>
                  <a:lnTo>
                    <a:pt x="1436" y="28"/>
                  </a:lnTo>
                  <a:lnTo>
                    <a:pt x="1436" y="23"/>
                  </a:lnTo>
                  <a:close/>
                  <a:moveTo>
                    <a:pt x="1469" y="23"/>
                  </a:moveTo>
                  <a:lnTo>
                    <a:pt x="1488" y="23"/>
                  </a:lnTo>
                  <a:lnTo>
                    <a:pt x="1488" y="28"/>
                  </a:lnTo>
                  <a:lnTo>
                    <a:pt x="1469" y="28"/>
                  </a:lnTo>
                  <a:lnTo>
                    <a:pt x="1469" y="23"/>
                  </a:lnTo>
                  <a:close/>
                  <a:moveTo>
                    <a:pt x="1503" y="23"/>
                  </a:moveTo>
                  <a:lnTo>
                    <a:pt x="1522" y="22"/>
                  </a:lnTo>
                  <a:lnTo>
                    <a:pt x="1522" y="27"/>
                  </a:lnTo>
                  <a:lnTo>
                    <a:pt x="1503" y="28"/>
                  </a:lnTo>
                  <a:lnTo>
                    <a:pt x="1503" y="23"/>
                  </a:lnTo>
                  <a:close/>
                  <a:moveTo>
                    <a:pt x="1536" y="22"/>
                  </a:moveTo>
                  <a:lnTo>
                    <a:pt x="1555" y="22"/>
                  </a:lnTo>
                  <a:lnTo>
                    <a:pt x="1555" y="27"/>
                  </a:lnTo>
                  <a:lnTo>
                    <a:pt x="1536" y="27"/>
                  </a:lnTo>
                  <a:lnTo>
                    <a:pt x="1536" y="22"/>
                  </a:lnTo>
                  <a:close/>
                  <a:moveTo>
                    <a:pt x="1569" y="22"/>
                  </a:moveTo>
                  <a:lnTo>
                    <a:pt x="1589" y="22"/>
                  </a:lnTo>
                  <a:lnTo>
                    <a:pt x="1589" y="27"/>
                  </a:lnTo>
                  <a:lnTo>
                    <a:pt x="1570" y="27"/>
                  </a:lnTo>
                  <a:lnTo>
                    <a:pt x="1569" y="22"/>
                  </a:lnTo>
                  <a:close/>
                  <a:moveTo>
                    <a:pt x="1603" y="22"/>
                  </a:moveTo>
                  <a:lnTo>
                    <a:pt x="1622" y="22"/>
                  </a:lnTo>
                  <a:lnTo>
                    <a:pt x="1622" y="26"/>
                  </a:lnTo>
                  <a:lnTo>
                    <a:pt x="1603" y="27"/>
                  </a:lnTo>
                  <a:lnTo>
                    <a:pt x="1603" y="22"/>
                  </a:lnTo>
                  <a:close/>
                  <a:moveTo>
                    <a:pt x="1636" y="22"/>
                  </a:moveTo>
                  <a:lnTo>
                    <a:pt x="1656" y="21"/>
                  </a:lnTo>
                  <a:lnTo>
                    <a:pt x="1656" y="26"/>
                  </a:lnTo>
                  <a:lnTo>
                    <a:pt x="1636" y="26"/>
                  </a:lnTo>
                  <a:lnTo>
                    <a:pt x="1636" y="22"/>
                  </a:lnTo>
                  <a:close/>
                  <a:moveTo>
                    <a:pt x="1670" y="21"/>
                  </a:moveTo>
                  <a:lnTo>
                    <a:pt x="1689" y="21"/>
                  </a:lnTo>
                  <a:lnTo>
                    <a:pt x="1689" y="26"/>
                  </a:lnTo>
                  <a:lnTo>
                    <a:pt x="1670" y="26"/>
                  </a:lnTo>
                  <a:lnTo>
                    <a:pt x="1670" y="21"/>
                  </a:lnTo>
                  <a:close/>
                  <a:moveTo>
                    <a:pt x="1703" y="21"/>
                  </a:moveTo>
                  <a:lnTo>
                    <a:pt x="1722" y="21"/>
                  </a:lnTo>
                  <a:lnTo>
                    <a:pt x="1722" y="25"/>
                  </a:lnTo>
                  <a:lnTo>
                    <a:pt x="1703" y="25"/>
                  </a:lnTo>
                  <a:lnTo>
                    <a:pt x="1703" y="21"/>
                  </a:lnTo>
                  <a:close/>
                  <a:moveTo>
                    <a:pt x="1737" y="20"/>
                  </a:moveTo>
                  <a:lnTo>
                    <a:pt x="1756" y="20"/>
                  </a:lnTo>
                  <a:lnTo>
                    <a:pt x="1756" y="25"/>
                  </a:lnTo>
                  <a:lnTo>
                    <a:pt x="1737" y="25"/>
                  </a:lnTo>
                  <a:lnTo>
                    <a:pt x="1737" y="20"/>
                  </a:lnTo>
                  <a:close/>
                  <a:moveTo>
                    <a:pt x="1770" y="20"/>
                  </a:moveTo>
                  <a:lnTo>
                    <a:pt x="1789" y="20"/>
                  </a:lnTo>
                  <a:lnTo>
                    <a:pt x="1789" y="25"/>
                  </a:lnTo>
                  <a:lnTo>
                    <a:pt x="1770" y="25"/>
                  </a:lnTo>
                  <a:lnTo>
                    <a:pt x="1770" y="20"/>
                  </a:lnTo>
                  <a:close/>
                  <a:moveTo>
                    <a:pt x="1803" y="20"/>
                  </a:moveTo>
                  <a:lnTo>
                    <a:pt x="1822" y="20"/>
                  </a:lnTo>
                  <a:lnTo>
                    <a:pt x="1822" y="25"/>
                  </a:lnTo>
                  <a:lnTo>
                    <a:pt x="1803" y="25"/>
                  </a:lnTo>
                  <a:lnTo>
                    <a:pt x="1803" y="20"/>
                  </a:lnTo>
                  <a:close/>
                  <a:moveTo>
                    <a:pt x="1837" y="19"/>
                  </a:moveTo>
                  <a:lnTo>
                    <a:pt x="1856" y="19"/>
                  </a:lnTo>
                  <a:lnTo>
                    <a:pt x="1856" y="24"/>
                  </a:lnTo>
                  <a:lnTo>
                    <a:pt x="1837" y="24"/>
                  </a:lnTo>
                  <a:lnTo>
                    <a:pt x="1837" y="19"/>
                  </a:lnTo>
                  <a:close/>
                  <a:moveTo>
                    <a:pt x="1870" y="19"/>
                  </a:moveTo>
                  <a:lnTo>
                    <a:pt x="1889" y="19"/>
                  </a:lnTo>
                  <a:lnTo>
                    <a:pt x="1889" y="24"/>
                  </a:lnTo>
                  <a:lnTo>
                    <a:pt x="1870" y="24"/>
                  </a:lnTo>
                  <a:lnTo>
                    <a:pt x="1870" y="19"/>
                  </a:lnTo>
                  <a:close/>
                  <a:moveTo>
                    <a:pt x="1904" y="19"/>
                  </a:moveTo>
                  <a:lnTo>
                    <a:pt x="1923" y="19"/>
                  </a:lnTo>
                  <a:lnTo>
                    <a:pt x="1923" y="24"/>
                  </a:lnTo>
                  <a:lnTo>
                    <a:pt x="1904" y="24"/>
                  </a:lnTo>
                  <a:lnTo>
                    <a:pt x="1904" y="19"/>
                  </a:lnTo>
                  <a:close/>
                  <a:moveTo>
                    <a:pt x="1937" y="19"/>
                  </a:moveTo>
                  <a:lnTo>
                    <a:pt x="1956" y="19"/>
                  </a:lnTo>
                  <a:lnTo>
                    <a:pt x="1956" y="23"/>
                  </a:lnTo>
                  <a:lnTo>
                    <a:pt x="1937" y="23"/>
                  </a:lnTo>
                  <a:lnTo>
                    <a:pt x="1937" y="19"/>
                  </a:lnTo>
                  <a:close/>
                  <a:moveTo>
                    <a:pt x="1970" y="18"/>
                  </a:moveTo>
                  <a:lnTo>
                    <a:pt x="1989" y="18"/>
                  </a:lnTo>
                  <a:lnTo>
                    <a:pt x="1989" y="23"/>
                  </a:lnTo>
                  <a:lnTo>
                    <a:pt x="1970" y="23"/>
                  </a:lnTo>
                  <a:lnTo>
                    <a:pt x="1970" y="18"/>
                  </a:lnTo>
                  <a:close/>
                  <a:moveTo>
                    <a:pt x="2004" y="18"/>
                  </a:moveTo>
                  <a:lnTo>
                    <a:pt x="2023" y="18"/>
                  </a:lnTo>
                  <a:lnTo>
                    <a:pt x="2023" y="23"/>
                  </a:lnTo>
                  <a:lnTo>
                    <a:pt x="2004" y="23"/>
                  </a:lnTo>
                  <a:lnTo>
                    <a:pt x="2004" y="18"/>
                  </a:lnTo>
                  <a:close/>
                  <a:moveTo>
                    <a:pt x="2037" y="18"/>
                  </a:moveTo>
                  <a:lnTo>
                    <a:pt x="2056" y="18"/>
                  </a:lnTo>
                  <a:lnTo>
                    <a:pt x="2056" y="22"/>
                  </a:lnTo>
                  <a:lnTo>
                    <a:pt x="2037" y="22"/>
                  </a:lnTo>
                  <a:lnTo>
                    <a:pt x="2037" y="18"/>
                  </a:lnTo>
                  <a:close/>
                  <a:moveTo>
                    <a:pt x="2071" y="17"/>
                  </a:moveTo>
                  <a:lnTo>
                    <a:pt x="2090" y="17"/>
                  </a:lnTo>
                  <a:lnTo>
                    <a:pt x="2090" y="22"/>
                  </a:lnTo>
                  <a:lnTo>
                    <a:pt x="2071" y="22"/>
                  </a:lnTo>
                  <a:lnTo>
                    <a:pt x="2071" y="17"/>
                  </a:lnTo>
                  <a:close/>
                  <a:moveTo>
                    <a:pt x="2104" y="17"/>
                  </a:moveTo>
                  <a:lnTo>
                    <a:pt x="2123" y="17"/>
                  </a:lnTo>
                  <a:lnTo>
                    <a:pt x="2123" y="22"/>
                  </a:lnTo>
                  <a:lnTo>
                    <a:pt x="2104" y="22"/>
                  </a:lnTo>
                  <a:lnTo>
                    <a:pt x="2104" y="17"/>
                  </a:lnTo>
                  <a:close/>
                  <a:moveTo>
                    <a:pt x="2137" y="17"/>
                  </a:moveTo>
                  <a:lnTo>
                    <a:pt x="2156" y="17"/>
                  </a:lnTo>
                  <a:lnTo>
                    <a:pt x="2156" y="21"/>
                  </a:lnTo>
                  <a:lnTo>
                    <a:pt x="2137" y="22"/>
                  </a:lnTo>
                  <a:lnTo>
                    <a:pt x="2137" y="17"/>
                  </a:lnTo>
                  <a:close/>
                  <a:moveTo>
                    <a:pt x="2171" y="17"/>
                  </a:moveTo>
                  <a:lnTo>
                    <a:pt x="2190" y="16"/>
                  </a:lnTo>
                  <a:lnTo>
                    <a:pt x="2190" y="21"/>
                  </a:lnTo>
                  <a:lnTo>
                    <a:pt x="2171" y="21"/>
                  </a:lnTo>
                  <a:lnTo>
                    <a:pt x="2171" y="17"/>
                  </a:lnTo>
                  <a:close/>
                  <a:moveTo>
                    <a:pt x="2204" y="16"/>
                  </a:moveTo>
                  <a:lnTo>
                    <a:pt x="2223" y="16"/>
                  </a:lnTo>
                  <a:lnTo>
                    <a:pt x="2223" y="21"/>
                  </a:lnTo>
                  <a:lnTo>
                    <a:pt x="2204" y="21"/>
                  </a:lnTo>
                  <a:lnTo>
                    <a:pt x="2204" y="16"/>
                  </a:lnTo>
                  <a:close/>
                  <a:moveTo>
                    <a:pt x="2238" y="16"/>
                  </a:moveTo>
                  <a:lnTo>
                    <a:pt x="2257" y="16"/>
                  </a:lnTo>
                  <a:lnTo>
                    <a:pt x="2257" y="20"/>
                  </a:lnTo>
                  <a:lnTo>
                    <a:pt x="2238" y="21"/>
                  </a:lnTo>
                  <a:lnTo>
                    <a:pt x="2238" y="16"/>
                  </a:lnTo>
                  <a:close/>
                  <a:moveTo>
                    <a:pt x="2271" y="16"/>
                  </a:moveTo>
                  <a:lnTo>
                    <a:pt x="2290" y="15"/>
                  </a:lnTo>
                  <a:lnTo>
                    <a:pt x="2290" y="20"/>
                  </a:lnTo>
                  <a:lnTo>
                    <a:pt x="2271" y="20"/>
                  </a:lnTo>
                  <a:lnTo>
                    <a:pt x="2271" y="16"/>
                  </a:lnTo>
                  <a:close/>
                  <a:moveTo>
                    <a:pt x="2304" y="15"/>
                  </a:moveTo>
                  <a:lnTo>
                    <a:pt x="2323" y="15"/>
                  </a:lnTo>
                  <a:lnTo>
                    <a:pt x="2323" y="20"/>
                  </a:lnTo>
                  <a:lnTo>
                    <a:pt x="2304" y="20"/>
                  </a:lnTo>
                  <a:lnTo>
                    <a:pt x="2304" y="15"/>
                  </a:lnTo>
                  <a:close/>
                  <a:moveTo>
                    <a:pt x="2338" y="15"/>
                  </a:moveTo>
                  <a:lnTo>
                    <a:pt x="2357" y="15"/>
                  </a:lnTo>
                  <a:lnTo>
                    <a:pt x="2357" y="19"/>
                  </a:lnTo>
                  <a:lnTo>
                    <a:pt x="2338" y="20"/>
                  </a:lnTo>
                  <a:lnTo>
                    <a:pt x="2338" y="15"/>
                  </a:lnTo>
                  <a:close/>
                  <a:moveTo>
                    <a:pt x="2371" y="15"/>
                  </a:moveTo>
                  <a:lnTo>
                    <a:pt x="2390" y="14"/>
                  </a:lnTo>
                  <a:lnTo>
                    <a:pt x="2390" y="19"/>
                  </a:lnTo>
                  <a:lnTo>
                    <a:pt x="2371" y="19"/>
                  </a:lnTo>
                  <a:lnTo>
                    <a:pt x="2371" y="15"/>
                  </a:lnTo>
                  <a:close/>
                  <a:moveTo>
                    <a:pt x="2404" y="14"/>
                  </a:moveTo>
                  <a:lnTo>
                    <a:pt x="2424" y="14"/>
                  </a:lnTo>
                  <a:lnTo>
                    <a:pt x="2424" y="19"/>
                  </a:lnTo>
                  <a:lnTo>
                    <a:pt x="2404" y="19"/>
                  </a:lnTo>
                  <a:lnTo>
                    <a:pt x="2404" y="14"/>
                  </a:lnTo>
                  <a:close/>
                  <a:moveTo>
                    <a:pt x="2438" y="14"/>
                  </a:moveTo>
                  <a:lnTo>
                    <a:pt x="2457" y="14"/>
                  </a:lnTo>
                  <a:lnTo>
                    <a:pt x="2457" y="19"/>
                  </a:lnTo>
                  <a:lnTo>
                    <a:pt x="2438" y="19"/>
                  </a:lnTo>
                  <a:lnTo>
                    <a:pt x="2438" y="14"/>
                  </a:lnTo>
                  <a:close/>
                  <a:moveTo>
                    <a:pt x="2471" y="14"/>
                  </a:moveTo>
                  <a:lnTo>
                    <a:pt x="2490" y="14"/>
                  </a:lnTo>
                  <a:lnTo>
                    <a:pt x="2491" y="18"/>
                  </a:lnTo>
                  <a:lnTo>
                    <a:pt x="2471" y="19"/>
                  </a:lnTo>
                  <a:lnTo>
                    <a:pt x="2471" y="14"/>
                  </a:lnTo>
                  <a:close/>
                  <a:moveTo>
                    <a:pt x="2505" y="14"/>
                  </a:moveTo>
                  <a:lnTo>
                    <a:pt x="2524" y="13"/>
                  </a:lnTo>
                  <a:lnTo>
                    <a:pt x="2524" y="18"/>
                  </a:lnTo>
                  <a:lnTo>
                    <a:pt x="2505" y="18"/>
                  </a:lnTo>
                  <a:lnTo>
                    <a:pt x="2505" y="14"/>
                  </a:lnTo>
                  <a:close/>
                  <a:moveTo>
                    <a:pt x="2538" y="13"/>
                  </a:moveTo>
                  <a:lnTo>
                    <a:pt x="2557" y="13"/>
                  </a:lnTo>
                  <a:lnTo>
                    <a:pt x="2557" y="18"/>
                  </a:lnTo>
                  <a:lnTo>
                    <a:pt x="2538" y="18"/>
                  </a:lnTo>
                  <a:lnTo>
                    <a:pt x="2538" y="13"/>
                  </a:lnTo>
                  <a:close/>
                  <a:moveTo>
                    <a:pt x="2572" y="13"/>
                  </a:moveTo>
                  <a:lnTo>
                    <a:pt x="2591" y="13"/>
                  </a:lnTo>
                  <a:lnTo>
                    <a:pt x="2591" y="17"/>
                  </a:lnTo>
                  <a:lnTo>
                    <a:pt x="2572" y="17"/>
                  </a:lnTo>
                  <a:lnTo>
                    <a:pt x="2572" y="13"/>
                  </a:lnTo>
                  <a:close/>
                  <a:moveTo>
                    <a:pt x="2605" y="12"/>
                  </a:moveTo>
                  <a:lnTo>
                    <a:pt x="2624" y="12"/>
                  </a:lnTo>
                  <a:lnTo>
                    <a:pt x="2624" y="17"/>
                  </a:lnTo>
                  <a:lnTo>
                    <a:pt x="2605" y="17"/>
                  </a:lnTo>
                  <a:lnTo>
                    <a:pt x="2605" y="12"/>
                  </a:lnTo>
                  <a:close/>
                  <a:moveTo>
                    <a:pt x="2638" y="12"/>
                  </a:moveTo>
                  <a:lnTo>
                    <a:pt x="2657" y="12"/>
                  </a:lnTo>
                  <a:lnTo>
                    <a:pt x="2657" y="17"/>
                  </a:lnTo>
                  <a:lnTo>
                    <a:pt x="2638" y="17"/>
                  </a:lnTo>
                  <a:lnTo>
                    <a:pt x="2638" y="12"/>
                  </a:lnTo>
                  <a:close/>
                  <a:moveTo>
                    <a:pt x="2672" y="12"/>
                  </a:moveTo>
                  <a:lnTo>
                    <a:pt x="2691" y="12"/>
                  </a:lnTo>
                  <a:lnTo>
                    <a:pt x="2691" y="17"/>
                  </a:lnTo>
                  <a:lnTo>
                    <a:pt x="2672" y="17"/>
                  </a:lnTo>
                  <a:lnTo>
                    <a:pt x="2672" y="12"/>
                  </a:lnTo>
                  <a:close/>
                  <a:moveTo>
                    <a:pt x="2705" y="11"/>
                  </a:moveTo>
                  <a:lnTo>
                    <a:pt x="2724" y="11"/>
                  </a:lnTo>
                  <a:lnTo>
                    <a:pt x="2724" y="16"/>
                  </a:lnTo>
                  <a:lnTo>
                    <a:pt x="2705" y="16"/>
                  </a:lnTo>
                  <a:lnTo>
                    <a:pt x="2705" y="11"/>
                  </a:lnTo>
                  <a:close/>
                  <a:moveTo>
                    <a:pt x="2738" y="11"/>
                  </a:moveTo>
                  <a:lnTo>
                    <a:pt x="2757" y="11"/>
                  </a:lnTo>
                  <a:lnTo>
                    <a:pt x="2757" y="16"/>
                  </a:lnTo>
                  <a:lnTo>
                    <a:pt x="2738" y="16"/>
                  </a:lnTo>
                  <a:lnTo>
                    <a:pt x="2738" y="11"/>
                  </a:lnTo>
                  <a:close/>
                  <a:moveTo>
                    <a:pt x="2772" y="11"/>
                  </a:moveTo>
                  <a:lnTo>
                    <a:pt x="2791" y="11"/>
                  </a:lnTo>
                  <a:lnTo>
                    <a:pt x="2791" y="16"/>
                  </a:lnTo>
                  <a:lnTo>
                    <a:pt x="2772" y="16"/>
                  </a:lnTo>
                  <a:lnTo>
                    <a:pt x="2772" y="11"/>
                  </a:lnTo>
                  <a:close/>
                  <a:moveTo>
                    <a:pt x="2805" y="11"/>
                  </a:moveTo>
                  <a:lnTo>
                    <a:pt x="2824" y="11"/>
                  </a:lnTo>
                  <a:lnTo>
                    <a:pt x="2825" y="15"/>
                  </a:lnTo>
                  <a:lnTo>
                    <a:pt x="2805" y="15"/>
                  </a:lnTo>
                  <a:lnTo>
                    <a:pt x="2805" y="11"/>
                  </a:lnTo>
                  <a:close/>
                  <a:moveTo>
                    <a:pt x="2839" y="10"/>
                  </a:moveTo>
                  <a:lnTo>
                    <a:pt x="2858" y="10"/>
                  </a:lnTo>
                  <a:lnTo>
                    <a:pt x="2858" y="15"/>
                  </a:lnTo>
                  <a:lnTo>
                    <a:pt x="2839" y="15"/>
                  </a:lnTo>
                  <a:lnTo>
                    <a:pt x="2839" y="10"/>
                  </a:lnTo>
                  <a:close/>
                  <a:moveTo>
                    <a:pt x="2872" y="10"/>
                  </a:moveTo>
                  <a:lnTo>
                    <a:pt x="2891" y="10"/>
                  </a:lnTo>
                  <a:lnTo>
                    <a:pt x="2891" y="15"/>
                  </a:lnTo>
                  <a:lnTo>
                    <a:pt x="2872" y="15"/>
                  </a:lnTo>
                  <a:lnTo>
                    <a:pt x="2872" y="10"/>
                  </a:lnTo>
                  <a:close/>
                  <a:moveTo>
                    <a:pt x="2906" y="10"/>
                  </a:moveTo>
                  <a:lnTo>
                    <a:pt x="2925" y="10"/>
                  </a:lnTo>
                  <a:lnTo>
                    <a:pt x="2925" y="14"/>
                  </a:lnTo>
                  <a:lnTo>
                    <a:pt x="2906" y="14"/>
                  </a:lnTo>
                  <a:lnTo>
                    <a:pt x="2906" y="10"/>
                  </a:lnTo>
                  <a:close/>
                  <a:moveTo>
                    <a:pt x="2939" y="9"/>
                  </a:moveTo>
                  <a:lnTo>
                    <a:pt x="2958" y="9"/>
                  </a:lnTo>
                  <a:lnTo>
                    <a:pt x="2958" y="14"/>
                  </a:lnTo>
                  <a:lnTo>
                    <a:pt x="2939" y="14"/>
                  </a:lnTo>
                  <a:lnTo>
                    <a:pt x="2939" y="9"/>
                  </a:lnTo>
                  <a:close/>
                  <a:moveTo>
                    <a:pt x="2972" y="9"/>
                  </a:moveTo>
                  <a:lnTo>
                    <a:pt x="2991" y="9"/>
                  </a:lnTo>
                  <a:lnTo>
                    <a:pt x="2991" y="14"/>
                  </a:lnTo>
                  <a:lnTo>
                    <a:pt x="2972" y="14"/>
                  </a:lnTo>
                  <a:lnTo>
                    <a:pt x="2972" y="9"/>
                  </a:lnTo>
                  <a:close/>
                  <a:moveTo>
                    <a:pt x="3006" y="9"/>
                  </a:moveTo>
                  <a:lnTo>
                    <a:pt x="3025" y="8"/>
                  </a:lnTo>
                  <a:lnTo>
                    <a:pt x="3025" y="13"/>
                  </a:lnTo>
                  <a:lnTo>
                    <a:pt x="3006" y="14"/>
                  </a:lnTo>
                  <a:lnTo>
                    <a:pt x="3006" y="9"/>
                  </a:lnTo>
                  <a:close/>
                  <a:moveTo>
                    <a:pt x="3039" y="8"/>
                  </a:moveTo>
                  <a:lnTo>
                    <a:pt x="3058" y="8"/>
                  </a:lnTo>
                  <a:lnTo>
                    <a:pt x="3058" y="13"/>
                  </a:lnTo>
                  <a:lnTo>
                    <a:pt x="3039" y="13"/>
                  </a:lnTo>
                  <a:lnTo>
                    <a:pt x="3039" y="8"/>
                  </a:lnTo>
                  <a:close/>
                  <a:moveTo>
                    <a:pt x="3072" y="8"/>
                  </a:moveTo>
                  <a:lnTo>
                    <a:pt x="3091" y="8"/>
                  </a:lnTo>
                  <a:lnTo>
                    <a:pt x="3092" y="13"/>
                  </a:lnTo>
                  <a:lnTo>
                    <a:pt x="3072" y="13"/>
                  </a:lnTo>
                  <a:lnTo>
                    <a:pt x="3072" y="8"/>
                  </a:lnTo>
                  <a:close/>
                  <a:moveTo>
                    <a:pt x="3106" y="8"/>
                  </a:moveTo>
                  <a:lnTo>
                    <a:pt x="3125" y="8"/>
                  </a:lnTo>
                  <a:lnTo>
                    <a:pt x="3125" y="12"/>
                  </a:lnTo>
                  <a:lnTo>
                    <a:pt x="3106" y="13"/>
                  </a:lnTo>
                  <a:lnTo>
                    <a:pt x="3106" y="8"/>
                  </a:lnTo>
                  <a:close/>
                  <a:moveTo>
                    <a:pt x="3139" y="8"/>
                  </a:moveTo>
                  <a:lnTo>
                    <a:pt x="3158" y="7"/>
                  </a:lnTo>
                  <a:lnTo>
                    <a:pt x="3158" y="12"/>
                  </a:lnTo>
                  <a:lnTo>
                    <a:pt x="3139" y="12"/>
                  </a:lnTo>
                  <a:lnTo>
                    <a:pt x="3139" y="8"/>
                  </a:lnTo>
                  <a:close/>
                  <a:moveTo>
                    <a:pt x="3173" y="7"/>
                  </a:moveTo>
                  <a:lnTo>
                    <a:pt x="3192" y="7"/>
                  </a:lnTo>
                  <a:lnTo>
                    <a:pt x="3192" y="12"/>
                  </a:lnTo>
                  <a:lnTo>
                    <a:pt x="3173" y="12"/>
                  </a:lnTo>
                  <a:lnTo>
                    <a:pt x="3173" y="7"/>
                  </a:lnTo>
                  <a:close/>
                  <a:moveTo>
                    <a:pt x="3206" y="7"/>
                  </a:moveTo>
                  <a:lnTo>
                    <a:pt x="3225" y="7"/>
                  </a:lnTo>
                  <a:lnTo>
                    <a:pt x="3225" y="11"/>
                  </a:lnTo>
                  <a:lnTo>
                    <a:pt x="3206" y="12"/>
                  </a:lnTo>
                  <a:lnTo>
                    <a:pt x="3206" y="7"/>
                  </a:lnTo>
                  <a:close/>
                  <a:moveTo>
                    <a:pt x="3239" y="7"/>
                  </a:moveTo>
                  <a:lnTo>
                    <a:pt x="3259" y="6"/>
                  </a:lnTo>
                  <a:lnTo>
                    <a:pt x="3259" y="11"/>
                  </a:lnTo>
                  <a:lnTo>
                    <a:pt x="3239" y="11"/>
                  </a:lnTo>
                  <a:lnTo>
                    <a:pt x="3239" y="7"/>
                  </a:lnTo>
                  <a:close/>
                  <a:moveTo>
                    <a:pt x="3273" y="6"/>
                  </a:moveTo>
                  <a:lnTo>
                    <a:pt x="3292" y="6"/>
                  </a:lnTo>
                  <a:lnTo>
                    <a:pt x="3292" y="11"/>
                  </a:lnTo>
                  <a:lnTo>
                    <a:pt x="3273" y="11"/>
                  </a:lnTo>
                  <a:lnTo>
                    <a:pt x="3273" y="6"/>
                  </a:lnTo>
                  <a:close/>
                  <a:moveTo>
                    <a:pt x="3306" y="6"/>
                  </a:moveTo>
                  <a:lnTo>
                    <a:pt x="3325" y="6"/>
                  </a:lnTo>
                  <a:lnTo>
                    <a:pt x="3325" y="11"/>
                  </a:lnTo>
                  <a:lnTo>
                    <a:pt x="3306" y="11"/>
                  </a:lnTo>
                  <a:lnTo>
                    <a:pt x="3306" y="6"/>
                  </a:lnTo>
                  <a:close/>
                  <a:moveTo>
                    <a:pt x="3340" y="6"/>
                  </a:moveTo>
                  <a:lnTo>
                    <a:pt x="3359" y="5"/>
                  </a:lnTo>
                  <a:lnTo>
                    <a:pt x="3359" y="10"/>
                  </a:lnTo>
                  <a:lnTo>
                    <a:pt x="3340" y="11"/>
                  </a:lnTo>
                  <a:lnTo>
                    <a:pt x="3340" y="6"/>
                  </a:lnTo>
                  <a:close/>
                  <a:moveTo>
                    <a:pt x="3373" y="5"/>
                  </a:moveTo>
                  <a:lnTo>
                    <a:pt x="3392" y="5"/>
                  </a:lnTo>
                  <a:lnTo>
                    <a:pt x="3392" y="10"/>
                  </a:lnTo>
                  <a:lnTo>
                    <a:pt x="3373" y="10"/>
                  </a:lnTo>
                  <a:lnTo>
                    <a:pt x="3373" y="5"/>
                  </a:lnTo>
                  <a:close/>
                  <a:moveTo>
                    <a:pt x="3406" y="5"/>
                  </a:moveTo>
                  <a:lnTo>
                    <a:pt x="3425" y="5"/>
                  </a:lnTo>
                  <a:lnTo>
                    <a:pt x="3426" y="10"/>
                  </a:lnTo>
                  <a:lnTo>
                    <a:pt x="3407" y="10"/>
                  </a:lnTo>
                  <a:lnTo>
                    <a:pt x="3406" y="5"/>
                  </a:lnTo>
                  <a:close/>
                  <a:moveTo>
                    <a:pt x="3440" y="5"/>
                  </a:moveTo>
                  <a:lnTo>
                    <a:pt x="3459" y="5"/>
                  </a:lnTo>
                  <a:lnTo>
                    <a:pt x="3459" y="9"/>
                  </a:lnTo>
                  <a:lnTo>
                    <a:pt x="3440" y="10"/>
                  </a:lnTo>
                  <a:lnTo>
                    <a:pt x="3440" y="5"/>
                  </a:lnTo>
                  <a:close/>
                  <a:moveTo>
                    <a:pt x="3473" y="4"/>
                  </a:moveTo>
                  <a:lnTo>
                    <a:pt x="3492" y="4"/>
                  </a:lnTo>
                  <a:lnTo>
                    <a:pt x="3492" y="9"/>
                  </a:lnTo>
                  <a:lnTo>
                    <a:pt x="3473" y="9"/>
                  </a:lnTo>
                  <a:lnTo>
                    <a:pt x="3473" y="4"/>
                  </a:lnTo>
                  <a:close/>
                  <a:moveTo>
                    <a:pt x="3507" y="4"/>
                  </a:moveTo>
                  <a:lnTo>
                    <a:pt x="3526" y="4"/>
                  </a:lnTo>
                  <a:lnTo>
                    <a:pt x="3526" y="9"/>
                  </a:lnTo>
                  <a:lnTo>
                    <a:pt x="3507" y="9"/>
                  </a:lnTo>
                  <a:lnTo>
                    <a:pt x="3507" y="4"/>
                  </a:lnTo>
                  <a:close/>
                  <a:moveTo>
                    <a:pt x="3540" y="4"/>
                  </a:moveTo>
                  <a:lnTo>
                    <a:pt x="3559" y="4"/>
                  </a:lnTo>
                  <a:lnTo>
                    <a:pt x="3559" y="8"/>
                  </a:lnTo>
                  <a:lnTo>
                    <a:pt x="3540" y="8"/>
                  </a:lnTo>
                  <a:lnTo>
                    <a:pt x="3540" y="4"/>
                  </a:lnTo>
                  <a:close/>
                  <a:moveTo>
                    <a:pt x="3573" y="3"/>
                  </a:moveTo>
                  <a:lnTo>
                    <a:pt x="3593" y="3"/>
                  </a:lnTo>
                  <a:lnTo>
                    <a:pt x="3593" y="8"/>
                  </a:lnTo>
                  <a:lnTo>
                    <a:pt x="3573" y="8"/>
                  </a:lnTo>
                  <a:lnTo>
                    <a:pt x="3573" y="3"/>
                  </a:lnTo>
                  <a:close/>
                  <a:moveTo>
                    <a:pt x="3607" y="3"/>
                  </a:moveTo>
                  <a:lnTo>
                    <a:pt x="3626" y="3"/>
                  </a:lnTo>
                  <a:lnTo>
                    <a:pt x="3626" y="8"/>
                  </a:lnTo>
                  <a:lnTo>
                    <a:pt x="3607" y="8"/>
                  </a:lnTo>
                  <a:lnTo>
                    <a:pt x="3607" y="3"/>
                  </a:lnTo>
                  <a:close/>
                  <a:moveTo>
                    <a:pt x="3640" y="3"/>
                  </a:moveTo>
                  <a:lnTo>
                    <a:pt x="3659" y="3"/>
                  </a:lnTo>
                  <a:lnTo>
                    <a:pt x="3659" y="8"/>
                  </a:lnTo>
                  <a:lnTo>
                    <a:pt x="3640" y="8"/>
                  </a:lnTo>
                  <a:lnTo>
                    <a:pt x="3640" y="3"/>
                  </a:lnTo>
                  <a:close/>
                  <a:moveTo>
                    <a:pt x="3674" y="3"/>
                  </a:moveTo>
                  <a:lnTo>
                    <a:pt x="3693" y="3"/>
                  </a:lnTo>
                  <a:lnTo>
                    <a:pt x="3693" y="7"/>
                  </a:lnTo>
                  <a:lnTo>
                    <a:pt x="3674" y="7"/>
                  </a:lnTo>
                  <a:lnTo>
                    <a:pt x="3674" y="3"/>
                  </a:lnTo>
                  <a:close/>
                  <a:moveTo>
                    <a:pt x="3707" y="2"/>
                  </a:moveTo>
                  <a:lnTo>
                    <a:pt x="3726" y="2"/>
                  </a:lnTo>
                  <a:lnTo>
                    <a:pt x="3726" y="7"/>
                  </a:lnTo>
                  <a:lnTo>
                    <a:pt x="3707" y="7"/>
                  </a:lnTo>
                  <a:lnTo>
                    <a:pt x="3707" y="2"/>
                  </a:lnTo>
                  <a:close/>
                  <a:moveTo>
                    <a:pt x="3740" y="2"/>
                  </a:moveTo>
                  <a:lnTo>
                    <a:pt x="3760" y="2"/>
                  </a:lnTo>
                  <a:lnTo>
                    <a:pt x="3760" y="7"/>
                  </a:lnTo>
                  <a:lnTo>
                    <a:pt x="3741" y="7"/>
                  </a:lnTo>
                  <a:lnTo>
                    <a:pt x="3740" y="2"/>
                  </a:lnTo>
                  <a:close/>
                  <a:moveTo>
                    <a:pt x="3774" y="2"/>
                  </a:moveTo>
                  <a:lnTo>
                    <a:pt x="3793" y="2"/>
                  </a:lnTo>
                  <a:lnTo>
                    <a:pt x="3793" y="6"/>
                  </a:lnTo>
                  <a:lnTo>
                    <a:pt x="3774" y="6"/>
                  </a:lnTo>
                  <a:lnTo>
                    <a:pt x="3774" y="2"/>
                  </a:lnTo>
                  <a:close/>
                  <a:moveTo>
                    <a:pt x="3807" y="1"/>
                  </a:moveTo>
                  <a:lnTo>
                    <a:pt x="3826" y="1"/>
                  </a:lnTo>
                  <a:lnTo>
                    <a:pt x="3826" y="6"/>
                  </a:lnTo>
                  <a:lnTo>
                    <a:pt x="3807" y="6"/>
                  </a:lnTo>
                  <a:lnTo>
                    <a:pt x="3807" y="1"/>
                  </a:lnTo>
                  <a:close/>
                  <a:moveTo>
                    <a:pt x="3841" y="1"/>
                  </a:moveTo>
                  <a:lnTo>
                    <a:pt x="3860" y="1"/>
                  </a:lnTo>
                  <a:lnTo>
                    <a:pt x="3860" y="5"/>
                  </a:lnTo>
                  <a:lnTo>
                    <a:pt x="3841" y="6"/>
                  </a:lnTo>
                  <a:lnTo>
                    <a:pt x="3841" y="1"/>
                  </a:lnTo>
                  <a:close/>
                  <a:moveTo>
                    <a:pt x="3874" y="1"/>
                  </a:moveTo>
                  <a:lnTo>
                    <a:pt x="3892" y="0"/>
                  </a:lnTo>
                  <a:lnTo>
                    <a:pt x="3892" y="5"/>
                  </a:lnTo>
                  <a:lnTo>
                    <a:pt x="3874" y="5"/>
                  </a:lnTo>
                  <a:lnTo>
                    <a:pt x="3874" y="1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60" name="Rectangle 63">
              <a:extLst>
                <a:ext uri="{FF2B5EF4-FFF2-40B4-BE49-F238E27FC236}">
                  <a16:creationId xmlns:a16="http://schemas.microsoft.com/office/drawing/2014/main" id="{C4DB4371-5714-45CB-8172-0B47BE8B9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" y="1493"/>
              <a:ext cx="639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ko-KR" altLang="ko-KR" sz="1015" b="1" dirty="0">
                  <a:solidFill>
                    <a:srgbClr val="000000"/>
                  </a:solidFill>
                </a:rPr>
                <a:t>Cloud Computing</a:t>
              </a:r>
              <a:endParaRPr lang="ko-KR" altLang="ko-KR" sz="1662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" name="Freeform 64">
              <a:extLst>
                <a:ext uri="{FF2B5EF4-FFF2-40B4-BE49-F238E27FC236}">
                  <a16:creationId xmlns:a16="http://schemas.microsoft.com/office/drawing/2014/main" id="{7586C9F3-8B07-4230-A976-DA08F78EF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3238"/>
              <a:ext cx="291" cy="149"/>
            </a:xfrm>
            <a:custGeom>
              <a:avLst/>
              <a:gdLst>
                <a:gd name="T0" fmla="*/ 0 w 291"/>
                <a:gd name="T1" fmla="*/ 145 h 149"/>
                <a:gd name="T2" fmla="*/ 289 w 291"/>
                <a:gd name="T3" fmla="*/ 0 h 149"/>
                <a:gd name="T4" fmla="*/ 291 w 291"/>
                <a:gd name="T5" fmla="*/ 5 h 149"/>
                <a:gd name="T6" fmla="*/ 2 w 291"/>
                <a:gd name="T7" fmla="*/ 149 h 149"/>
                <a:gd name="T8" fmla="*/ 0 w 291"/>
                <a:gd name="T9" fmla="*/ 14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149">
                  <a:moveTo>
                    <a:pt x="0" y="145"/>
                  </a:moveTo>
                  <a:lnTo>
                    <a:pt x="289" y="0"/>
                  </a:lnTo>
                  <a:lnTo>
                    <a:pt x="291" y="5"/>
                  </a:lnTo>
                  <a:lnTo>
                    <a:pt x="2" y="149"/>
                  </a:lnTo>
                  <a:lnTo>
                    <a:pt x="0" y="145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62" name="Freeform 65">
              <a:extLst>
                <a:ext uri="{FF2B5EF4-FFF2-40B4-BE49-F238E27FC236}">
                  <a16:creationId xmlns:a16="http://schemas.microsoft.com/office/drawing/2014/main" id="{34971962-791D-4C8F-9B5B-E0441B9D8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9" y="3238"/>
              <a:ext cx="290" cy="149"/>
            </a:xfrm>
            <a:custGeom>
              <a:avLst/>
              <a:gdLst>
                <a:gd name="T0" fmla="*/ 288 w 290"/>
                <a:gd name="T1" fmla="*/ 149 h 149"/>
                <a:gd name="T2" fmla="*/ 0 w 290"/>
                <a:gd name="T3" fmla="*/ 5 h 149"/>
                <a:gd name="T4" fmla="*/ 2 w 290"/>
                <a:gd name="T5" fmla="*/ 0 h 149"/>
                <a:gd name="T6" fmla="*/ 290 w 290"/>
                <a:gd name="T7" fmla="*/ 145 h 149"/>
                <a:gd name="T8" fmla="*/ 288 w 290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" h="149">
                  <a:moveTo>
                    <a:pt x="288" y="149"/>
                  </a:moveTo>
                  <a:lnTo>
                    <a:pt x="0" y="5"/>
                  </a:lnTo>
                  <a:lnTo>
                    <a:pt x="2" y="0"/>
                  </a:lnTo>
                  <a:lnTo>
                    <a:pt x="290" y="145"/>
                  </a:lnTo>
                  <a:lnTo>
                    <a:pt x="288" y="149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63" name="Rectangle 66">
              <a:extLst>
                <a:ext uri="{FF2B5EF4-FFF2-40B4-BE49-F238E27FC236}">
                  <a16:creationId xmlns:a16="http://schemas.microsoft.com/office/drawing/2014/main" id="{795D537F-93E2-4678-8772-3AD79822E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2" y="2626"/>
              <a:ext cx="5" cy="180"/>
            </a:xfrm>
            <a:prstGeom prst="rect">
              <a:avLst/>
            </a:pr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64" name="Rectangle 67">
              <a:extLst>
                <a:ext uri="{FF2B5EF4-FFF2-40B4-BE49-F238E27FC236}">
                  <a16:creationId xmlns:a16="http://schemas.microsoft.com/office/drawing/2014/main" id="{5F760536-6E41-4ECD-92AC-923861C0C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2" y="1234"/>
              <a:ext cx="5" cy="171"/>
            </a:xfrm>
            <a:prstGeom prst="rect">
              <a:avLst/>
            </a:pr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65" name="Rectangle 68">
              <a:extLst>
                <a:ext uri="{FF2B5EF4-FFF2-40B4-BE49-F238E27FC236}">
                  <a16:creationId xmlns:a16="http://schemas.microsoft.com/office/drawing/2014/main" id="{A30AAD74-EA44-445F-AC5F-F56AA9D57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9" y="1851"/>
              <a:ext cx="108" cy="5"/>
            </a:xfrm>
            <a:prstGeom prst="rect">
              <a:avLst/>
            </a:pr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  <p:sp>
          <p:nvSpPr>
            <p:cNvPr id="66" name="Rectangle 69">
              <a:extLst>
                <a:ext uri="{FF2B5EF4-FFF2-40B4-BE49-F238E27FC236}">
                  <a16:creationId xmlns:a16="http://schemas.microsoft.com/office/drawing/2014/main" id="{A1860155-8B69-41BB-9E8A-FF3B2078B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7" y="1851"/>
              <a:ext cx="108" cy="5"/>
            </a:xfrm>
            <a:prstGeom prst="rect">
              <a:avLst/>
            </a:pr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04A7BBCD-EEB7-4FC4-82FB-F886814C2D6B}"/>
              </a:ext>
            </a:extLst>
          </p:cNvPr>
          <p:cNvSpPr txBox="1"/>
          <p:nvPr/>
        </p:nvSpPr>
        <p:spPr>
          <a:xfrm>
            <a:off x="112263" y="825579"/>
            <a:ext cx="4090714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Cloud computing services are offered to users in different forms.</a:t>
            </a:r>
          </a:p>
          <a:p>
            <a:endParaRPr lang="en-US" sz="1600" dirty="0">
              <a:solidFill>
                <a:srgbClr val="C00000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</a:rPr>
              <a:t>IaaS- (Infrastructure-as-a-service)</a:t>
            </a:r>
          </a:p>
          <a:p>
            <a:r>
              <a:rPr lang="en-US" sz="1600" dirty="0"/>
              <a:t>Provides users the ability to provision computing and storage resources.</a:t>
            </a:r>
          </a:p>
          <a:p>
            <a:r>
              <a:rPr lang="en-US" sz="1600" dirty="0"/>
              <a:t>Resources in the form of Virtual machine instances and Virtual storage.</a:t>
            </a:r>
          </a:p>
          <a:p>
            <a:r>
              <a:rPr lang="en-US" sz="1600" dirty="0"/>
              <a:t>Ex : Web Hosting, Virtual Machine etc.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C00000"/>
                </a:solidFill>
              </a:rPr>
              <a:t>PaaS- (Platform-as-a-service)</a:t>
            </a:r>
          </a:p>
          <a:p>
            <a:r>
              <a:rPr lang="en-US" sz="1600" dirty="0"/>
              <a:t>Provides users  the ability to Develop and deploy applications in the cloud using development tools, APIs, software libraries and services provided by the cloud.</a:t>
            </a:r>
          </a:p>
          <a:p>
            <a:r>
              <a:rPr lang="en-US" sz="1600" dirty="0"/>
              <a:t>Ex : App Cloud, Google app engine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C00000"/>
                </a:solidFill>
              </a:rPr>
              <a:t>SaaS- (Software-as-a-service)</a:t>
            </a:r>
          </a:p>
          <a:p>
            <a:r>
              <a:rPr lang="en-US" sz="1600" dirty="0"/>
              <a:t>Provides users a complete software application or the user interface to the application itself.</a:t>
            </a:r>
          </a:p>
          <a:p>
            <a:r>
              <a:rPr lang="en-US" sz="1600" dirty="0"/>
              <a:t>Ex : Google Docs, Gmail, office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544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DD90E-1B55-4C06-81F3-6401C80C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3208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Big Data Analytics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24977-AA0D-456D-AB1F-71175D294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1539"/>
            <a:ext cx="8596668" cy="5678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C00000"/>
                </a:solidFill>
              </a:rPr>
              <a:t>Big Data Value Chain</a:t>
            </a:r>
          </a:p>
          <a:p>
            <a:endParaRPr lang="en-IN" dirty="0"/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62D70EE4-3C36-49F6-8220-D68073D89008}"/>
              </a:ext>
            </a:extLst>
          </p:cNvPr>
          <p:cNvGrpSpPr>
            <a:grpSpLocks/>
          </p:cNvGrpSpPr>
          <p:nvPr/>
        </p:nvGrpSpPr>
        <p:grpSpPr bwMode="auto">
          <a:xfrm>
            <a:off x="677334" y="1005381"/>
            <a:ext cx="9194635" cy="947738"/>
            <a:chOff x="228600" y="2667000"/>
            <a:chExt cx="8767763" cy="8382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5" name="AutoShape 20">
              <a:extLst>
                <a:ext uri="{FF2B5EF4-FFF2-40B4-BE49-F238E27FC236}">
                  <a16:creationId xmlns:a16="http://schemas.microsoft.com/office/drawing/2014/main" id="{94351681-8FAF-4812-89C9-17A03DA92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2667000"/>
              <a:ext cx="1600200" cy="838200"/>
            </a:xfrm>
            <a:prstGeom prst="homePlate">
              <a:avLst>
                <a:gd name="adj" fmla="val 18375"/>
              </a:avLst>
            </a:prstGeom>
            <a:grpFill/>
            <a:ln w="12700">
              <a:solidFill>
                <a:srgbClr val="009DDB"/>
              </a:solidFill>
              <a:miter lim="800000"/>
              <a:headEnd/>
              <a:tailEnd/>
            </a:ln>
          </p:spPr>
          <p:txBody>
            <a:bodyPr lIns="182880" anchor="ctr"/>
            <a:lstStyle/>
            <a:p>
              <a:pPr algn="ctr" eaLnBrk="0" hangingPunct="0"/>
              <a:r>
                <a:rPr lang="en-US" sz="1600" b="1"/>
                <a:t>Collection</a:t>
              </a:r>
            </a:p>
          </p:txBody>
        </p:sp>
        <p:sp>
          <p:nvSpPr>
            <p:cNvPr id="6" name="AutoShape 21">
              <a:extLst>
                <a:ext uri="{FF2B5EF4-FFF2-40B4-BE49-F238E27FC236}">
                  <a16:creationId xmlns:a16="http://schemas.microsoft.com/office/drawing/2014/main" id="{F8727331-B62C-4927-AB66-0D187DC91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113" y="2667000"/>
              <a:ext cx="1600200" cy="838200"/>
            </a:xfrm>
            <a:prstGeom prst="chevron">
              <a:avLst>
                <a:gd name="adj" fmla="val 18561"/>
              </a:avLst>
            </a:prstGeom>
            <a:grpFill/>
            <a:ln w="12700">
              <a:solidFill>
                <a:srgbClr val="009DDB"/>
              </a:solidFill>
              <a:miter lim="800000"/>
              <a:headEnd/>
              <a:tailEnd/>
            </a:ln>
          </p:spPr>
          <p:txBody>
            <a:bodyPr lIns="182880" anchor="ctr"/>
            <a:lstStyle/>
            <a:p>
              <a:pPr algn="ctr" eaLnBrk="0" hangingPunct="0"/>
              <a:r>
                <a:rPr lang="en-US" sz="1600" b="1"/>
                <a:t>Ingestion</a:t>
              </a:r>
            </a:p>
          </p:txBody>
        </p:sp>
        <p:sp>
          <p:nvSpPr>
            <p:cNvPr id="7" name="AutoShape 22">
              <a:extLst>
                <a:ext uri="{FF2B5EF4-FFF2-40B4-BE49-F238E27FC236}">
                  <a16:creationId xmlns:a16="http://schemas.microsoft.com/office/drawing/2014/main" id="{4531B1B3-FAB7-445C-BA1F-2548C1DBD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5625" y="2667000"/>
              <a:ext cx="1600200" cy="838200"/>
            </a:xfrm>
            <a:prstGeom prst="chevron">
              <a:avLst>
                <a:gd name="adj" fmla="val 18561"/>
              </a:avLst>
            </a:prstGeom>
            <a:grpFill/>
            <a:ln w="12700">
              <a:solidFill>
                <a:srgbClr val="009DDB"/>
              </a:solidFill>
              <a:miter lim="800000"/>
              <a:headEnd/>
              <a:tailEnd/>
            </a:ln>
          </p:spPr>
          <p:txBody>
            <a:bodyPr lIns="182880" anchor="ctr"/>
            <a:lstStyle/>
            <a:p>
              <a:pPr algn="ctr" eaLnBrk="0" hangingPunct="0"/>
              <a:r>
                <a:rPr lang="en-US" sz="1600" b="1"/>
                <a:t>Discovery  &amp; Cleansing</a:t>
              </a:r>
            </a:p>
          </p:txBody>
        </p:sp>
        <p:sp>
          <p:nvSpPr>
            <p:cNvPr id="8" name="AutoShape 23">
              <a:extLst>
                <a:ext uri="{FF2B5EF4-FFF2-40B4-BE49-F238E27FC236}">
                  <a16:creationId xmlns:a16="http://schemas.microsoft.com/office/drawing/2014/main" id="{A9CD0BF5-F96E-4D5E-9EA9-7841819C4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9138" y="2667000"/>
              <a:ext cx="1600200" cy="838200"/>
            </a:xfrm>
            <a:prstGeom prst="chevron">
              <a:avLst>
                <a:gd name="adj" fmla="val 18561"/>
              </a:avLst>
            </a:prstGeom>
            <a:grpFill/>
            <a:ln w="12700">
              <a:solidFill>
                <a:srgbClr val="009DDB"/>
              </a:solidFill>
              <a:miter lim="800000"/>
              <a:headEnd/>
              <a:tailEnd/>
            </a:ln>
          </p:spPr>
          <p:txBody>
            <a:bodyPr lIns="182880" anchor="ctr"/>
            <a:lstStyle/>
            <a:p>
              <a:pPr algn="ctr" eaLnBrk="0" hangingPunct="0"/>
              <a:r>
                <a:rPr lang="en-US" sz="1600" b="1"/>
                <a:t>Integration</a:t>
              </a:r>
            </a:p>
          </p:txBody>
        </p:sp>
        <p:sp>
          <p:nvSpPr>
            <p:cNvPr id="9" name="AutoShape 24">
              <a:extLst>
                <a:ext uri="{FF2B5EF4-FFF2-40B4-BE49-F238E27FC236}">
                  <a16:creationId xmlns:a16="http://schemas.microsoft.com/office/drawing/2014/main" id="{F92BB95E-DAD3-492E-BB2B-8580F521A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2650" y="2667000"/>
              <a:ext cx="1600200" cy="838200"/>
            </a:xfrm>
            <a:prstGeom prst="chevron">
              <a:avLst>
                <a:gd name="adj" fmla="val 18561"/>
              </a:avLst>
            </a:prstGeom>
            <a:grpFill/>
            <a:ln w="12700">
              <a:solidFill>
                <a:srgbClr val="009DDB"/>
              </a:solidFill>
              <a:miter lim="800000"/>
              <a:headEnd/>
              <a:tailEnd/>
            </a:ln>
          </p:spPr>
          <p:txBody>
            <a:bodyPr lIns="182880" anchor="ctr"/>
            <a:lstStyle/>
            <a:p>
              <a:pPr algn="ctr" eaLnBrk="0" hangingPunct="0"/>
              <a:r>
                <a:rPr lang="en-US" sz="1600" b="1"/>
                <a:t>Analysis</a:t>
              </a:r>
            </a:p>
          </p:txBody>
        </p:sp>
        <p:sp>
          <p:nvSpPr>
            <p:cNvPr id="10" name="AutoShape 25">
              <a:extLst>
                <a:ext uri="{FF2B5EF4-FFF2-40B4-BE49-F238E27FC236}">
                  <a16:creationId xmlns:a16="http://schemas.microsoft.com/office/drawing/2014/main" id="{E96D7DBF-AD8D-4CCC-8A43-14EFC22FF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6163" y="2667000"/>
              <a:ext cx="1600200" cy="838200"/>
            </a:xfrm>
            <a:prstGeom prst="chevron">
              <a:avLst>
                <a:gd name="adj" fmla="val 18561"/>
              </a:avLst>
            </a:prstGeom>
            <a:grpFill/>
            <a:ln w="12700">
              <a:solidFill>
                <a:srgbClr val="009DDB"/>
              </a:solidFill>
              <a:miter lim="800000"/>
              <a:headEnd/>
              <a:tailEnd/>
            </a:ln>
          </p:spPr>
          <p:txBody>
            <a:bodyPr lIns="182880" anchor="ctr"/>
            <a:lstStyle/>
            <a:p>
              <a:pPr algn="ctr" eaLnBrk="0" hangingPunct="0"/>
              <a:r>
                <a:rPr lang="en-US" sz="1600" b="1"/>
                <a:t>Delivery</a:t>
              </a:r>
            </a:p>
          </p:txBody>
        </p: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DABB7C0-84F1-4A8C-98F5-50161955F5DA}"/>
              </a:ext>
            </a:extLst>
          </p:cNvPr>
          <p:cNvSpPr txBox="1">
            <a:spLocks/>
          </p:cNvSpPr>
          <p:nvPr/>
        </p:nvSpPr>
        <p:spPr bwMode="auto">
          <a:xfrm>
            <a:off x="677334" y="2731438"/>
            <a:ext cx="6942666" cy="2018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rgbClr val="CC0000"/>
              </a:buClr>
            </a:pPr>
            <a:r>
              <a:rPr lang="en-US" b="1" dirty="0">
                <a:solidFill>
                  <a:srgbClr val="C00000"/>
                </a:solidFill>
                <a:cs typeface="Arial" charset="0"/>
              </a:rPr>
              <a:t>Collection</a:t>
            </a:r>
            <a:r>
              <a:rPr lang="en-US" dirty="0">
                <a:cs typeface="Arial" charset="0"/>
              </a:rPr>
              <a:t> – Structured, unstructured and semi-structured data </a:t>
            </a:r>
          </a:p>
          <a:p>
            <a:pPr marL="457200" indent="-457200">
              <a:spcBef>
                <a:spcPct val="20000"/>
              </a:spcBef>
              <a:buClr>
                <a:srgbClr val="CC0000"/>
              </a:buClr>
            </a:pPr>
            <a:r>
              <a:rPr lang="en-US" dirty="0">
                <a:cs typeface="Arial" charset="0"/>
              </a:rPr>
              <a:t>from multiple sources</a:t>
            </a:r>
          </a:p>
          <a:p>
            <a:pPr marL="457200" indent="-457200">
              <a:spcBef>
                <a:spcPct val="20000"/>
              </a:spcBef>
              <a:buClr>
                <a:srgbClr val="CC0000"/>
              </a:buClr>
            </a:pPr>
            <a:r>
              <a:rPr lang="en-US" b="1" dirty="0">
                <a:solidFill>
                  <a:srgbClr val="C00000"/>
                </a:solidFill>
                <a:cs typeface="Arial" charset="0"/>
              </a:rPr>
              <a:t>Ingestion</a:t>
            </a:r>
            <a:r>
              <a:rPr lang="en-US" dirty="0">
                <a:cs typeface="Arial" charset="0"/>
              </a:rPr>
              <a:t> – Loading vast amounts of data onto a single data store</a:t>
            </a:r>
          </a:p>
          <a:p>
            <a:pPr marL="457200" indent="-457200">
              <a:spcBef>
                <a:spcPct val="20000"/>
              </a:spcBef>
              <a:buClr>
                <a:srgbClr val="CC0000"/>
              </a:buClr>
            </a:pPr>
            <a:r>
              <a:rPr lang="en-US" b="1" dirty="0">
                <a:solidFill>
                  <a:srgbClr val="C00000"/>
                </a:solidFill>
                <a:cs typeface="Arial" charset="0"/>
              </a:rPr>
              <a:t>Discovery &amp; Cleansing </a:t>
            </a:r>
            <a:r>
              <a:rPr lang="en-US" dirty="0">
                <a:cs typeface="Arial" charset="0"/>
              </a:rPr>
              <a:t>– Understanding format and content; </a:t>
            </a:r>
          </a:p>
          <a:p>
            <a:pPr marL="457200" indent="-457200">
              <a:spcBef>
                <a:spcPct val="20000"/>
              </a:spcBef>
              <a:buClr>
                <a:srgbClr val="CC0000"/>
              </a:buClr>
            </a:pPr>
            <a:r>
              <a:rPr lang="en-GB" dirty="0"/>
              <a:t>clean up and formatting</a:t>
            </a:r>
            <a:endParaRPr lang="en-US" dirty="0">
              <a:cs typeface="Arial" charset="0"/>
            </a:endParaRPr>
          </a:p>
          <a:p>
            <a:pPr marL="457200" indent="-457200">
              <a:spcBef>
                <a:spcPct val="20000"/>
              </a:spcBef>
              <a:buClr>
                <a:srgbClr val="CC0000"/>
              </a:buClr>
            </a:pPr>
            <a:r>
              <a:rPr lang="en-US" b="1" dirty="0">
                <a:solidFill>
                  <a:srgbClr val="C00000"/>
                </a:solidFill>
                <a:cs typeface="Arial" charset="0"/>
              </a:rPr>
              <a:t>Integration</a:t>
            </a:r>
            <a:r>
              <a:rPr lang="en-US" dirty="0">
                <a:cs typeface="Arial" charset="0"/>
              </a:rPr>
              <a:t> – linking, entity extraction, entity resolution,</a:t>
            </a:r>
          </a:p>
          <a:p>
            <a:pPr marL="457200" indent="-457200">
              <a:spcBef>
                <a:spcPct val="20000"/>
              </a:spcBef>
              <a:buClr>
                <a:srgbClr val="CC0000"/>
              </a:buClr>
            </a:pPr>
            <a:r>
              <a:rPr lang="en-US" dirty="0">
                <a:cs typeface="Arial" charset="0"/>
              </a:rPr>
              <a:t> indexing and data fusion</a:t>
            </a:r>
            <a:endParaRPr lang="en-US" b="1" dirty="0">
              <a:cs typeface="Arial" charset="0"/>
            </a:endParaRPr>
          </a:p>
          <a:p>
            <a:pPr marL="457200" indent="-457200">
              <a:spcBef>
                <a:spcPct val="20000"/>
              </a:spcBef>
              <a:buClr>
                <a:srgbClr val="CC0000"/>
              </a:buClr>
            </a:pPr>
            <a:r>
              <a:rPr lang="en-US" b="1" dirty="0">
                <a:solidFill>
                  <a:srgbClr val="C00000"/>
                </a:solidFill>
                <a:cs typeface="Arial" charset="0"/>
              </a:rPr>
              <a:t>Analysis</a:t>
            </a:r>
            <a:r>
              <a:rPr lang="en-US" b="1" dirty="0">
                <a:cs typeface="Arial" charset="0"/>
              </a:rPr>
              <a:t> </a:t>
            </a:r>
            <a:r>
              <a:rPr lang="en-US" dirty="0">
                <a:cs typeface="Arial" charset="0"/>
              </a:rPr>
              <a:t>– Intelligence, statistics, predictive and text analytics,</a:t>
            </a:r>
          </a:p>
          <a:p>
            <a:pPr marL="457200" indent="-457200">
              <a:spcBef>
                <a:spcPct val="20000"/>
              </a:spcBef>
              <a:buClr>
                <a:srgbClr val="CC0000"/>
              </a:buClr>
            </a:pPr>
            <a:r>
              <a:rPr lang="en-US" dirty="0">
                <a:cs typeface="Arial" charset="0"/>
              </a:rPr>
              <a:t>machine learning</a:t>
            </a:r>
          </a:p>
          <a:p>
            <a:pPr marL="457200" indent="-457200">
              <a:spcBef>
                <a:spcPct val="20000"/>
              </a:spcBef>
              <a:buClr>
                <a:srgbClr val="CC0000"/>
              </a:buClr>
            </a:pPr>
            <a:r>
              <a:rPr lang="en-US" b="1" dirty="0">
                <a:solidFill>
                  <a:srgbClr val="C00000"/>
                </a:solidFill>
                <a:cs typeface="Arial" charset="0"/>
              </a:rPr>
              <a:t>Delivery</a:t>
            </a:r>
            <a:r>
              <a:rPr lang="en-US" dirty="0">
                <a:cs typeface="Arial" charset="0"/>
              </a:rPr>
              <a:t> – querying, visualization, real time delivery on </a:t>
            </a:r>
          </a:p>
          <a:p>
            <a:pPr marL="457200" indent="-457200">
              <a:spcBef>
                <a:spcPct val="20000"/>
              </a:spcBef>
              <a:buClr>
                <a:srgbClr val="CC0000"/>
              </a:buClr>
            </a:pPr>
            <a:r>
              <a:rPr lang="en-US" dirty="0">
                <a:cs typeface="Arial" charset="0"/>
              </a:rPr>
              <a:t>enterprise-class availability</a:t>
            </a:r>
          </a:p>
        </p:txBody>
      </p:sp>
      <p:pic>
        <p:nvPicPr>
          <p:cNvPr id="12" name="Google Shape;400;p10" descr="6 must have skills for Big Data Analytics Jobs | by sophia mcleod | Medium">
            <a:extLst>
              <a:ext uri="{FF2B5EF4-FFF2-40B4-BE49-F238E27FC236}">
                <a16:creationId xmlns:a16="http://schemas.microsoft.com/office/drawing/2014/main" id="{0B4FE109-5692-44DD-B960-2372349D803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68534" y="3878978"/>
            <a:ext cx="4123466" cy="2979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2054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6665-B9FD-47B4-9135-998E6380B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786"/>
            <a:ext cx="8596668" cy="63140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Big Data Considerations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02F79-4E46-45AC-BB50-55B155856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206" y="4869574"/>
            <a:ext cx="2651792" cy="31628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C00000"/>
                </a:solidFill>
              </a:rPr>
              <a:t>Data Sources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endParaRPr lang="en-IN" sz="2200" dirty="0">
              <a:solidFill>
                <a:srgbClr val="C0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ABCE73-D3B7-4EEB-8F85-55BA4523C657}"/>
              </a:ext>
            </a:extLst>
          </p:cNvPr>
          <p:cNvSpPr txBox="1">
            <a:spLocks/>
          </p:cNvSpPr>
          <p:nvPr/>
        </p:nvSpPr>
        <p:spPr>
          <a:xfrm>
            <a:off x="2410287" y="3755064"/>
            <a:ext cx="3184650" cy="25453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6575"/>
            <a:r>
              <a:rPr lang="en-US" dirty="0"/>
              <a:t>Sensors</a:t>
            </a:r>
          </a:p>
          <a:p>
            <a:pPr marL="536575"/>
            <a:r>
              <a:rPr lang="en-US" dirty="0"/>
              <a:t>Applications</a:t>
            </a:r>
          </a:p>
          <a:p>
            <a:pPr marL="536575"/>
            <a:r>
              <a:rPr lang="en-US" dirty="0"/>
              <a:t>Software agents</a:t>
            </a:r>
          </a:p>
          <a:p>
            <a:pPr marL="536575"/>
            <a:r>
              <a:rPr lang="en-US" dirty="0"/>
              <a:t>Individuals</a:t>
            </a:r>
          </a:p>
          <a:p>
            <a:pPr marL="536575"/>
            <a:r>
              <a:rPr lang="en-US" dirty="0"/>
              <a:t>Organizations</a:t>
            </a:r>
          </a:p>
          <a:p>
            <a:pPr marL="536575"/>
            <a:r>
              <a:rPr lang="en-US" dirty="0"/>
              <a:t>Hardware resources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A1D34DF-0063-4DCC-A12C-4EEB3E358EE9}"/>
              </a:ext>
            </a:extLst>
          </p:cNvPr>
          <p:cNvSpPr txBox="1">
            <a:spLocks/>
          </p:cNvSpPr>
          <p:nvPr/>
        </p:nvSpPr>
        <p:spPr>
          <a:xfrm>
            <a:off x="5594937" y="3751171"/>
            <a:ext cx="4041775" cy="301086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6575"/>
            <a:r>
              <a:rPr lang="en-SG" dirty="0"/>
              <a:t>Anytime</a:t>
            </a:r>
          </a:p>
          <a:p>
            <a:pPr marL="536575"/>
            <a:r>
              <a:rPr lang="en-SG" dirty="0"/>
              <a:t>Anything</a:t>
            </a:r>
          </a:p>
          <a:p>
            <a:pPr marL="536575"/>
            <a:r>
              <a:rPr lang="en-SG" dirty="0"/>
              <a:t>Any Device</a:t>
            </a:r>
          </a:p>
          <a:p>
            <a:pPr marL="536575"/>
            <a:r>
              <a:rPr lang="en-SG" dirty="0"/>
              <a:t>Any Context</a:t>
            </a:r>
          </a:p>
          <a:p>
            <a:pPr marL="536575"/>
            <a:r>
              <a:rPr lang="en-SG" dirty="0"/>
              <a:t>Any Place</a:t>
            </a:r>
          </a:p>
          <a:p>
            <a:pPr marL="536575"/>
            <a:r>
              <a:rPr lang="en-SG" dirty="0"/>
              <a:t>Anywhere</a:t>
            </a:r>
          </a:p>
          <a:p>
            <a:pPr marL="536575"/>
            <a:r>
              <a:rPr lang="en-SG" dirty="0"/>
              <a:t>Any one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65272DB-EFB5-4817-8454-DAEF42B4E065}"/>
              </a:ext>
            </a:extLst>
          </p:cNvPr>
          <p:cNvSpPr txBox="1">
            <a:spLocks/>
          </p:cNvSpPr>
          <p:nvPr/>
        </p:nvSpPr>
        <p:spPr>
          <a:xfrm>
            <a:off x="883698" y="754056"/>
            <a:ext cx="4038600" cy="26788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dirty="0"/>
              <a:t>Variety of Use Cases</a:t>
            </a:r>
          </a:p>
          <a:p>
            <a:r>
              <a:rPr lang="en-SG" dirty="0"/>
              <a:t>Mobility</a:t>
            </a:r>
          </a:p>
          <a:p>
            <a:r>
              <a:rPr lang="en-SG" dirty="0"/>
              <a:t>Security &amp; Privacy</a:t>
            </a:r>
          </a:p>
          <a:p>
            <a:r>
              <a:rPr lang="en-US" dirty="0"/>
              <a:t>Lifecycle Management &amp; Data Quality</a:t>
            </a:r>
          </a:p>
          <a:p>
            <a:r>
              <a:rPr lang="en-US" dirty="0"/>
              <a:t>System Management &amp; Other Issues</a:t>
            </a:r>
          </a:p>
          <a:p>
            <a:endParaRPr lang="en-SG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D5E05CA-66EF-4FDA-A545-A1519A88C0A2}"/>
              </a:ext>
            </a:extLst>
          </p:cNvPr>
          <p:cNvSpPr txBox="1">
            <a:spLocks/>
          </p:cNvSpPr>
          <p:nvPr/>
        </p:nvSpPr>
        <p:spPr>
          <a:xfrm>
            <a:off x="4892438" y="754057"/>
            <a:ext cx="5254739" cy="26749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dirty="0"/>
              <a:t>Data Characteristics</a:t>
            </a:r>
          </a:p>
          <a:p>
            <a:pPr lvl="1"/>
            <a:r>
              <a:rPr lang="en-SG" dirty="0"/>
              <a:t>Distributed / Centralized</a:t>
            </a:r>
          </a:p>
          <a:p>
            <a:pPr lvl="1"/>
            <a:r>
              <a:rPr lang="en-SG" dirty="0"/>
              <a:t>The 4 Vs : Volume, Velocity, Variety, Veracity</a:t>
            </a:r>
          </a:p>
          <a:p>
            <a:r>
              <a:rPr lang="en-SG" dirty="0"/>
              <a:t>Data Collection</a:t>
            </a:r>
          </a:p>
          <a:p>
            <a:r>
              <a:rPr lang="en-SG" dirty="0"/>
              <a:t>Data Visualization</a:t>
            </a:r>
          </a:p>
          <a:p>
            <a:r>
              <a:rPr lang="en-SG" dirty="0"/>
              <a:t>Data Quality</a:t>
            </a:r>
          </a:p>
          <a:p>
            <a:r>
              <a:rPr lang="en-SG" dirty="0"/>
              <a:t>Data Analytics &amp; Action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7214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2F9C-303A-473B-B3B0-08FF081C6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77" y="156238"/>
            <a:ext cx="8596668" cy="660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Communication Protocols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C53AB-8DA4-407B-A7DC-123653E7B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2673"/>
            <a:ext cx="8596668" cy="4638690"/>
          </a:xfrm>
        </p:spPr>
        <p:txBody>
          <a:bodyPr/>
          <a:lstStyle/>
          <a:p>
            <a:r>
              <a:rPr lang="en-US" dirty="0"/>
              <a:t>Backbone of IoT Systems</a:t>
            </a:r>
          </a:p>
          <a:p>
            <a:r>
              <a:rPr lang="en-US" dirty="0"/>
              <a:t>Enables network connectivity</a:t>
            </a:r>
          </a:p>
          <a:p>
            <a:r>
              <a:rPr lang="en-US" dirty="0"/>
              <a:t>Allows devices to exchange information / data over the network</a:t>
            </a:r>
          </a:p>
          <a:p>
            <a:r>
              <a:rPr lang="en-US" dirty="0"/>
              <a:t>Various application layer protocols define </a:t>
            </a:r>
          </a:p>
          <a:p>
            <a:pPr lvl="1"/>
            <a:r>
              <a:rPr lang="en-US" dirty="0"/>
              <a:t>Data exchange formats</a:t>
            </a:r>
          </a:p>
          <a:p>
            <a:pPr lvl="1"/>
            <a:r>
              <a:rPr lang="en-US" dirty="0"/>
              <a:t>Data encoding</a:t>
            </a:r>
          </a:p>
          <a:p>
            <a:pPr lvl="1"/>
            <a:r>
              <a:rPr lang="en-US" dirty="0"/>
              <a:t>Addressing mechanisms</a:t>
            </a:r>
          </a:p>
          <a:p>
            <a:pPr lvl="1"/>
            <a:r>
              <a:rPr lang="en-US" dirty="0"/>
              <a:t>Data rate / flow control</a:t>
            </a:r>
          </a:p>
          <a:p>
            <a:pPr lvl="1"/>
            <a:r>
              <a:rPr lang="en-US" dirty="0"/>
              <a:t>Security features</a:t>
            </a:r>
          </a:p>
          <a:p>
            <a:pPr lvl="1"/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5036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18607-8496-4057-B522-41048907C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766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Embedded Systems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3CB6C-CE24-4501-888C-AAFBBDBF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92" y="1287262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system that has computer hardware and software embedded to perform specific tasks</a:t>
            </a:r>
          </a:p>
          <a:p>
            <a:r>
              <a:rPr lang="en-US" dirty="0"/>
              <a:t>Key components of an embedded system are</a:t>
            </a:r>
          </a:p>
          <a:p>
            <a:pPr lvl="1"/>
            <a:r>
              <a:rPr lang="en-US" dirty="0"/>
              <a:t>Microcontroller</a:t>
            </a:r>
          </a:p>
          <a:p>
            <a:pPr lvl="1"/>
            <a:r>
              <a:rPr lang="en-US" dirty="0"/>
              <a:t>Memory (RAM / ROM / Cache)</a:t>
            </a:r>
          </a:p>
          <a:p>
            <a:pPr lvl="1"/>
            <a:r>
              <a:rPr lang="en-US" dirty="0"/>
              <a:t>Networking units (Ethernet / </a:t>
            </a:r>
            <a:r>
              <a:rPr lang="en-US" dirty="0" err="1"/>
              <a:t>WiFi</a:t>
            </a:r>
            <a:r>
              <a:rPr lang="en-US" dirty="0"/>
              <a:t> adapters)</a:t>
            </a:r>
          </a:p>
          <a:p>
            <a:pPr lvl="1"/>
            <a:r>
              <a:rPr lang="en-US" dirty="0"/>
              <a:t>Input Output (I/O) units (Keyboard, display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Storage (Flash / cloud connectivity)</a:t>
            </a:r>
          </a:p>
          <a:p>
            <a:pPr lvl="1"/>
            <a:r>
              <a:rPr lang="en-US" dirty="0"/>
              <a:t>Specialized processors like digital signal processors(DSP),</a:t>
            </a:r>
          </a:p>
          <a:p>
            <a:pPr marL="457200" lvl="1" indent="0">
              <a:buNone/>
            </a:pPr>
            <a:r>
              <a:rPr lang="en-US" dirty="0"/>
              <a:t>	graphic processors, other specialized processors.</a:t>
            </a:r>
          </a:p>
          <a:p>
            <a:pPr lvl="1"/>
            <a:r>
              <a:rPr lang="en-US" dirty="0"/>
              <a:t>Operating systems (RTOS)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Google Shape;451;p15" descr="Components of Embedded Systems - The Engineering Projects">
            <a:extLst>
              <a:ext uri="{FF2B5EF4-FFF2-40B4-BE49-F238E27FC236}">
                <a16:creationId xmlns:a16="http://schemas.microsoft.com/office/drawing/2014/main" id="{A87B2773-3201-433F-AA59-0F094E4E519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518" t="14197" r="5062" b="10876"/>
          <a:stretch/>
        </p:blipFill>
        <p:spPr>
          <a:xfrm>
            <a:off x="6290208" y="3921824"/>
            <a:ext cx="5967587" cy="293617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B7CDE7-566C-4A02-B5C9-10FB4CDD00D0}"/>
              </a:ext>
            </a:extLst>
          </p:cNvPr>
          <p:cNvSpPr txBox="1"/>
          <p:nvPr/>
        </p:nvSpPr>
        <p:spPr>
          <a:xfrm>
            <a:off x="347334" y="4966693"/>
            <a:ext cx="5083278" cy="2144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</a:t>
            </a:r>
          </a:p>
          <a:p>
            <a:pPr marL="742950" lvl="1" indent="-285750">
              <a:spcBef>
                <a:spcPts val="1000"/>
              </a:spcBef>
              <a:buClr>
                <a:schemeClr val="accent2"/>
              </a:buClr>
              <a:buSzPts val="1600"/>
              <a:buChar char="►"/>
            </a:pPr>
            <a:r>
              <a:rPr lang="en-US" sz="1600" dirty="0"/>
              <a:t>Digital camera</a:t>
            </a:r>
          </a:p>
          <a:p>
            <a:pPr marL="742950" lvl="1" indent="-285750">
              <a:spcBef>
                <a:spcPts val="1000"/>
              </a:spcBef>
              <a:buClr>
                <a:schemeClr val="accent2"/>
              </a:buClr>
              <a:buSzPts val="1600"/>
              <a:buChar char="►"/>
            </a:pPr>
            <a:r>
              <a:rPr lang="en-US" sz="1600" dirty="0"/>
              <a:t>DVD player, music player</a:t>
            </a:r>
          </a:p>
          <a:p>
            <a:pPr marL="742950" lvl="1" indent="-285750">
              <a:spcBef>
                <a:spcPts val="1000"/>
              </a:spcBef>
              <a:buClr>
                <a:schemeClr val="accent2"/>
              </a:buClr>
              <a:buSzPts val="1600"/>
              <a:buChar char="►"/>
            </a:pPr>
            <a:r>
              <a:rPr lang="en-US" sz="1600" dirty="0"/>
              <a:t>Industrial robots</a:t>
            </a:r>
          </a:p>
          <a:p>
            <a:pPr marL="742950" lvl="1" indent="-285750">
              <a:spcBef>
                <a:spcPts val="1000"/>
              </a:spcBef>
              <a:buClr>
                <a:schemeClr val="accent2"/>
              </a:buClr>
              <a:buSzPts val="1600"/>
              <a:buChar char="►"/>
            </a:pPr>
            <a:r>
              <a:rPr lang="en-US" sz="1600" dirty="0"/>
              <a:t>Wireless Routers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563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A5BDB-C836-4075-A765-1EC1C11B0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302493"/>
            <a:ext cx="8596668" cy="27388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solidFill>
                  <a:srgbClr val="C00000"/>
                </a:solidFill>
              </a:rPr>
              <a:t>Thank You</a:t>
            </a:r>
            <a:endParaRPr lang="en-IN" sz="6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8221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245</TotalTime>
  <Words>750</Words>
  <Application>Microsoft Office PowerPoint</Application>
  <PresentationFormat>Widescreen</PresentationFormat>
  <Paragraphs>189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돋움</vt:lpstr>
      <vt:lpstr>华文新魏</vt:lpstr>
      <vt:lpstr>Arial</vt:lpstr>
      <vt:lpstr>Century Gothic</vt:lpstr>
      <vt:lpstr>HY그래픽M</vt:lpstr>
      <vt:lpstr>Times New Roman</vt:lpstr>
      <vt:lpstr>Trebuchet MS</vt:lpstr>
      <vt:lpstr>Verdana</vt:lpstr>
      <vt:lpstr>Wingdings 3</vt:lpstr>
      <vt:lpstr>Facet</vt:lpstr>
      <vt:lpstr>Bitmap Image</vt:lpstr>
      <vt:lpstr>IoT Enabling Technologies</vt:lpstr>
      <vt:lpstr>IoT Enabling Technologies</vt:lpstr>
      <vt:lpstr>Wireless Sensor Networks</vt:lpstr>
      <vt:lpstr>PowerPoint Presentation</vt:lpstr>
      <vt:lpstr>Cloud Computing</vt:lpstr>
      <vt:lpstr>Conceptual Diagram for Cloud based IoT</vt:lpstr>
      <vt:lpstr>Big Data Analytics</vt:lpstr>
      <vt:lpstr>Big Data Considerations</vt:lpstr>
      <vt:lpstr>Communication Protocols</vt:lpstr>
      <vt:lpstr>Embedded Systems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Shilpa Lambor</dc:creator>
  <cp:lastModifiedBy>Shilpa Lambor</cp:lastModifiedBy>
  <cp:revision>24</cp:revision>
  <dcterms:created xsi:type="dcterms:W3CDTF">2021-09-14T02:16:50Z</dcterms:created>
  <dcterms:modified xsi:type="dcterms:W3CDTF">2021-09-17T05:41:26Z</dcterms:modified>
</cp:coreProperties>
</file>